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9"/>
  </p:notesMasterIdLst>
  <p:sldIdLst>
    <p:sldId id="2076137705" r:id="rId5"/>
    <p:sldId id="2076137706" r:id="rId6"/>
    <p:sldId id="2076137708" r:id="rId7"/>
    <p:sldId id="2076137725" r:id="rId8"/>
    <p:sldId id="2076137727" r:id="rId9"/>
    <p:sldId id="2076137728" r:id="rId10"/>
    <p:sldId id="2076137733" r:id="rId11"/>
    <p:sldId id="2076137730" r:id="rId12"/>
    <p:sldId id="2076137734" r:id="rId13"/>
    <p:sldId id="2076137735" r:id="rId14"/>
    <p:sldId id="2076137736" r:id="rId15"/>
    <p:sldId id="2076137737" r:id="rId16"/>
    <p:sldId id="2076137738" r:id="rId17"/>
    <p:sldId id="2076137739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FC5AA2A-7322-24C3-9B68-AD7395C41981}" name="Alejandra Bravo Garcia" initials="AG" userId="S::abravo@ciisa.cl::4cf5125d-f567-4a98-9bb5-4ea9ae908f01" providerId="AD"/>
  <p188:author id="{56A303EC-24C9-A366-E7A3-68AFB5B8C733}" name="Lorena Massone Bresler" initials="LM" userId="S::lmassone@ciisa.cl::02953e08-4597-4d31-a081-9f68326755d8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CFE24"/>
    <a:srgbClr val="26C93F"/>
    <a:srgbClr val="454545"/>
    <a:srgbClr val="FFBD2D"/>
    <a:srgbClr val="FF5E57"/>
    <a:srgbClr val="F2F2F1"/>
    <a:srgbClr val="1A1919"/>
    <a:srgbClr val="19191A"/>
    <a:srgbClr val="00263E"/>
    <a:srgbClr val="13A43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11"/>
    <p:restoredTop sz="94694"/>
  </p:normalViewPr>
  <p:slideViewPr>
    <p:cSldViewPr snapToGrid="0">
      <p:cViewPr varScale="1">
        <p:scale>
          <a:sx n="62" d="100"/>
          <a:sy n="62" d="100"/>
        </p:scale>
        <p:origin x="876" y="66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FC2656-D0C9-4458-96E2-63B8D593F054}" type="datetimeFigureOut">
              <a:rPr lang="es-CL" smtClean="0"/>
              <a:t>25-06-2025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F38C6D-1E16-459A-B4A2-B354227B25CE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274825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F39BCFA7-EFF0-AE3A-4D5A-F54C59C5A63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72790" y="3107113"/>
            <a:ext cx="5113194" cy="643773"/>
          </a:xfrm>
        </p:spPr>
        <p:txBody>
          <a:bodyPr anchor="ctr">
            <a:normAutofit/>
          </a:bodyPr>
          <a:lstStyle/>
          <a:p>
            <a:pPr algn="l"/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36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36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 sz="3600" b="1">
              <a:solidFill>
                <a:schemeClr val="bg1"/>
              </a:solidFill>
              <a:latin typeface="Gotham" panose="02000603040000020004" pitchFamily="50" charset="0"/>
            </a:endParaRPr>
          </a:p>
        </p:txBody>
      </p:sp>
      <p:sp>
        <p:nvSpPr>
          <p:cNvPr id="5" name="Subtítulo 2">
            <a:extLst>
              <a:ext uri="{FF2B5EF4-FFF2-40B4-BE49-F238E27FC236}">
                <a16:creationId xmlns:a16="http://schemas.microsoft.com/office/drawing/2014/main" id="{4329DCCD-8CF6-9BA5-1F82-4885C19BA2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72790" y="3839546"/>
            <a:ext cx="5113194" cy="635654"/>
          </a:xfrm>
        </p:spPr>
        <p:txBody>
          <a:bodyPr>
            <a:noAutofit/>
          </a:bodyPr>
          <a:lstStyle/>
          <a:p>
            <a:pPr algn="l"/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dolor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sit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amet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consectetuer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adipiscing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elit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, sed </a:t>
            </a:r>
            <a:r>
              <a:rPr lang="es-CL" sz="1800" err="1">
                <a:solidFill>
                  <a:schemeClr val="bg1"/>
                </a:solidFill>
                <a:latin typeface="Gotham" panose="02000603040000020004" pitchFamily="50" charset="0"/>
              </a:rPr>
              <a:t>diam</a:t>
            </a:r>
            <a:r>
              <a:rPr lang="es-CL" sz="1800">
                <a:solidFill>
                  <a:schemeClr val="bg1"/>
                </a:solidFill>
                <a:latin typeface="Gotham" panose="02000603040000020004" pitchFamily="50" charset="0"/>
              </a:rPr>
              <a:t>.</a:t>
            </a:r>
          </a:p>
        </p:txBody>
      </p:sp>
      <p:pic>
        <p:nvPicPr>
          <p:cNvPr id="2" name="Imagen 1" descr="Imagen que contiene botella, texto, periódico, firmar&#10;&#10;Descripción generada automáticamente">
            <a:extLst>
              <a:ext uri="{FF2B5EF4-FFF2-40B4-BE49-F238E27FC236}">
                <a16:creationId xmlns:a16="http://schemas.microsoft.com/office/drawing/2014/main" id="{56246E2A-FF94-6B4F-980C-12E7E5DF0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4506" y="5579974"/>
            <a:ext cx="2199042" cy="761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9590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m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AGENDA</a:t>
            </a:r>
            <a:endParaRPr lang="en-US"/>
          </a:p>
        </p:txBody>
      </p:sp>
      <p:sp>
        <p:nvSpPr>
          <p:cNvPr id="45" name="Rectángulo: esquinas superiores redondeadas 44">
            <a:extLst>
              <a:ext uri="{FF2B5EF4-FFF2-40B4-BE49-F238E27FC236}">
                <a16:creationId xmlns:a16="http://schemas.microsoft.com/office/drawing/2014/main" id="{A669CD1B-0E03-ABA9-763C-5D948F0B8EB8}"/>
              </a:ext>
            </a:extLst>
          </p:cNvPr>
          <p:cNvSpPr/>
          <p:nvPr userDrawn="1"/>
        </p:nvSpPr>
        <p:spPr>
          <a:xfrm rot="16200000">
            <a:off x="-14135" y="3062436"/>
            <a:ext cx="4305299" cy="2180925"/>
          </a:xfrm>
          <a:prstGeom prst="round2SameRect">
            <a:avLst/>
          </a:prstGeom>
          <a:solidFill>
            <a:srgbClr val="304B6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47" name="Subtitle 2">
            <a:extLst>
              <a:ext uri="{FF2B5EF4-FFF2-40B4-BE49-F238E27FC236}">
                <a16:creationId xmlns:a16="http://schemas.microsoft.com/office/drawing/2014/main" id="{024370F0-34C6-0E0F-CB33-03242E12CDC9}"/>
              </a:ext>
            </a:extLst>
          </p:cNvPr>
          <p:cNvSpPr txBox="1">
            <a:spLocks/>
          </p:cNvSpPr>
          <p:nvPr userDrawn="1"/>
        </p:nvSpPr>
        <p:spPr>
          <a:xfrm>
            <a:off x="3933825" y="1877961"/>
            <a:ext cx="7221854" cy="444429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1087636" rtl="0" eaLnBrk="1" latinLnBrk="0" hangingPunct="1">
              <a:lnSpc>
                <a:spcPct val="120000"/>
              </a:lnSpc>
              <a:spcBef>
                <a:spcPct val="20000"/>
              </a:spcBef>
              <a:buFont typeface="Arial"/>
              <a:buNone/>
              <a:defRPr sz="2400" kern="1200">
                <a:solidFill>
                  <a:schemeClr val="tx2"/>
                </a:solidFill>
                <a:latin typeface="Open Sans Light"/>
                <a:ea typeface="+mn-ea"/>
                <a:cs typeface="Open Sans Light"/>
              </a:defRPr>
            </a:lvl1pPr>
            <a:lvl2pPr marL="108763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2pPr>
            <a:lvl3pPr marL="2175271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3pPr>
            <a:lvl4pPr marL="3262912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4pPr>
            <a:lvl5pPr marL="4350546" indent="0" algn="ctr" defTabSz="1087636" rtl="0" eaLnBrk="1" latinLnBrk="0" hangingPunct="1">
              <a:lnSpc>
                <a:spcPct val="130000"/>
              </a:lnSpc>
              <a:spcBef>
                <a:spcPct val="20000"/>
              </a:spcBef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Open Sans"/>
                <a:ea typeface="+mn-ea"/>
                <a:cs typeface="Open Sans"/>
              </a:defRPr>
            </a:lvl5pPr>
            <a:lvl6pPr marL="5438184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6525820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7613455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8701091" indent="0" algn="ctr" defTabSz="1087636" rtl="0" eaLnBrk="1" latinLnBrk="0" hangingPunct="1">
              <a:spcBef>
                <a:spcPct val="20000"/>
              </a:spcBef>
              <a:buFont typeface="Arial"/>
              <a:buNone/>
              <a:defRPr sz="4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01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02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03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04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05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  <a:p>
            <a:pPr marL="0" marR="0" lvl="0" indent="0" algn="l" defTabSz="108763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sz="1400" b="1">
                <a:solidFill>
                  <a:srgbClr val="102B42"/>
                </a:solidFill>
                <a:latin typeface="Gotham" panose="02000603040000020004" pitchFamily="50" charset="0"/>
                <a:ea typeface="League Spartan" charset="0"/>
                <a:cs typeface="Poppins SemiBold" pitchFamily="2" charset="77"/>
              </a:rPr>
              <a:t>Tema 06</a:t>
            </a:r>
          </a:p>
          <a:p>
            <a:pPr algn="l">
              <a:lnSpc>
                <a:spcPct val="100000"/>
              </a:lnSpc>
            </a:pPr>
            <a:r>
              <a:rPr lang="es-ES" sz="1400">
                <a:solidFill>
                  <a:srgbClr val="3C3C3B"/>
                </a:solidFill>
                <a:latin typeface="Gotham" panose="02000603040000020004" pitchFamily="50" charset="0"/>
                <a:ea typeface="Open Sans Light" panose="020B0306030504020204" pitchFamily="34" charset="0"/>
                <a:cs typeface="Open Sans Light" panose="020B0306030504020204" pitchFamily="34" charset="0"/>
              </a:rPr>
              <a:t>Puede personalizar cualquier cosa que vea en este cuadro de texto, solo escriba su información.</a:t>
            </a:r>
            <a:endParaRPr lang="en-US" sz="1400">
              <a:solidFill>
                <a:srgbClr val="3C3C3B"/>
              </a:solidFill>
              <a:latin typeface="Gotham" panose="02000603040000020004" pitchFamily="50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pic>
        <p:nvPicPr>
          <p:cNvPr id="4" name="Imagen 3" descr="Texto, Icono&#10;&#10;Descripción generada automáticamente">
            <a:extLst>
              <a:ext uri="{FF2B5EF4-FFF2-40B4-BE49-F238E27FC236}">
                <a16:creationId xmlns:a16="http://schemas.microsoft.com/office/drawing/2014/main" id="{EC37FD03-A8F4-6CC0-494F-F7761EB371D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3277" y="3038639"/>
            <a:ext cx="2125701" cy="2122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9597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Gener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 hasCustomPrompt="1"/>
          </p:nvPr>
        </p:nvSpPr>
        <p:spPr>
          <a:xfrm>
            <a:off x="1042219" y="1275824"/>
            <a:ext cx="10113461" cy="602137"/>
          </a:xfrm>
        </p:spPr>
        <p:txBody>
          <a:bodyPr anchor="ctr"/>
          <a:lstStyle>
            <a:lvl1pPr marL="0" algn="ctr">
              <a:defRPr>
                <a:solidFill>
                  <a:srgbClr val="102B42"/>
                </a:solidFill>
                <a:latin typeface="Gotham" panose="02000603040000020004" pitchFamily="50" charset="0"/>
              </a:defRPr>
            </a:lvl1pPr>
          </a:lstStyle>
          <a:p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Lorem</a:t>
            </a:r>
            <a:r>
              <a:rPr lang="es-ES" b="1">
                <a:solidFill>
                  <a:srgbClr val="102B42"/>
                </a:solidFill>
                <a:latin typeface="Gotham" panose="02000603040000020004" pitchFamily="2" charset="0"/>
              </a:rPr>
              <a:t> </a:t>
            </a:r>
            <a:r>
              <a:rPr lang="es-ES" b="1" err="1">
                <a:solidFill>
                  <a:srgbClr val="102B42"/>
                </a:solidFill>
                <a:latin typeface="Gotham" panose="02000603040000020004" pitchFamily="2" charset="0"/>
              </a:rPr>
              <a:t>Ipsum</a:t>
            </a:r>
            <a:endParaRPr lang="en-US"/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25AF31D7-DDAD-AE10-0239-B0B639942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587" y="1966452"/>
            <a:ext cx="11137692" cy="4359396"/>
          </a:xfrm>
        </p:spPr>
        <p:txBody>
          <a:bodyPr/>
          <a:lstStyle>
            <a:lvl1pPr>
              <a:defRPr>
                <a:solidFill>
                  <a:srgbClr val="3C3C3B"/>
                </a:solidFill>
              </a:defRPr>
            </a:lvl1pPr>
            <a:lvl2pPr>
              <a:defRPr>
                <a:solidFill>
                  <a:srgbClr val="3C3C3B"/>
                </a:solidFill>
              </a:defRPr>
            </a:lvl2pPr>
            <a:lvl3pPr>
              <a:defRPr>
                <a:solidFill>
                  <a:srgbClr val="3C3C3B"/>
                </a:solidFill>
              </a:defRPr>
            </a:lvl3pPr>
            <a:lvl4pPr>
              <a:defRPr>
                <a:solidFill>
                  <a:srgbClr val="3C3C3B"/>
                </a:solidFill>
              </a:defRPr>
            </a:lvl4pPr>
            <a:lvl5pPr>
              <a:defRPr>
                <a:solidFill>
                  <a:srgbClr val="3C3C3B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364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Cambio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BA8F40-9B3F-63B9-DD8C-BB01669C23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58721" y="2553043"/>
            <a:ext cx="7286438" cy="1744716"/>
          </a:xfrm>
        </p:spPr>
        <p:txBody>
          <a:bodyPr anchor="ctr"/>
          <a:lstStyle/>
          <a:p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Lorem</a:t>
            </a:r>
            <a:r>
              <a:rPr lang="es-CL" sz="4400" b="1">
                <a:solidFill>
                  <a:schemeClr val="bg1"/>
                </a:solidFill>
                <a:latin typeface="Gotham" panose="02000603040000020004" pitchFamily="50" charset="0"/>
              </a:rPr>
              <a:t> </a:t>
            </a:r>
            <a:r>
              <a:rPr lang="es-CL" sz="4400" b="1" err="1">
                <a:solidFill>
                  <a:schemeClr val="bg1"/>
                </a:solidFill>
                <a:latin typeface="Gotham" panose="02000603040000020004" pitchFamily="50" charset="0"/>
              </a:rPr>
              <a:t>ipsum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11197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29866" y="2203068"/>
            <a:ext cx="4925814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29866" y="3653824"/>
            <a:ext cx="4925814" cy="117300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1898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5" r:id="rId2"/>
    <p:sldLayoutId id="2147483661" r:id="rId3"/>
    <p:sldLayoutId id="2147483663" r:id="rId4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 spc="-50" baseline="0">
          <a:solidFill>
            <a:schemeClr val="bg1"/>
          </a:solidFill>
          <a:latin typeface="Gotham" panose="02000603040000020004" pitchFamily="50" charset="0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bg1"/>
          </a:solidFill>
          <a:latin typeface="Gotham" panose="02000603040000020004" pitchFamily="50" charset="0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5" Type="http://schemas.openxmlformats.org/officeDocument/2006/relationships/slide" Target="slide11.xml"/><Relationship Id="rId4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BB412-0761-08C0-91B5-7D184FDF0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412" y="3515722"/>
            <a:ext cx="6811430" cy="643773"/>
          </a:xfrm>
        </p:spPr>
        <p:txBody>
          <a:bodyPr>
            <a:normAutofit fontScale="90000"/>
          </a:bodyPr>
          <a:lstStyle/>
          <a:p>
            <a:r>
              <a:rPr lang="es-ES" dirty="0">
                <a:latin typeface="Gotham"/>
              </a:rPr>
              <a:t>Desarrollo de Software Web I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7770C8-A12B-436B-AB8E-9FC2932E0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486" y="4170850"/>
            <a:ext cx="5113194" cy="635654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es-MX" dirty="0">
                <a:latin typeface="Gotham"/>
              </a:rPr>
              <a:t>Instalación de Laravel en macOS</a:t>
            </a:r>
          </a:p>
        </p:txBody>
      </p:sp>
    </p:spTree>
    <p:extLst>
      <p:ext uri="{BB962C8B-B14F-4D97-AF65-F5344CB8AC3E}">
        <p14:creationId xmlns:p14="http://schemas.microsoft.com/office/powerpoint/2010/main" val="31670019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05565CA-4C0E-C656-86CC-1D8713E78364}"/>
              </a:ext>
            </a:extLst>
          </p:cNvPr>
          <p:cNvSpPr/>
          <p:nvPr/>
        </p:nvSpPr>
        <p:spPr>
          <a:xfrm>
            <a:off x="111204" y="966952"/>
            <a:ext cx="11969592" cy="5465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DDD535-B260-C50D-10F2-61837296C128}"/>
              </a:ext>
            </a:extLst>
          </p:cNvPr>
          <p:cNvSpPr txBox="1"/>
          <p:nvPr/>
        </p:nvSpPr>
        <p:spPr>
          <a:xfrm>
            <a:off x="312126" y="1146756"/>
            <a:ext cx="11533033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Para trabajar con Laravel en tu Mac con macOS, necesitarás instalar algunas herramientas y realizar configuraciones específicas. Aquí tienes una guía paso a paso para configurarlo:</a:t>
            </a:r>
          </a:p>
          <a:p>
            <a:endParaRPr lang="es-CL" dirty="0">
              <a:solidFill>
                <a:srgbClr val="0E0E0E"/>
              </a:solidFill>
              <a:latin typeface=".SF NS"/>
            </a:endParaRPr>
          </a:p>
          <a:p>
            <a:pPr marL="342900" indent="-342900">
              <a:buFont typeface="+mj-lt"/>
              <a:buAutoNum type="arabicPeriod"/>
            </a:pPr>
            <a:r>
              <a:rPr lang="es-CL" dirty="0">
                <a:solidFill>
                  <a:srgbClr val="0E0E0E"/>
                </a:solidFill>
                <a:latin typeface=".SF NS"/>
                <a:hlinkClick r:id="rId2" action="ppaction://hlinksldjump"/>
              </a:rPr>
              <a:t>Instalación de </a:t>
            </a:r>
            <a:r>
              <a:rPr lang="es-CL" dirty="0" err="1">
                <a:solidFill>
                  <a:srgbClr val="0E0E0E"/>
                </a:solidFill>
                <a:latin typeface=".SF NS"/>
                <a:hlinkClick r:id="rId2" action="ppaction://hlinksldjump"/>
              </a:rPr>
              <a:t>Homebrew</a:t>
            </a:r>
            <a:endParaRPr lang="es-CL" dirty="0">
              <a:solidFill>
                <a:srgbClr val="0E0E0E"/>
              </a:solidFill>
              <a:latin typeface=".SF NS"/>
            </a:endParaRPr>
          </a:p>
          <a:p>
            <a:pPr marL="342900" indent="-342900">
              <a:buFont typeface="+mj-lt"/>
              <a:buAutoNum type="arabicPeriod"/>
            </a:pPr>
            <a:r>
              <a:rPr lang="es-CL" dirty="0">
                <a:solidFill>
                  <a:srgbClr val="0E0E0E"/>
                </a:solidFill>
                <a:latin typeface=".SF NS"/>
                <a:hlinkClick r:id="rId3" action="ppaction://hlinksldjump"/>
              </a:rPr>
              <a:t>Instalación de PHP</a:t>
            </a:r>
            <a:endParaRPr lang="es-CL" dirty="0">
              <a:solidFill>
                <a:srgbClr val="0E0E0E"/>
              </a:solidFill>
              <a:latin typeface=".SF NS"/>
            </a:endParaRPr>
          </a:p>
          <a:p>
            <a:pPr marL="342900" indent="-342900">
              <a:buFont typeface="+mj-lt"/>
              <a:buAutoNum type="arabicPeriod"/>
            </a:pPr>
            <a:r>
              <a:rPr lang="es-CL" dirty="0">
                <a:solidFill>
                  <a:srgbClr val="0E0E0E"/>
                </a:solidFill>
                <a:effectLst/>
                <a:latin typeface=".SF NS"/>
                <a:hlinkClick r:id="rId4" action="ppaction://hlinksldjump"/>
              </a:rPr>
              <a:t>Instalación de 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  <a:hlinkClick r:id="rId4" action="ppaction://hlinksldjump"/>
              </a:rPr>
              <a:t>Composer</a:t>
            </a:r>
            <a:endParaRPr lang="es-CL" dirty="0">
              <a:solidFill>
                <a:srgbClr val="0E0E0E"/>
              </a:solidFill>
              <a:effectLst/>
              <a:latin typeface=".SF NS"/>
            </a:endParaRPr>
          </a:p>
          <a:p>
            <a:pPr marL="342900" indent="-342900">
              <a:buFont typeface="+mj-lt"/>
              <a:buAutoNum type="arabicPeriod"/>
            </a:pPr>
            <a:r>
              <a:rPr lang="es-CL" dirty="0">
                <a:solidFill>
                  <a:srgbClr val="0E0E0E"/>
                </a:solidFill>
                <a:latin typeface=".SF NS"/>
                <a:hlinkClick r:id="rId5" action="ppaction://hlinksldjump"/>
              </a:rPr>
              <a:t>Instalación de Laravel</a:t>
            </a:r>
            <a:endParaRPr lang="es-CL" dirty="0">
              <a:solidFill>
                <a:srgbClr val="0E0E0E"/>
              </a:solidFill>
              <a:latin typeface=".SF NS"/>
            </a:endParaRPr>
          </a:p>
          <a:p>
            <a:pPr marL="342900" indent="-342900">
              <a:buFont typeface="+mj-lt"/>
              <a:buAutoNum type="arabicPeriod"/>
            </a:pPr>
            <a:endParaRPr lang="es-CL" dirty="0">
              <a:solidFill>
                <a:srgbClr val="0E0E0E"/>
              </a:solidFill>
              <a:effectLst/>
              <a:latin typeface=".SF NS"/>
            </a:endParaRPr>
          </a:p>
          <a:p>
            <a:pPr marL="342900" indent="-342900">
              <a:buFont typeface="+mj-lt"/>
              <a:buAutoNum type="arabicPeriod"/>
            </a:pPr>
            <a:endParaRPr lang="es-CL" dirty="0">
              <a:solidFill>
                <a:srgbClr val="0E0E0E"/>
              </a:solidFill>
              <a:effectLst/>
              <a:latin typeface=".SF NS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A24605C-D637-7E35-7DA8-74CD4910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540" y="276800"/>
            <a:ext cx="8633256" cy="602137"/>
          </a:xfrm>
        </p:spPr>
        <p:txBody>
          <a:bodyPr/>
          <a:lstStyle/>
          <a:p>
            <a:pPr algn="l"/>
            <a:r>
              <a:rPr lang="es-ES" sz="4000" b="0" dirty="0">
                <a:solidFill>
                  <a:srgbClr val="00263E"/>
                </a:solidFill>
                <a:latin typeface="Gotham"/>
              </a:rPr>
              <a:t>Tabla de Contenidos</a:t>
            </a:r>
            <a:endParaRPr lang="es-ES" sz="4000" b="0" dirty="0">
              <a:solidFill>
                <a:srgbClr val="00263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83349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2843772"/>
            <a:ext cx="10741572" cy="1744716"/>
          </a:xfrm>
        </p:spPr>
        <p:txBody>
          <a:bodyPr/>
          <a:lstStyle/>
          <a:p>
            <a:pPr algn="ctr"/>
            <a:r>
              <a:rPr lang="es-MX" dirty="0"/>
              <a:t>Instalación de Homebrew</a:t>
            </a:r>
          </a:p>
        </p:txBody>
      </p:sp>
    </p:spTree>
    <p:extLst>
      <p:ext uri="{BB962C8B-B14F-4D97-AF65-F5344CB8AC3E}">
        <p14:creationId xmlns:p14="http://schemas.microsoft.com/office/powerpoint/2010/main" val="829328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05565CA-4C0E-C656-86CC-1D8713E78364}"/>
              </a:ext>
            </a:extLst>
          </p:cNvPr>
          <p:cNvSpPr/>
          <p:nvPr/>
        </p:nvSpPr>
        <p:spPr>
          <a:xfrm>
            <a:off x="111204" y="966952"/>
            <a:ext cx="11969592" cy="5465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DDD535-B260-C50D-10F2-61837296C128}"/>
              </a:ext>
            </a:extLst>
          </p:cNvPr>
          <p:cNvSpPr txBox="1"/>
          <p:nvPr/>
        </p:nvSpPr>
        <p:spPr>
          <a:xfrm>
            <a:off x="312126" y="1146756"/>
            <a:ext cx="1153303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Homebrew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 es un gestor de paquetes que facilita la instalación de software en macOS.</a:t>
            </a:r>
          </a:p>
          <a:p>
            <a:endParaRPr lang="es-CL" dirty="0">
              <a:solidFill>
                <a:srgbClr val="0E0E0E"/>
              </a:solidFill>
              <a:effectLst/>
              <a:latin typeface=".SF NS"/>
            </a:endParaRPr>
          </a:p>
          <a:p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Abre la Terminal y ejecuta el siguiente comando para instalar 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Homebrew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:</a:t>
            </a:r>
            <a:endParaRPr lang="es-CL" dirty="0">
              <a:solidFill>
                <a:srgbClr val="0E0E0E"/>
              </a:solidFill>
              <a:latin typeface=".SF NS"/>
            </a:endParaRP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A24605C-D637-7E35-7DA8-74CD4910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540" y="276800"/>
            <a:ext cx="8633256" cy="602137"/>
          </a:xfrm>
        </p:spPr>
        <p:txBody>
          <a:bodyPr/>
          <a:lstStyle/>
          <a:p>
            <a:pPr algn="l"/>
            <a:r>
              <a:rPr lang="es-ES" sz="4000" b="0" dirty="0">
                <a:solidFill>
                  <a:srgbClr val="00263E"/>
                </a:solidFill>
                <a:latin typeface="Gotham"/>
              </a:rPr>
              <a:t>Instalación de </a:t>
            </a:r>
            <a:r>
              <a:rPr lang="es-ES" sz="4000" b="0" dirty="0" err="1">
                <a:solidFill>
                  <a:srgbClr val="00263E"/>
                </a:solidFill>
                <a:latin typeface="Gotham"/>
              </a:rPr>
              <a:t>Homebrew</a:t>
            </a:r>
            <a:r>
              <a:rPr lang="es-ES" sz="4000" b="0" dirty="0">
                <a:solidFill>
                  <a:srgbClr val="00263E"/>
                </a:solidFill>
                <a:latin typeface="Gotham"/>
              </a:rPr>
              <a:t> [1/3]</a:t>
            </a:r>
            <a:endParaRPr lang="es-ES" sz="4000" b="0" dirty="0">
              <a:solidFill>
                <a:srgbClr val="00263E"/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BBE82EF-9972-B16C-D595-1278B51E0781}"/>
              </a:ext>
            </a:extLst>
          </p:cNvPr>
          <p:cNvGrpSpPr/>
          <p:nvPr/>
        </p:nvGrpSpPr>
        <p:grpSpPr>
          <a:xfrm>
            <a:off x="2311598" y="2648990"/>
            <a:ext cx="7194430" cy="3486657"/>
            <a:chOff x="2311598" y="2720427"/>
            <a:chExt cx="7194430" cy="3486657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E5803B7-F9CE-B538-579F-ABAFB3DEC8CD}"/>
                </a:ext>
              </a:extLst>
            </p:cNvPr>
            <p:cNvGrpSpPr/>
            <p:nvPr/>
          </p:nvGrpSpPr>
          <p:grpSpPr>
            <a:xfrm>
              <a:off x="2311598" y="2722012"/>
              <a:ext cx="7194430" cy="3485072"/>
              <a:chOff x="4997571" y="2765557"/>
              <a:chExt cx="7194430" cy="3485072"/>
            </a:xfrm>
            <a:effectLst>
              <a:outerShdw blurRad="381000" algn="ctr" rotWithShape="0">
                <a:prstClr val="black">
                  <a:alpha val="50000"/>
                </a:prstClr>
              </a:outerShdw>
            </a:effectLst>
          </p:grpSpPr>
          <p:sp>
            <p:nvSpPr>
              <p:cNvPr id="4" name="Rectángulo redondeado 3">
                <a:extLst>
                  <a:ext uri="{FF2B5EF4-FFF2-40B4-BE49-F238E27FC236}">
                    <a16:creationId xmlns:a16="http://schemas.microsoft.com/office/drawing/2014/main" id="{454793B8-7A79-E914-E2E6-59FE9DB07BB6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3485072"/>
              </a:xfrm>
              <a:prstGeom prst="roundRect">
                <a:avLst>
                  <a:gd name="adj" fmla="val 2641"/>
                </a:avLst>
              </a:prstGeom>
              <a:solidFill>
                <a:srgbClr val="1A19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6" name="Rectángulo redondeado 5">
                <a:extLst>
                  <a:ext uri="{FF2B5EF4-FFF2-40B4-BE49-F238E27FC236}">
                    <a16:creationId xmlns:a16="http://schemas.microsoft.com/office/drawing/2014/main" id="{FCB74616-78F3-7AB1-A533-66A6CE45AC87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458624"/>
              </a:xfrm>
              <a:prstGeom prst="roundRect">
                <a:avLst>
                  <a:gd name="adj" fmla="val 19153"/>
                </a:avLst>
              </a:prstGeom>
              <a:solidFill>
                <a:srgbClr val="F2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00DC21C2-D1D3-3E08-5918-8F75C9A6E10E}"/>
                  </a:ext>
                </a:extLst>
              </p:cNvPr>
              <p:cNvSpPr/>
              <p:nvPr/>
            </p:nvSpPr>
            <p:spPr>
              <a:xfrm>
                <a:off x="4997571" y="3037406"/>
                <a:ext cx="7194429" cy="3064475"/>
              </a:xfrm>
              <a:prstGeom prst="rect">
                <a:avLst/>
              </a:prstGeom>
              <a:solidFill>
                <a:srgbClr val="19191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</p:grp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602C9A7B-6957-A966-7C8A-D5D8333E0F4D}"/>
                </a:ext>
              </a:extLst>
            </p:cNvPr>
            <p:cNvSpPr/>
            <p:nvPr/>
          </p:nvSpPr>
          <p:spPr>
            <a:xfrm>
              <a:off x="2395855" y="2803041"/>
              <a:ext cx="121764" cy="121764"/>
            </a:xfrm>
            <a:prstGeom prst="ellipse">
              <a:avLst/>
            </a:prstGeom>
            <a:solidFill>
              <a:srgbClr val="FF5E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8C8D6D8E-9B96-E80F-0F38-6DC1D8ECB09F}"/>
                </a:ext>
              </a:extLst>
            </p:cNvPr>
            <p:cNvSpPr/>
            <p:nvPr/>
          </p:nvSpPr>
          <p:spPr>
            <a:xfrm>
              <a:off x="2591024" y="2803041"/>
              <a:ext cx="121764" cy="121764"/>
            </a:xfrm>
            <a:prstGeom prst="ellipse">
              <a:avLst/>
            </a:prstGeom>
            <a:solidFill>
              <a:srgbClr val="FFBD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C2496B93-9CF7-6434-400C-2E8D05A5136B}"/>
                </a:ext>
              </a:extLst>
            </p:cNvPr>
            <p:cNvSpPr/>
            <p:nvPr/>
          </p:nvSpPr>
          <p:spPr>
            <a:xfrm>
              <a:off x="2786193" y="2802425"/>
              <a:ext cx="121764" cy="121764"/>
            </a:xfrm>
            <a:prstGeom prst="ellipse">
              <a:avLst/>
            </a:prstGeom>
            <a:solidFill>
              <a:srgbClr val="26C9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E08E73F-183C-2EFF-5DA0-8309CC7C0548}"/>
                </a:ext>
              </a:extLst>
            </p:cNvPr>
            <p:cNvSpPr txBox="1"/>
            <p:nvPr/>
          </p:nvSpPr>
          <p:spPr>
            <a:xfrm>
              <a:off x="5058022" y="2720427"/>
              <a:ext cx="17015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200" b="1" dirty="0" err="1">
                  <a:solidFill>
                    <a:srgbClr val="454545"/>
                  </a:solidFill>
                  <a:latin typeface="Century Gothic" panose="020B0502020202020204" pitchFamily="34" charset="0"/>
                </a:rPr>
                <a:t>ipss</a:t>
              </a:r>
              <a:endParaRPr lang="es-CL" sz="1200" b="1" dirty="0">
                <a:solidFill>
                  <a:srgbClr val="454545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B652834-9A77-0C23-7A9D-C80A490C90B9}"/>
              </a:ext>
            </a:extLst>
          </p:cNvPr>
          <p:cNvSpPr txBox="1"/>
          <p:nvPr/>
        </p:nvSpPr>
        <p:spPr>
          <a:xfrm>
            <a:off x="2395856" y="3351058"/>
            <a:ext cx="700531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bash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-c "$(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curl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fsSL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https://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raw.githubusercontent.com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Homebrew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/HEAD/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install.sh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)"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70BB630-A599-EBD6-F022-7F8D166EA41F}"/>
              </a:ext>
            </a:extLst>
          </p:cNvPr>
          <p:cNvSpPr txBox="1"/>
          <p:nvPr/>
        </p:nvSpPr>
        <p:spPr>
          <a:xfrm>
            <a:off x="2406153" y="2958701"/>
            <a:ext cx="1994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ipss@macOS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%</a:t>
            </a:r>
          </a:p>
        </p:txBody>
      </p:sp>
    </p:spTree>
    <p:extLst>
      <p:ext uri="{BB962C8B-B14F-4D97-AF65-F5344CB8AC3E}">
        <p14:creationId xmlns:p14="http://schemas.microsoft.com/office/powerpoint/2010/main" val="4169269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05565CA-4C0E-C656-86CC-1D8713E78364}"/>
              </a:ext>
            </a:extLst>
          </p:cNvPr>
          <p:cNvSpPr/>
          <p:nvPr/>
        </p:nvSpPr>
        <p:spPr>
          <a:xfrm>
            <a:off x="111204" y="966952"/>
            <a:ext cx="11969592" cy="5465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DDD535-B260-C50D-10F2-61837296C128}"/>
              </a:ext>
            </a:extLst>
          </p:cNvPr>
          <p:cNvSpPr txBox="1"/>
          <p:nvPr/>
        </p:nvSpPr>
        <p:spPr>
          <a:xfrm>
            <a:off x="312126" y="1146756"/>
            <a:ext cx="115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Solicitará tu contraseña de administrador: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A24605C-D637-7E35-7DA8-74CD4910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540" y="276800"/>
            <a:ext cx="8633256" cy="602137"/>
          </a:xfrm>
        </p:spPr>
        <p:txBody>
          <a:bodyPr/>
          <a:lstStyle/>
          <a:p>
            <a:pPr algn="l"/>
            <a:r>
              <a:rPr lang="es-ES" sz="4000" b="0" dirty="0">
                <a:solidFill>
                  <a:srgbClr val="00263E"/>
                </a:solidFill>
                <a:latin typeface="Gotham"/>
              </a:rPr>
              <a:t>Instalación de </a:t>
            </a:r>
            <a:r>
              <a:rPr lang="es-ES" sz="4000" b="0" dirty="0" err="1">
                <a:solidFill>
                  <a:srgbClr val="00263E"/>
                </a:solidFill>
                <a:latin typeface="Gotham"/>
              </a:rPr>
              <a:t>Homebrew</a:t>
            </a:r>
            <a:r>
              <a:rPr lang="es-ES" sz="4000" b="0" dirty="0">
                <a:solidFill>
                  <a:srgbClr val="00263E"/>
                </a:solidFill>
                <a:latin typeface="Gotham"/>
              </a:rPr>
              <a:t> [2/3]</a:t>
            </a:r>
            <a:endParaRPr lang="es-ES" sz="4000" b="0" dirty="0">
              <a:solidFill>
                <a:srgbClr val="00263E"/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BBE82EF-9972-B16C-D595-1278B51E0781}"/>
              </a:ext>
            </a:extLst>
          </p:cNvPr>
          <p:cNvGrpSpPr/>
          <p:nvPr/>
        </p:nvGrpSpPr>
        <p:grpSpPr>
          <a:xfrm>
            <a:off x="2311598" y="2120346"/>
            <a:ext cx="7194430" cy="3486657"/>
            <a:chOff x="2311598" y="2720427"/>
            <a:chExt cx="7194430" cy="3486657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E5803B7-F9CE-B538-579F-ABAFB3DEC8CD}"/>
                </a:ext>
              </a:extLst>
            </p:cNvPr>
            <p:cNvGrpSpPr/>
            <p:nvPr/>
          </p:nvGrpSpPr>
          <p:grpSpPr>
            <a:xfrm>
              <a:off x="2311598" y="2722012"/>
              <a:ext cx="7194430" cy="3485072"/>
              <a:chOff x="4997571" y="2765557"/>
              <a:chExt cx="7194430" cy="3485072"/>
            </a:xfrm>
            <a:effectLst>
              <a:outerShdw blurRad="381000" algn="ctr" rotWithShape="0">
                <a:prstClr val="black">
                  <a:alpha val="50000"/>
                </a:prstClr>
              </a:outerShdw>
            </a:effectLst>
          </p:grpSpPr>
          <p:sp>
            <p:nvSpPr>
              <p:cNvPr id="4" name="Rectángulo redondeado 3">
                <a:extLst>
                  <a:ext uri="{FF2B5EF4-FFF2-40B4-BE49-F238E27FC236}">
                    <a16:creationId xmlns:a16="http://schemas.microsoft.com/office/drawing/2014/main" id="{454793B8-7A79-E914-E2E6-59FE9DB07BB6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3485072"/>
              </a:xfrm>
              <a:prstGeom prst="roundRect">
                <a:avLst>
                  <a:gd name="adj" fmla="val 2641"/>
                </a:avLst>
              </a:prstGeom>
              <a:solidFill>
                <a:srgbClr val="1A19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6" name="Rectángulo redondeado 5">
                <a:extLst>
                  <a:ext uri="{FF2B5EF4-FFF2-40B4-BE49-F238E27FC236}">
                    <a16:creationId xmlns:a16="http://schemas.microsoft.com/office/drawing/2014/main" id="{FCB74616-78F3-7AB1-A533-66A6CE45AC87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458624"/>
              </a:xfrm>
              <a:prstGeom prst="roundRect">
                <a:avLst>
                  <a:gd name="adj" fmla="val 19153"/>
                </a:avLst>
              </a:prstGeom>
              <a:solidFill>
                <a:srgbClr val="F2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00DC21C2-D1D3-3E08-5918-8F75C9A6E10E}"/>
                  </a:ext>
                </a:extLst>
              </p:cNvPr>
              <p:cNvSpPr/>
              <p:nvPr/>
            </p:nvSpPr>
            <p:spPr>
              <a:xfrm>
                <a:off x="4997571" y="3037406"/>
                <a:ext cx="7194429" cy="3064475"/>
              </a:xfrm>
              <a:prstGeom prst="rect">
                <a:avLst/>
              </a:prstGeom>
              <a:solidFill>
                <a:srgbClr val="19191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</p:grp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602C9A7B-6957-A966-7C8A-D5D8333E0F4D}"/>
                </a:ext>
              </a:extLst>
            </p:cNvPr>
            <p:cNvSpPr/>
            <p:nvPr/>
          </p:nvSpPr>
          <p:spPr>
            <a:xfrm>
              <a:off x="2395855" y="2803041"/>
              <a:ext cx="121764" cy="121764"/>
            </a:xfrm>
            <a:prstGeom prst="ellipse">
              <a:avLst/>
            </a:prstGeom>
            <a:solidFill>
              <a:srgbClr val="FF5E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8C8D6D8E-9B96-E80F-0F38-6DC1D8ECB09F}"/>
                </a:ext>
              </a:extLst>
            </p:cNvPr>
            <p:cNvSpPr/>
            <p:nvPr/>
          </p:nvSpPr>
          <p:spPr>
            <a:xfrm>
              <a:off x="2591024" y="2803041"/>
              <a:ext cx="121764" cy="121764"/>
            </a:xfrm>
            <a:prstGeom prst="ellipse">
              <a:avLst/>
            </a:prstGeom>
            <a:solidFill>
              <a:srgbClr val="FFBD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C2496B93-9CF7-6434-400C-2E8D05A5136B}"/>
                </a:ext>
              </a:extLst>
            </p:cNvPr>
            <p:cNvSpPr/>
            <p:nvPr/>
          </p:nvSpPr>
          <p:spPr>
            <a:xfrm>
              <a:off x="2786193" y="2802425"/>
              <a:ext cx="121764" cy="121764"/>
            </a:xfrm>
            <a:prstGeom prst="ellipse">
              <a:avLst/>
            </a:prstGeom>
            <a:solidFill>
              <a:srgbClr val="26C9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E08E73F-183C-2EFF-5DA0-8309CC7C0548}"/>
                </a:ext>
              </a:extLst>
            </p:cNvPr>
            <p:cNvSpPr txBox="1"/>
            <p:nvPr/>
          </p:nvSpPr>
          <p:spPr>
            <a:xfrm>
              <a:off x="5058022" y="2720427"/>
              <a:ext cx="17015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200" b="1" dirty="0" err="1">
                  <a:solidFill>
                    <a:srgbClr val="454545"/>
                  </a:solidFill>
                  <a:latin typeface="Century Gothic" panose="020B0502020202020204" pitchFamily="34" charset="0"/>
                </a:rPr>
                <a:t>ipss</a:t>
              </a:r>
              <a:endParaRPr lang="es-CL" sz="1200" b="1" dirty="0">
                <a:solidFill>
                  <a:srgbClr val="454545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B652834-9A77-0C23-7A9D-C80A490C90B9}"/>
              </a:ext>
            </a:extLst>
          </p:cNvPr>
          <p:cNvSpPr txBox="1"/>
          <p:nvPr/>
        </p:nvSpPr>
        <p:spPr>
          <a:xfrm>
            <a:off x="2395856" y="2822414"/>
            <a:ext cx="700531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bash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-c "$(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curl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-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fsSL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https://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raw.githubusercontent.com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Homebrew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/HEAD/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install.sh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)"</a:t>
            </a:r>
          </a:p>
          <a:p>
            <a:endParaRPr lang="es-CL" sz="1400" dirty="0">
              <a:solidFill>
                <a:srgbClr val="3CFE2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s-CL" sz="1400" dirty="0">
                <a:solidFill>
                  <a:srgbClr val="400BD9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==&gt;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Checking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for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`sudo` 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access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(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which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may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request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your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password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)...</a:t>
            </a:r>
          </a:p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Password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D70BB630-A599-EBD6-F022-7F8D166EA41F}"/>
              </a:ext>
            </a:extLst>
          </p:cNvPr>
          <p:cNvSpPr txBox="1"/>
          <p:nvPr/>
        </p:nvSpPr>
        <p:spPr>
          <a:xfrm>
            <a:off x="2406153" y="2430057"/>
            <a:ext cx="1994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ipss@macOS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%</a:t>
            </a:r>
          </a:p>
        </p:txBody>
      </p:sp>
    </p:spTree>
    <p:extLst>
      <p:ext uri="{BB962C8B-B14F-4D97-AF65-F5344CB8AC3E}">
        <p14:creationId xmlns:p14="http://schemas.microsoft.com/office/powerpoint/2010/main" val="2397416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05565CA-4C0E-C656-86CC-1D8713E78364}"/>
              </a:ext>
            </a:extLst>
          </p:cNvPr>
          <p:cNvSpPr/>
          <p:nvPr/>
        </p:nvSpPr>
        <p:spPr>
          <a:xfrm>
            <a:off x="111204" y="966952"/>
            <a:ext cx="11969592" cy="5465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DDD535-B260-C50D-10F2-61837296C128}"/>
              </a:ext>
            </a:extLst>
          </p:cNvPr>
          <p:cNvSpPr txBox="1"/>
          <p:nvPr/>
        </p:nvSpPr>
        <p:spPr>
          <a:xfrm>
            <a:off x="312126" y="1146756"/>
            <a:ext cx="115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Indicará que el script instalará dependencias en ciertos directorios, presionamos ENTER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A24605C-D637-7E35-7DA8-74CD4910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540" y="276800"/>
            <a:ext cx="8633256" cy="602137"/>
          </a:xfrm>
        </p:spPr>
        <p:txBody>
          <a:bodyPr/>
          <a:lstStyle/>
          <a:p>
            <a:pPr algn="l"/>
            <a:r>
              <a:rPr lang="es-ES" sz="4000" b="0" dirty="0">
                <a:solidFill>
                  <a:srgbClr val="00263E"/>
                </a:solidFill>
                <a:latin typeface="Gotham"/>
              </a:rPr>
              <a:t>Instalación de </a:t>
            </a:r>
            <a:r>
              <a:rPr lang="es-ES" sz="4000" b="0" dirty="0" err="1">
                <a:solidFill>
                  <a:srgbClr val="00263E"/>
                </a:solidFill>
                <a:latin typeface="Gotham"/>
              </a:rPr>
              <a:t>Homebrew</a:t>
            </a:r>
            <a:r>
              <a:rPr lang="es-ES" sz="4000" b="0" dirty="0">
                <a:solidFill>
                  <a:srgbClr val="00263E"/>
                </a:solidFill>
                <a:latin typeface="Gotham"/>
              </a:rPr>
              <a:t> [3/3]</a:t>
            </a:r>
            <a:endParaRPr lang="es-ES" sz="4000" b="0" dirty="0">
              <a:solidFill>
                <a:srgbClr val="00263E"/>
              </a:solidFill>
            </a:endParaRPr>
          </a:p>
        </p:txBody>
      </p:sp>
      <p:grpSp>
        <p:nvGrpSpPr>
          <p:cNvPr id="17" name="Grupo 16">
            <a:extLst>
              <a:ext uri="{FF2B5EF4-FFF2-40B4-BE49-F238E27FC236}">
                <a16:creationId xmlns:a16="http://schemas.microsoft.com/office/drawing/2014/main" id="{7BBE82EF-9972-B16C-D595-1278B51E0781}"/>
              </a:ext>
            </a:extLst>
          </p:cNvPr>
          <p:cNvGrpSpPr/>
          <p:nvPr/>
        </p:nvGrpSpPr>
        <p:grpSpPr>
          <a:xfrm>
            <a:off x="2311598" y="2120346"/>
            <a:ext cx="7194430" cy="3486657"/>
            <a:chOff x="2311598" y="2720427"/>
            <a:chExt cx="7194430" cy="3486657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E5803B7-F9CE-B538-579F-ABAFB3DEC8CD}"/>
                </a:ext>
              </a:extLst>
            </p:cNvPr>
            <p:cNvGrpSpPr/>
            <p:nvPr/>
          </p:nvGrpSpPr>
          <p:grpSpPr>
            <a:xfrm>
              <a:off x="2311598" y="2722012"/>
              <a:ext cx="7194430" cy="3485072"/>
              <a:chOff x="4997571" y="2765557"/>
              <a:chExt cx="7194430" cy="3485072"/>
            </a:xfrm>
            <a:effectLst>
              <a:outerShdw blurRad="381000" algn="ctr" rotWithShape="0">
                <a:prstClr val="black">
                  <a:alpha val="50000"/>
                </a:prstClr>
              </a:outerShdw>
            </a:effectLst>
          </p:grpSpPr>
          <p:sp>
            <p:nvSpPr>
              <p:cNvPr id="4" name="Rectángulo redondeado 3">
                <a:extLst>
                  <a:ext uri="{FF2B5EF4-FFF2-40B4-BE49-F238E27FC236}">
                    <a16:creationId xmlns:a16="http://schemas.microsoft.com/office/drawing/2014/main" id="{454793B8-7A79-E914-E2E6-59FE9DB07BB6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3485072"/>
              </a:xfrm>
              <a:prstGeom prst="roundRect">
                <a:avLst>
                  <a:gd name="adj" fmla="val 2641"/>
                </a:avLst>
              </a:prstGeom>
              <a:solidFill>
                <a:srgbClr val="1A19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6" name="Rectángulo redondeado 5">
                <a:extLst>
                  <a:ext uri="{FF2B5EF4-FFF2-40B4-BE49-F238E27FC236}">
                    <a16:creationId xmlns:a16="http://schemas.microsoft.com/office/drawing/2014/main" id="{FCB74616-78F3-7AB1-A533-66A6CE45AC87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458624"/>
              </a:xfrm>
              <a:prstGeom prst="roundRect">
                <a:avLst>
                  <a:gd name="adj" fmla="val 19153"/>
                </a:avLst>
              </a:prstGeom>
              <a:solidFill>
                <a:srgbClr val="F2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00DC21C2-D1D3-3E08-5918-8F75C9A6E10E}"/>
                  </a:ext>
                </a:extLst>
              </p:cNvPr>
              <p:cNvSpPr/>
              <p:nvPr/>
            </p:nvSpPr>
            <p:spPr>
              <a:xfrm>
                <a:off x="4997571" y="3037406"/>
                <a:ext cx="7194429" cy="3064475"/>
              </a:xfrm>
              <a:prstGeom prst="rect">
                <a:avLst/>
              </a:prstGeom>
              <a:solidFill>
                <a:srgbClr val="19191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</p:grp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602C9A7B-6957-A966-7C8A-D5D8333E0F4D}"/>
                </a:ext>
              </a:extLst>
            </p:cNvPr>
            <p:cNvSpPr/>
            <p:nvPr/>
          </p:nvSpPr>
          <p:spPr>
            <a:xfrm>
              <a:off x="2395855" y="2803041"/>
              <a:ext cx="121764" cy="121764"/>
            </a:xfrm>
            <a:prstGeom prst="ellipse">
              <a:avLst/>
            </a:prstGeom>
            <a:solidFill>
              <a:srgbClr val="FF5E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8C8D6D8E-9B96-E80F-0F38-6DC1D8ECB09F}"/>
                </a:ext>
              </a:extLst>
            </p:cNvPr>
            <p:cNvSpPr/>
            <p:nvPr/>
          </p:nvSpPr>
          <p:spPr>
            <a:xfrm>
              <a:off x="2591024" y="2803041"/>
              <a:ext cx="121764" cy="121764"/>
            </a:xfrm>
            <a:prstGeom prst="ellipse">
              <a:avLst/>
            </a:prstGeom>
            <a:solidFill>
              <a:srgbClr val="FFBD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C2496B93-9CF7-6434-400C-2E8D05A5136B}"/>
                </a:ext>
              </a:extLst>
            </p:cNvPr>
            <p:cNvSpPr/>
            <p:nvPr/>
          </p:nvSpPr>
          <p:spPr>
            <a:xfrm>
              <a:off x="2786193" y="2802425"/>
              <a:ext cx="121764" cy="121764"/>
            </a:xfrm>
            <a:prstGeom prst="ellipse">
              <a:avLst/>
            </a:prstGeom>
            <a:solidFill>
              <a:srgbClr val="26C9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16" name="CuadroTexto 15">
              <a:extLst>
                <a:ext uri="{FF2B5EF4-FFF2-40B4-BE49-F238E27FC236}">
                  <a16:creationId xmlns:a16="http://schemas.microsoft.com/office/drawing/2014/main" id="{CE08E73F-183C-2EFF-5DA0-8309CC7C0548}"/>
                </a:ext>
              </a:extLst>
            </p:cNvPr>
            <p:cNvSpPr txBox="1"/>
            <p:nvPr/>
          </p:nvSpPr>
          <p:spPr>
            <a:xfrm>
              <a:off x="5058022" y="2720427"/>
              <a:ext cx="17015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200" b="1" dirty="0" err="1">
                  <a:solidFill>
                    <a:srgbClr val="454545"/>
                  </a:solidFill>
                  <a:latin typeface="Century Gothic" panose="020B0502020202020204" pitchFamily="34" charset="0"/>
                </a:rPr>
                <a:t>ipss</a:t>
              </a:r>
              <a:endParaRPr lang="es-CL" sz="1200" b="1" dirty="0">
                <a:solidFill>
                  <a:srgbClr val="454545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18" name="CuadroTexto 17">
            <a:extLst>
              <a:ext uri="{FF2B5EF4-FFF2-40B4-BE49-F238E27FC236}">
                <a16:creationId xmlns:a16="http://schemas.microsoft.com/office/drawing/2014/main" id="{9B652834-9A77-0C23-7A9D-C80A490C90B9}"/>
              </a:ext>
            </a:extLst>
          </p:cNvPr>
          <p:cNvSpPr txBox="1"/>
          <p:nvPr/>
        </p:nvSpPr>
        <p:spPr>
          <a:xfrm>
            <a:off x="2395856" y="2479512"/>
            <a:ext cx="700531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>
                <a:solidFill>
                  <a:srgbClr val="400BD9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==&gt;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This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script 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will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install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:</a:t>
            </a:r>
          </a:p>
          <a:p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opt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homebrew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bin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brew</a:t>
            </a:r>
            <a:endParaRPr lang="es-CL" sz="1400" dirty="0">
              <a:solidFill>
                <a:srgbClr val="2FFF12"/>
              </a:solidFill>
              <a:effectLst/>
              <a:highlight>
                <a:srgbClr val="000000"/>
              </a:highlight>
              <a:latin typeface="Andale Mono" panose="020B0509000000000004" pitchFamily="49" charset="0"/>
            </a:endParaRPr>
          </a:p>
          <a:p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opt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homebrew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/share/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doc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homebrew</a:t>
            </a:r>
            <a:endParaRPr lang="es-CL" sz="1400" dirty="0">
              <a:solidFill>
                <a:srgbClr val="2FFF12"/>
              </a:solidFill>
              <a:effectLst/>
              <a:highlight>
                <a:srgbClr val="000000"/>
              </a:highlight>
              <a:latin typeface="Andale Mono" panose="020B0509000000000004" pitchFamily="49" charset="0"/>
            </a:endParaRPr>
          </a:p>
          <a:p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opt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homebrew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/share/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man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/man1/brew.1</a:t>
            </a:r>
          </a:p>
          <a:p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opt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homebrew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/share/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zsh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/site-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functions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/_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brew</a:t>
            </a:r>
            <a:endParaRPr lang="es-CL" sz="1400" dirty="0">
              <a:solidFill>
                <a:srgbClr val="2FFF12"/>
              </a:solidFill>
              <a:effectLst/>
              <a:highlight>
                <a:srgbClr val="000000"/>
              </a:highlight>
              <a:latin typeface="Andale Mono" panose="020B0509000000000004" pitchFamily="49" charset="0"/>
            </a:endParaRPr>
          </a:p>
          <a:p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opt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homebrew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etc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bash_completion.d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brew</a:t>
            </a:r>
            <a:endParaRPr lang="es-CL" sz="1400" dirty="0">
              <a:solidFill>
                <a:srgbClr val="2FFF12"/>
              </a:solidFill>
              <a:effectLst/>
              <a:highlight>
                <a:srgbClr val="000000"/>
              </a:highlight>
              <a:latin typeface="Andale Mono" panose="020B0509000000000004" pitchFamily="49" charset="0"/>
            </a:endParaRPr>
          </a:p>
          <a:p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opt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homebrew</a:t>
            </a:r>
            <a:endParaRPr lang="es-CL" sz="1400" dirty="0">
              <a:solidFill>
                <a:srgbClr val="2FFF12"/>
              </a:solidFill>
              <a:effectLst/>
              <a:highlight>
                <a:srgbClr val="000000"/>
              </a:highlight>
              <a:latin typeface="Andale Mono" panose="020B0509000000000004" pitchFamily="49" charset="0"/>
            </a:endParaRPr>
          </a:p>
          <a:p>
            <a:b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</a:br>
            <a:endParaRPr lang="es-CL" sz="1400" dirty="0">
              <a:solidFill>
                <a:srgbClr val="2FFF12"/>
              </a:solidFill>
              <a:effectLst/>
              <a:highlight>
                <a:srgbClr val="000000"/>
              </a:highlight>
              <a:latin typeface="Andale Mono" panose="020B0509000000000004" pitchFamily="49" charset="0"/>
            </a:endParaRPr>
          </a:p>
          <a:p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Press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RETURN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/</a:t>
            </a:r>
            <a:r>
              <a:rPr lang="es-CL" sz="1400" dirty="0">
                <a:solidFill>
                  <a:srgbClr val="00FF00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ENTER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to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continue 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or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any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other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key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to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 </a:t>
            </a:r>
            <a:r>
              <a:rPr lang="es-CL" sz="1400" dirty="0" err="1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abort</a:t>
            </a:r>
            <a:r>
              <a:rPr lang="es-CL" sz="1400" dirty="0">
                <a:solidFill>
                  <a:srgbClr val="2FFF12"/>
                </a:solidFill>
                <a:effectLst/>
                <a:highlight>
                  <a:srgbClr val="000000"/>
                </a:highlight>
                <a:latin typeface="Andale Mono" panose="020B0509000000000004" pitchFamily="49" charset="0"/>
              </a:rPr>
              <a:t>:</a:t>
            </a:r>
          </a:p>
        </p:txBody>
      </p:sp>
    </p:spTree>
    <p:extLst>
      <p:ext uri="{BB962C8B-B14F-4D97-AF65-F5344CB8AC3E}">
        <p14:creationId xmlns:p14="http://schemas.microsoft.com/office/powerpoint/2010/main" val="37363423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2843772"/>
            <a:ext cx="10741572" cy="1744716"/>
          </a:xfrm>
        </p:spPr>
        <p:txBody>
          <a:bodyPr/>
          <a:lstStyle/>
          <a:p>
            <a:pPr algn="ctr"/>
            <a:r>
              <a:rPr lang="es-MX" dirty="0"/>
              <a:t>Instalación de PHP</a:t>
            </a:r>
          </a:p>
        </p:txBody>
      </p:sp>
    </p:spTree>
    <p:extLst>
      <p:ext uri="{BB962C8B-B14F-4D97-AF65-F5344CB8AC3E}">
        <p14:creationId xmlns:p14="http://schemas.microsoft.com/office/powerpoint/2010/main" val="3165393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05565CA-4C0E-C656-86CC-1D8713E78364}"/>
              </a:ext>
            </a:extLst>
          </p:cNvPr>
          <p:cNvSpPr/>
          <p:nvPr/>
        </p:nvSpPr>
        <p:spPr>
          <a:xfrm>
            <a:off x="111204" y="966952"/>
            <a:ext cx="11969592" cy="5465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DDD535-B260-C50D-10F2-61837296C128}"/>
              </a:ext>
            </a:extLst>
          </p:cNvPr>
          <p:cNvSpPr txBox="1"/>
          <p:nvPr/>
        </p:nvSpPr>
        <p:spPr>
          <a:xfrm>
            <a:off x="312126" y="1146756"/>
            <a:ext cx="115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Laravel requiere PHP, y puedes instalarlo utilizando 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Homebrew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: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A24605C-D637-7E35-7DA8-74CD4910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540" y="276800"/>
            <a:ext cx="8633256" cy="602137"/>
          </a:xfrm>
        </p:spPr>
        <p:txBody>
          <a:bodyPr/>
          <a:lstStyle/>
          <a:p>
            <a:pPr algn="l"/>
            <a:r>
              <a:rPr lang="es-ES" sz="4000" b="0" dirty="0">
                <a:solidFill>
                  <a:srgbClr val="00263E"/>
                </a:solidFill>
                <a:latin typeface="Gotham"/>
              </a:rPr>
              <a:t>Instalación de PHP [1/1]</a:t>
            </a:r>
            <a:endParaRPr lang="es-ES" sz="4000" b="0" dirty="0">
              <a:solidFill>
                <a:srgbClr val="00263E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4EA7F92-48F2-9DA0-A004-B6BE3018F463}"/>
              </a:ext>
            </a:extLst>
          </p:cNvPr>
          <p:cNvGrpSpPr/>
          <p:nvPr/>
        </p:nvGrpSpPr>
        <p:grpSpPr>
          <a:xfrm>
            <a:off x="2311598" y="2120346"/>
            <a:ext cx="7194430" cy="3486657"/>
            <a:chOff x="2311598" y="2720427"/>
            <a:chExt cx="7194430" cy="3486657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DAEAF8-1E58-0426-A4DC-AB5BBAB5652B}"/>
                </a:ext>
              </a:extLst>
            </p:cNvPr>
            <p:cNvGrpSpPr/>
            <p:nvPr/>
          </p:nvGrpSpPr>
          <p:grpSpPr>
            <a:xfrm>
              <a:off x="2311598" y="2722012"/>
              <a:ext cx="7194430" cy="3485072"/>
              <a:chOff x="4997571" y="2765557"/>
              <a:chExt cx="7194430" cy="3485072"/>
            </a:xfrm>
            <a:effectLst>
              <a:outerShdw blurRad="381000" algn="ctr" rotWithShape="0">
                <a:prstClr val="black">
                  <a:alpha val="50000"/>
                </a:prstClr>
              </a:outerShdw>
            </a:effectLst>
          </p:grpSpPr>
          <p:sp>
            <p:nvSpPr>
              <p:cNvPr id="23" name="Rectángulo redondeado 22">
                <a:extLst>
                  <a:ext uri="{FF2B5EF4-FFF2-40B4-BE49-F238E27FC236}">
                    <a16:creationId xmlns:a16="http://schemas.microsoft.com/office/drawing/2014/main" id="{2E8A6FF2-A9E2-FD15-BC7D-338A37A11DE4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3485072"/>
              </a:xfrm>
              <a:prstGeom prst="roundRect">
                <a:avLst>
                  <a:gd name="adj" fmla="val 2641"/>
                </a:avLst>
              </a:prstGeom>
              <a:solidFill>
                <a:srgbClr val="1A19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4" name="Rectángulo redondeado 23">
                <a:extLst>
                  <a:ext uri="{FF2B5EF4-FFF2-40B4-BE49-F238E27FC236}">
                    <a16:creationId xmlns:a16="http://schemas.microsoft.com/office/drawing/2014/main" id="{FD12B445-E2BA-56A0-8E57-F447B444ED77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458624"/>
              </a:xfrm>
              <a:prstGeom prst="roundRect">
                <a:avLst>
                  <a:gd name="adj" fmla="val 19153"/>
                </a:avLst>
              </a:prstGeom>
              <a:solidFill>
                <a:srgbClr val="F2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FA3FA393-82FA-FB87-2770-89FC4B44CDE5}"/>
                  </a:ext>
                </a:extLst>
              </p:cNvPr>
              <p:cNvSpPr/>
              <p:nvPr/>
            </p:nvSpPr>
            <p:spPr>
              <a:xfrm>
                <a:off x="4997571" y="3037406"/>
                <a:ext cx="7194429" cy="3064475"/>
              </a:xfrm>
              <a:prstGeom prst="rect">
                <a:avLst/>
              </a:prstGeom>
              <a:solidFill>
                <a:srgbClr val="19191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</p:grp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ACE0AE54-DF61-3337-9D99-D1F3EADA8359}"/>
                </a:ext>
              </a:extLst>
            </p:cNvPr>
            <p:cNvSpPr/>
            <p:nvPr/>
          </p:nvSpPr>
          <p:spPr>
            <a:xfrm>
              <a:off x="2395855" y="2803041"/>
              <a:ext cx="121764" cy="121764"/>
            </a:xfrm>
            <a:prstGeom prst="ellipse">
              <a:avLst/>
            </a:prstGeom>
            <a:solidFill>
              <a:srgbClr val="FF5E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736CAF24-81EE-1DB1-3164-CB6322E3CEA0}"/>
                </a:ext>
              </a:extLst>
            </p:cNvPr>
            <p:cNvSpPr/>
            <p:nvPr/>
          </p:nvSpPr>
          <p:spPr>
            <a:xfrm>
              <a:off x="2591024" y="2803041"/>
              <a:ext cx="121764" cy="121764"/>
            </a:xfrm>
            <a:prstGeom prst="ellipse">
              <a:avLst/>
            </a:prstGeom>
            <a:solidFill>
              <a:srgbClr val="FFBD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FD0C2BF-9516-2BD5-472A-59F6386A13E3}"/>
                </a:ext>
              </a:extLst>
            </p:cNvPr>
            <p:cNvSpPr/>
            <p:nvPr/>
          </p:nvSpPr>
          <p:spPr>
            <a:xfrm>
              <a:off x="2786193" y="2802425"/>
              <a:ext cx="121764" cy="121764"/>
            </a:xfrm>
            <a:prstGeom prst="ellipse">
              <a:avLst/>
            </a:prstGeom>
            <a:solidFill>
              <a:srgbClr val="26C9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6AFD1A71-E26D-73B9-E204-8B5A47240AF0}"/>
                </a:ext>
              </a:extLst>
            </p:cNvPr>
            <p:cNvSpPr txBox="1"/>
            <p:nvPr/>
          </p:nvSpPr>
          <p:spPr>
            <a:xfrm>
              <a:off x="5058022" y="2720427"/>
              <a:ext cx="17015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200" b="1" dirty="0" err="1">
                  <a:solidFill>
                    <a:srgbClr val="454545"/>
                  </a:solidFill>
                  <a:latin typeface="Century Gothic" panose="020B0502020202020204" pitchFamily="34" charset="0"/>
                </a:rPr>
                <a:t>ipss</a:t>
              </a:r>
              <a:endParaRPr lang="es-CL" sz="1200" b="1" dirty="0">
                <a:solidFill>
                  <a:srgbClr val="454545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DE88C82-8E65-6B43-2127-BCCCC31811A3}"/>
              </a:ext>
            </a:extLst>
          </p:cNvPr>
          <p:cNvSpPr txBox="1"/>
          <p:nvPr/>
        </p:nvSpPr>
        <p:spPr>
          <a:xfrm>
            <a:off x="2395856" y="2822414"/>
            <a:ext cx="7005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brew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php</a:t>
            </a:r>
            <a:endParaRPr lang="es-CL" sz="1400" dirty="0">
              <a:solidFill>
                <a:srgbClr val="3CFE2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6E8EB70-FCE2-4786-2356-79F35482723B}"/>
              </a:ext>
            </a:extLst>
          </p:cNvPr>
          <p:cNvSpPr txBox="1"/>
          <p:nvPr/>
        </p:nvSpPr>
        <p:spPr>
          <a:xfrm>
            <a:off x="2406153" y="2430057"/>
            <a:ext cx="1994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ipss@macOS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%</a:t>
            </a:r>
          </a:p>
        </p:txBody>
      </p:sp>
    </p:spTree>
    <p:extLst>
      <p:ext uri="{BB962C8B-B14F-4D97-AF65-F5344CB8AC3E}">
        <p14:creationId xmlns:p14="http://schemas.microsoft.com/office/powerpoint/2010/main" val="1790471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2843772"/>
            <a:ext cx="10741572" cy="1744716"/>
          </a:xfrm>
        </p:spPr>
        <p:txBody>
          <a:bodyPr/>
          <a:lstStyle/>
          <a:p>
            <a:pPr algn="ctr"/>
            <a:r>
              <a:rPr lang="es-MX" dirty="0"/>
              <a:t>Instalación de Composer</a:t>
            </a:r>
          </a:p>
        </p:txBody>
      </p:sp>
    </p:spTree>
    <p:extLst>
      <p:ext uri="{BB962C8B-B14F-4D97-AF65-F5344CB8AC3E}">
        <p14:creationId xmlns:p14="http://schemas.microsoft.com/office/powerpoint/2010/main" val="2340393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05565CA-4C0E-C656-86CC-1D8713E78364}"/>
              </a:ext>
            </a:extLst>
          </p:cNvPr>
          <p:cNvSpPr/>
          <p:nvPr/>
        </p:nvSpPr>
        <p:spPr>
          <a:xfrm>
            <a:off x="111204" y="966952"/>
            <a:ext cx="11969592" cy="5465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DDD535-B260-C50D-10F2-61837296C128}"/>
              </a:ext>
            </a:extLst>
          </p:cNvPr>
          <p:cNvSpPr txBox="1"/>
          <p:nvPr/>
        </p:nvSpPr>
        <p:spPr>
          <a:xfrm>
            <a:off x="312126" y="1146756"/>
            <a:ext cx="115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Composer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 es un gestor de dependencias para PHP, necesario para instalar Laravel y sus dependencias.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A24605C-D637-7E35-7DA8-74CD4910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540" y="276800"/>
            <a:ext cx="8633256" cy="602137"/>
          </a:xfrm>
        </p:spPr>
        <p:txBody>
          <a:bodyPr/>
          <a:lstStyle/>
          <a:p>
            <a:pPr algn="l"/>
            <a:r>
              <a:rPr lang="es-ES" sz="4000" b="0" dirty="0">
                <a:solidFill>
                  <a:srgbClr val="00263E"/>
                </a:solidFill>
                <a:latin typeface="Gotham"/>
              </a:rPr>
              <a:t>Instalación de </a:t>
            </a:r>
            <a:r>
              <a:rPr lang="es-ES" sz="4000" b="0" dirty="0" err="1">
                <a:solidFill>
                  <a:srgbClr val="00263E"/>
                </a:solidFill>
                <a:latin typeface="Gotham"/>
              </a:rPr>
              <a:t>Composer</a:t>
            </a:r>
            <a:r>
              <a:rPr lang="es-ES" sz="4000" b="0" dirty="0">
                <a:solidFill>
                  <a:srgbClr val="00263E"/>
                </a:solidFill>
                <a:latin typeface="Gotham"/>
              </a:rPr>
              <a:t> [1/1]</a:t>
            </a:r>
            <a:endParaRPr lang="es-ES" sz="4000" b="0" dirty="0">
              <a:solidFill>
                <a:srgbClr val="00263E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4EA7F92-48F2-9DA0-A004-B6BE3018F463}"/>
              </a:ext>
            </a:extLst>
          </p:cNvPr>
          <p:cNvGrpSpPr/>
          <p:nvPr/>
        </p:nvGrpSpPr>
        <p:grpSpPr>
          <a:xfrm>
            <a:off x="2311598" y="2120346"/>
            <a:ext cx="7194430" cy="3486657"/>
            <a:chOff x="2311598" y="2720427"/>
            <a:chExt cx="7194430" cy="3486657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DAEAF8-1E58-0426-A4DC-AB5BBAB5652B}"/>
                </a:ext>
              </a:extLst>
            </p:cNvPr>
            <p:cNvGrpSpPr/>
            <p:nvPr/>
          </p:nvGrpSpPr>
          <p:grpSpPr>
            <a:xfrm>
              <a:off x="2311598" y="2722012"/>
              <a:ext cx="7194430" cy="3485072"/>
              <a:chOff x="4997571" y="2765557"/>
              <a:chExt cx="7194430" cy="3485072"/>
            </a:xfrm>
            <a:effectLst>
              <a:outerShdw blurRad="381000" algn="ctr" rotWithShape="0">
                <a:prstClr val="black">
                  <a:alpha val="50000"/>
                </a:prstClr>
              </a:outerShdw>
            </a:effectLst>
          </p:grpSpPr>
          <p:sp>
            <p:nvSpPr>
              <p:cNvPr id="23" name="Rectángulo redondeado 22">
                <a:extLst>
                  <a:ext uri="{FF2B5EF4-FFF2-40B4-BE49-F238E27FC236}">
                    <a16:creationId xmlns:a16="http://schemas.microsoft.com/office/drawing/2014/main" id="{2E8A6FF2-A9E2-FD15-BC7D-338A37A11DE4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3485072"/>
              </a:xfrm>
              <a:prstGeom prst="roundRect">
                <a:avLst>
                  <a:gd name="adj" fmla="val 2641"/>
                </a:avLst>
              </a:prstGeom>
              <a:solidFill>
                <a:srgbClr val="1A19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4" name="Rectángulo redondeado 23">
                <a:extLst>
                  <a:ext uri="{FF2B5EF4-FFF2-40B4-BE49-F238E27FC236}">
                    <a16:creationId xmlns:a16="http://schemas.microsoft.com/office/drawing/2014/main" id="{FD12B445-E2BA-56A0-8E57-F447B444ED77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458624"/>
              </a:xfrm>
              <a:prstGeom prst="roundRect">
                <a:avLst>
                  <a:gd name="adj" fmla="val 19153"/>
                </a:avLst>
              </a:prstGeom>
              <a:solidFill>
                <a:srgbClr val="F2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FA3FA393-82FA-FB87-2770-89FC4B44CDE5}"/>
                  </a:ext>
                </a:extLst>
              </p:cNvPr>
              <p:cNvSpPr/>
              <p:nvPr/>
            </p:nvSpPr>
            <p:spPr>
              <a:xfrm>
                <a:off x="4997571" y="3037406"/>
                <a:ext cx="7194429" cy="3064475"/>
              </a:xfrm>
              <a:prstGeom prst="rect">
                <a:avLst/>
              </a:prstGeom>
              <a:solidFill>
                <a:srgbClr val="19191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</p:grp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ACE0AE54-DF61-3337-9D99-D1F3EADA8359}"/>
                </a:ext>
              </a:extLst>
            </p:cNvPr>
            <p:cNvSpPr/>
            <p:nvPr/>
          </p:nvSpPr>
          <p:spPr>
            <a:xfrm>
              <a:off x="2395855" y="2803041"/>
              <a:ext cx="121764" cy="121764"/>
            </a:xfrm>
            <a:prstGeom prst="ellipse">
              <a:avLst/>
            </a:prstGeom>
            <a:solidFill>
              <a:srgbClr val="FF5E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736CAF24-81EE-1DB1-3164-CB6322E3CEA0}"/>
                </a:ext>
              </a:extLst>
            </p:cNvPr>
            <p:cNvSpPr/>
            <p:nvPr/>
          </p:nvSpPr>
          <p:spPr>
            <a:xfrm>
              <a:off x="2591024" y="2803041"/>
              <a:ext cx="121764" cy="121764"/>
            </a:xfrm>
            <a:prstGeom prst="ellipse">
              <a:avLst/>
            </a:prstGeom>
            <a:solidFill>
              <a:srgbClr val="FFBD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FD0C2BF-9516-2BD5-472A-59F6386A13E3}"/>
                </a:ext>
              </a:extLst>
            </p:cNvPr>
            <p:cNvSpPr/>
            <p:nvPr/>
          </p:nvSpPr>
          <p:spPr>
            <a:xfrm>
              <a:off x="2786193" y="2802425"/>
              <a:ext cx="121764" cy="121764"/>
            </a:xfrm>
            <a:prstGeom prst="ellipse">
              <a:avLst/>
            </a:prstGeom>
            <a:solidFill>
              <a:srgbClr val="26C9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6AFD1A71-E26D-73B9-E204-8B5A47240AF0}"/>
                </a:ext>
              </a:extLst>
            </p:cNvPr>
            <p:cNvSpPr txBox="1"/>
            <p:nvPr/>
          </p:nvSpPr>
          <p:spPr>
            <a:xfrm>
              <a:off x="5058022" y="2720427"/>
              <a:ext cx="17015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200" b="1" dirty="0" err="1">
                  <a:solidFill>
                    <a:srgbClr val="454545"/>
                  </a:solidFill>
                  <a:latin typeface="Century Gothic" panose="020B0502020202020204" pitchFamily="34" charset="0"/>
                </a:rPr>
                <a:t>ipss</a:t>
              </a:r>
              <a:endParaRPr lang="es-CL" sz="1200" b="1" dirty="0">
                <a:solidFill>
                  <a:srgbClr val="454545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DE88C82-8E65-6B43-2127-BCCCC31811A3}"/>
              </a:ext>
            </a:extLst>
          </p:cNvPr>
          <p:cNvSpPr txBox="1"/>
          <p:nvPr/>
        </p:nvSpPr>
        <p:spPr>
          <a:xfrm>
            <a:off x="2395856" y="2822414"/>
            <a:ext cx="7005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brew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install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composer</a:t>
            </a:r>
            <a:endParaRPr lang="es-CL" sz="1400" dirty="0">
              <a:solidFill>
                <a:srgbClr val="3CFE2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6E8EB70-FCE2-4786-2356-79F35482723B}"/>
              </a:ext>
            </a:extLst>
          </p:cNvPr>
          <p:cNvSpPr txBox="1"/>
          <p:nvPr/>
        </p:nvSpPr>
        <p:spPr>
          <a:xfrm>
            <a:off x="2406153" y="2430057"/>
            <a:ext cx="1994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ipss@macOS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%</a:t>
            </a:r>
          </a:p>
        </p:txBody>
      </p:sp>
    </p:spTree>
    <p:extLst>
      <p:ext uri="{BB962C8B-B14F-4D97-AF65-F5344CB8AC3E}">
        <p14:creationId xmlns:p14="http://schemas.microsoft.com/office/powerpoint/2010/main" val="17063604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C1683D-3F2C-514D-52C2-E5502AEA6B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214" y="2843772"/>
            <a:ext cx="10741572" cy="1744716"/>
          </a:xfrm>
        </p:spPr>
        <p:txBody>
          <a:bodyPr/>
          <a:lstStyle/>
          <a:p>
            <a:pPr algn="ctr"/>
            <a:r>
              <a:rPr lang="es-MX" dirty="0"/>
              <a:t>Instalación de Laravel</a:t>
            </a:r>
          </a:p>
        </p:txBody>
      </p:sp>
    </p:spTree>
    <p:extLst>
      <p:ext uri="{BB962C8B-B14F-4D97-AF65-F5344CB8AC3E}">
        <p14:creationId xmlns:p14="http://schemas.microsoft.com/office/powerpoint/2010/main" val="2308953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05565CA-4C0E-C656-86CC-1D8713E78364}"/>
              </a:ext>
            </a:extLst>
          </p:cNvPr>
          <p:cNvSpPr/>
          <p:nvPr/>
        </p:nvSpPr>
        <p:spPr>
          <a:xfrm>
            <a:off x="111204" y="966952"/>
            <a:ext cx="11969592" cy="5465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DDD535-B260-C50D-10F2-61837296C128}"/>
              </a:ext>
            </a:extLst>
          </p:cNvPr>
          <p:cNvSpPr txBox="1"/>
          <p:nvPr/>
        </p:nvSpPr>
        <p:spPr>
          <a:xfrm>
            <a:off x="312126" y="1146756"/>
            <a:ext cx="115330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Una vez que 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Composer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 esté instalado, puedes instalar Laravel globalmente con el siguiente comando: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A24605C-D637-7E35-7DA8-74CD4910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540" y="276800"/>
            <a:ext cx="8633256" cy="602137"/>
          </a:xfrm>
        </p:spPr>
        <p:txBody>
          <a:bodyPr/>
          <a:lstStyle/>
          <a:p>
            <a:pPr algn="l"/>
            <a:r>
              <a:rPr lang="es-ES" sz="4000" b="0" dirty="0">
                <a:solidFill>
                  <a:srgbClr val="00263E"/>
                </a:solidFill>
                <a:latin typeface="Gotham"/>
              </a:rPr>
              <a:t>Instalación de Laravel [1/2]</a:t>
            </a:r>
            <a:endParaRPr lang="es-ES" sz="4000" b="0" dirty="0">
              <a:solidFill>
                <a:srgbClr val="00263E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4EA7F92-48F2-9DA0-A004-B6BE3018F463}"/>
              </a:ext>
            </a:extLst>
          </p:cNvPr>
          <p:cNvGrpSpPr/>
          <p:nvPr/>
        </p:nvGrpSpPr>
        <p:grpSpPr>
          <a:xfrm>
            <a:off x="2311598" y="2120346"/>
            <a:ext cx="7194430" cy="3486657"/>
            <a:chOff x="2311598" y="2720427"/>
            <a:chExt cx="7194430" cy="3486657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DAEAF8-1E58-0426-A4DC-AB5BBAB5652B}"/>
                </a:ext>
              </a:extLst>
            </p:cNvPr>
            <p:cNvGrpSpPr/>
            <p:nvPr/>
          </p:nvGrpSpPr>
          <p:grpSpPr>
            <a:xfrm>
              <a:off x="2311598" y="2722012"/>
              <a:ext cx="7194430" cy="3485072"/>
              <a:chOff x="4997571" y="2765557"/>
              <a:chExt cx="7194430" cy="3485072"/>
            </a:xfrm>
            <a:effectLst>
              <a:outerShdw blurRad="381000" algn="ctr" rotWithShape="0">
                <a:prstClr val="black">
                  <a:alpha val="50000"/>
                </a:prstClr>
              </a:outerShdw>
            </a:effectLst>
          </p:grpSpPr>
          <p:sp>
            <p:nvSpPr>
              <p:cNvPr id="23" name="Rectángulo redondeado 22">
                <a:extLst>
                  <a:ext uri="{FF2B5EF4-FFF2-40B4-BE49-F238E27FC236}">
                    <a16:creationId xmlns:a16="http://schemas.microsoft.com/office/drawing/2014/main" id="{2E8A6FF2-A9E2-FD15-BC7D-338A37A11DE4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3485072"/>
              </a:xfrm>
              <a:prstGeom prst="roundRect">
                <a:avLst>
                  <a:gd name="adj" fmla="val 2641"/>
                </a:avLst>
              </a:prstGeom>
              <a:solidFill>
                <a:srgbClr val="1A19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4" name="Rectángulo redondeado 23">
                <a:extLst>
                  <a:ext uri="{FF2B5EF4-FFF2-40B4-BE49-F238E27FC236}">
                    <a16:creationId xmlns:a16="http://schemas.microsoft.com/office/drawing/2014/main" id="{FD12B445-E2BA-56A0-8E57-F447B444ED77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458624"/>
              </a:xfrm>
              <a:prstGeom prst="roundRect">
                <a:avLst>
                  <a:gd name="adj" fmla="val 19153"/>
                </a:avLst>
              </a:prstGeom>
              <a:solidFill>
                <a:srgbClr val="F2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FA3FA393-82FA-FB87-2770-89FC4B44CDE5}"/>
                  </a:ext>
                </a:extLst>
              </p:cNvPr>
              <p:cNvSpPr/>
              <p:nvPr/>
            </p:nvSpPr>
            <p:spPr>
              <a:xfrm>
                <a:off x="4997571" y="3037406"/>
                <a:ext cx="7194429" cy="3064475"/>
              </a:xfrm>
              <a:prstGeom prst="rect">
                <a:avLst/>
              </a:prstGeom>
              <a:solidFill>
                <a:srgbClr val="19191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</p:grp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ACE0AE54-DF61-3337-9D99-D1F3EADA8359}"/>
                </a:ext>
              </a:extLst>
            </p:cNvPr>
            <p:cNvSpPr/>
            <p:nvPr/>
          </p:nvSpPr>
          <p:spPr>
            <a:xfrm>
              <a:off x="2395855" y="2803041"/>
              <a:ext cx="121764" cy="121764"/>
            </a:xfrm>
            <a:prstGeom prst="ellipse">
              <a:avLst/>
            </a:prstGeom>
            <a:solidFill>
              <a:srgbClr val="FF5E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736CAF24-81EE-1DB1-3164-CB6322E3CEA0}"/>
                </a:ext>
              </a:extLst>
            </p:cNvPr>
            <p:cNvSpPr/>
            <p:nvPr/>
          </p:nvSpPr>
          <p:spPr>
            <a:xfrm>
              <a:off x="2591024" y="2803041"/>
              <a:ext cx="121764" cy="121764"/>
            </a:xfrm>
            <a:prstGeom prst="ellipse">
              <a:avLst/>
            </a:prstGeom>
            <a:solidFill>
              <a:srgbClr val="FFBD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FD0C2BF-9516-2BD5-472A-59F6386A13E3}"/>
                </a:ext>
              </a:extLst>
            </p:cNvPr>
            <p:cNvSpPr/>
            <p:nvPr/>
          </p:nvSpPr>
          <p:spPr>
            <a:xfrm>
              <a:off x="2786193" y="2802425"/>
              <a:ext cx="121764" cy="121764"/>
            </a:xfrm>
            <a:prstGeom prst="ellipse">
              <a:avLst/>
            </a:prstGeom>
            <a:solidFill>
              <a:srgbClr val="26C9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6AFD1A71-E26D-73B9-E204-8B5A47240AF0}"/>
                </a:ext>
              </a:extLst>
            </p:cNvPr>
            <p:cNvSpPr txBox="1"/>
            <p:nvPr/>
          </p:nvSpPr>
          <p:spPr>
            <a:xfrm>
              <a:off x="5058022" y="2720427"/>
              <a:ext cx="17015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200" b="1" dirty="0" err="1">
                  <a:solidFill>
                    <a:srgbClr val="454545"/>
                  </a:solidFill>
                  <a:latin typeface="Century Gothic" panose="020B0502020202020204" pitchFamily="34" charset="0"/>
                </a:rPr>
                <a:t>ipss</a:t>
              </a:r>
              <a:endParaRPr lang="es-CL" sz="1200" b="1" dirty="0">
                <a:solidFill>
                  <a:srgbClr val="454545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DE88C82-8E65-6B43-2127-BCCCC31811A3}"/>
              </a:ext>
            </a:extLst>
          </p:cNvPr>
          <p:cNvSpPr txBox="1"/>
          <p:nvPr/>
        </p:nvSpPr>
        <p:spPr>
          <a:xfrm>
            <a:off x="2395856" y="2822414"/>
            <a:ext cx="7005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composer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global 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require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laravel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installer</a:t>
            </a:r>
            <a:endParaRPr lang="es-CL" sz="1400" dirty="0">
              <a:solidFill>
                <a:srgbClr val="3CFE24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6E8EB70-FCE2-4786-2356-79F35482723B}"/>
              </a:ext>
            </a:extLst>
          </p:cNvPr>
          <p:cNvSpPr txBox="1"/>
          <p:nvPr/>
        </p:nvSpPr>
        <p:spPr>
          <a:xfrm>
            <a:off x="2406153" y="2430057"/>
            <a:ext cx="1994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ipss@macOS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%</a:t>
            </a:r>
          </a:p>
        </p:txBody>
      </p:sp>
    </p:spTree>
    <p:extLst>
      <p:ext uri="{BB962C8B-B14F-4D97-AF65-F5344CB8AC3E}">
        <p14:creationId xmlns:p14="http://schemas.microsoft.com/office/powerpoint/2010/main" val="36265052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A05565CA-4C0E-C656-86CC-1D8713E78364}"/>
              </a:ext>
            </a:extLst>
          </p:cNvPr>
          <p:cNvSpPr/>
          <p:nvPr/>
        </p:nvSpPr>
        <p:spPr>
          <a:xfrm>
            <a:off x="111204" y="966952"/>
            <a:ext cx="11969592" cy="546537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D8DDD535-B260-C50D-10F2-61837296C128}"/>
              </a:ext>
            </a:extLst>
          </p:cNvPr>
          <p:cNvSpPr txBox="1"/>
          <p:nvPr/>
        </p:nvSpPr>
        <p:spPr>
          <a:xfrm>
            <a:off x="312126" y="1146756"/>
            <a:ext cx="115330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Asegúrate de que el directorio ~/.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composer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/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vendor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/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bin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 esté en tu variable de entorno PATH. Puedes agregarlo añadiendo la siguiente línea a tu archivo ~/.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zshrc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 (si usas 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zsh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) o ~/.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bash_profile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 (si usas </a:t>
            </a:r>
            <a:r>
              <a:rPr lang="es-CL" dirty="0" err="1">
                <a:solidFill>
                  <a:srgbClr val="0E0E0E"/>
                </a:solidFill>
                <a:effectLst/>
                <a:latin typeface=".SF NS"/>
              </a:rPr>
              <a:t>bash</a:t>
            </a:r>
            <a:r>
              <a:rPr lang="es-CL" dirty="0">
                <a:solidFill>
                  <a:srgbClr val="0E0E0E"/>
                </a:solidFill>
                <a:effectLst/>
                <a:latin typeface=".SF NS"/>
              </a:rPr>
              <a:t>):</a:t>
            </a:r>
          </a:p>
        </p:txBody>
      </p:sp>
      <p:sp>
        <p:nvSpPr>
          <p:cNvPr id="8" name="Título 1">
            <a:extLst>
              <a:ext uri="{FF2B5EF4-FFF2-40B4-BE49-F238E27FC236}">
                <a16:creationId xmlns:a16="http://schemas.microsoft.com/office/drawing/2014/main" id="{9A24605C-D637-7E35-7DA8-74CD49102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7540" y="276800"/>
            <a:ext cx="8633256" cy="602137"/>
          </a:xfrm>
        </p:spPr>
        <p:txBody>
          <a:bodyPr/>
          <a:lstStyle/>
          <a:p>
            <a:pPr algn="l"/>
            <a:r>
              <a:rPr lang="es-ES" sz="4000" b="0" dirty="0">
                <a:solidFill>
                  <a:srgbClr val="00263E"/>
                </a:solidFill>
                <a:latin typeface="Gotham"/>
              </a:rPr>
              <a:t>Instalación de Laravel [2/2]</a:t>
            </a:r>
            <a:endParaRPr lang="es-ES" sz="4000" b="0" dirty="0">
              <a:solidFill>
                <a:srgbClr val="00263E"/>
              </a:solidFill>
            </a:endParaRPr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74EA7F92-48F2-9DA0-A004-B6BE3018F463}"/>
              </a:ext>
            </a:extLst>
          </p:cNvPr>
          <p:cNvGrpSpPr/>
          <p:nvPr/>
        </p:nvGrpSpPr>
        <p:grpSpPr>
          <a:xfrm>
            <a:off x="2311598" y="2120346"/>
            <a:ext cx="7194430" cy="3486657"/>
            <a:chOff x="2311598" y="2720427"/>
            <a:chExt cx="7194430" cy="3486657"/>
          </a:xfrm>
        </p:grpSpPr>
        <p:grpSp>
          <p:nvGrpSpPr>
            <p:cNvPr id="9" name="Grupo 8">
              <a:extLst>
                <a:ext uri="{FF2B5EF4-FFF2-40B4-BE49-F238E27FC236}">
                  <a16:creationId xmlns:a16="http://schemas.microsoft.com/office/drawing/2014/main" id="{98DAEAF8-1E58-0426-A4DC-AB5BBAB5652B}"/>
                </a:ext>
              </a:extLst>
            </p:cNvPr>
            <p:cNvGrpSpPr/>
            <p:nvPr/>
          </p:nvGrpSpPr>
          <p:grpSpPr>
            <a:xfrm>
              <a:off x="2311598" y="2722012"/>
              <a:ext cx="7194430" cy="3485072"/>
              <a:chOff x="4997571" y="2765557"/>
              <a:chExt cx="7194430" cy="3485072"/>
            </a:xfrm>
            <a:effectLst>
              <a:outerShdw blurRad="381000" algn="ctr" rotWithShape="0">
                <a:prstClr val="black">
                  <a:alpha val="50000"/>
                </a:prstClr>
              </a:outerShdw>
            </a:effectLst>
          </p:grpSpPr>
          <p:sp>
            <p:nvSpPr>
              <p:cNvPr id="23" name="Rectángulo redondeado 22">
                <a:extLst>
                  <a:ext uri="{FF2B5EF4-FFF2-40B4-BE49-F238E27FC236}">
                    <a16:creationId xmlns:a16="http://schemas.microsoft.com/office/drawing/2014/main" id="{2E8A6FF2-A9E2-FD15-BC7D-338A37A11DE4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3485072"/>
              </a:xfrm>
              <a:prstGeom prst="roundRect">
                <a:avLst>
                  <a:gd name="adj" fmla="val 2641"/>
                </a:avLst>
              </a:prstGeom>
              <a:solidFill>
                <a:srgbClr val="1A1919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/>
              </a:p>
            </p:txBody>
          </p:sp>
          <p:sp>
            <p:nvSpPr>
              <p:cNvPr id="24" name="Rectángulo redondeado 23">
                <a:extLst>
                  <a:ext uri="{FF2B5EF4-FFF2-40B4-BE49-F238E27FC236}">
                    <a16:creationId xmlns:a16="http://schemas.microsoft.com/office/drawing/2014/main" id="{FD12B445-E2BA-56A0-8E57-F447B444ED77}"/>
                  </a:ext>
                </a:extLst>
              </p:cNvPr>
              <p:cNvSpPr/>
              <p:nvPr/>
            </p:nvSpPr>
            <p:spPr>
              <a:xfrm>
                <a:off x="4997572" y="2765557"/>
                <a:ext cx="7194429" cy="458624"/>
              </a:xfrm>
              <a:prstGeom prst="roundRect">
                <a:avLst>
                  <a:gd name="adj" fmla="val 19153"/>
                </a:avLst>
              </a:prstGeom>
              <a:solidFill>
                <a:srgbClr val="F2F2F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  <p:sp>
            <p:nvSpPr>
              <p:cNvPr id="25" name="Rectángulo 24">
                <a:extLst>
                  <a:ext uri="{FF2B5EF4-FFF2-40B4-BE49-F238E27FC236}">
                    <a16:creationId xmlns:a16="http://schemas.microsoft.com/office/drawing/2014/main" id="{FA3FA393-82FA-FB87-2770-89FC4B44CDE5}"/>
                  </a:ext>
                </a:extLst>
              </p:cNvPr>
              <p:cNvSpPr/>
              <p:nvPr/>
            </p:nvSpPr>
            <p:spPr>
              <a:xfrm>
                <a:off x="4997571" y="3037406"/>
                <a:ext cx="7194429" cy="3064475"/>
              </a:xfrm>
              <a:prstGeom prst="rect">
                <a:avLst/>
              </a:prstGeom>
              <a:solidFill>
                <a:srgbClr val="19191A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s-CL" dirty="0"/>
              </a:p>
            </p:txBody>
          </p:sp>
        </p:grpSp>
        <p:sp>
          <p:nvSpPr>
            <p:cNvPr id="13" name="Elipse 12">
              <a:extLst>
                <a:ext uri="{FF2B5EF4-FFF2-40B4-BE49-F238E27FC236}">
                  <a16:creationId xmlns:a16="http://schemas.microsoft.com/office/drawing/2014/main" id="{ACE0AE54-DF61-3337-9D99-D1F3EADA8359}"/>
                </a:ext>
              </a:extLst>
            </p:cNvPr>
            <p:cNvSpPr/>
            <p:nvPr/>
          </p:nvSpPr>
          <p:spPr>
            <a:xfrm>
              <a:off x="2395855" y="2803041"/>
              <a:ext cx="121764" cy="121764"/>
            </a:xfrm>
            <a:prstGeom prst="ellipse">
              <a:avLst/>
            </a:prstGeom>
            <a:solidFill>
              <a:srgbClr val="FF5E57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0" name="Elipse 19">
              <a:extLst>
                <a:ext uri="{FF2B5EF4-FFF2-40B4-BE49-F238E27FC236}">
                  <a16:creationId xmlns:a16="http://schemas.microsoft.com/office/drawing/2014/main" id="{736CAF24-81EE-1DB1-3164-CB6322E3CEA0}"/>
                </a:ext>
              </a:extLst>
            </p:cNvPr>
            <p:cNvSpPr/>
            <p:nvPr/>
          </p:nvSpPr>
          <p:spPr>
            <a:xfrm>
              <a:off x="2591024" y="2803041"/>
              <a:ext cx="121764" cy="121764"/>
            </a:xfrm>
            <a:prstGeom prst="ellipse">
              <a:avLst/>
            </a:prstGeom>
            <a:solidFill>
              <a:srgbClr val="FFBD2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1" name="Elipse 20">
              <a:extLst>
                <a:ext uri="{FF2B5EF4-FFF2-40B4-BE49-F238E27FC236}">
                  <a16:creationId xmlns:a16="http://schemas.microsoft.com/office/drawing/2014/main" id="{FFD0C2BF-9516-2BD5-472A-59F6386A13E3}"/>
                </a:ext>
              </a:extLst>
            </p:cNvPr>
            <p:cNvSpPr/>
            <p:nvPr/>
          </p:nvSpPr>
          <p:spPr>
            <a:xfrm>
              <a:off x="2786193" y="2802425"/>
              <a:ext cx="121764" cy="121764"/>
            </a:xfrm>
            <a:prstGeom prst="ellipse">
              <a:avLst/>
            </a:prstGeom>
            <a:solidFill>
              <a:srgbClr val="26C93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CL"/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6AFD1A71-E26D-73B9-E204-8B5A47240AF0}"/>
                </a:ext>
              </a:extLst>
            </p:cNvPr>
            <p:cNvSpPr txBox="1"/>
            <p:nvPr/>
          </p:nvSpPr>
          <p:spPr>
            <a:xfrm>
              <a:off x="5058022" y="2720427"/>
              <a:ext cx="170158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L" sz="1200" b="1" dirty="0" err="1">
                  <a:solidFill>
                    <a:srgbClr val="454545"/>
                  </a:solidFill>
                  <a:latin typeface="Century Gothic" panose="020B0502020202020204" pitchFamily="34" charset="0"/>
                </a:rPr>
                <a:t>ipss</a:t>
              </a:r>
              <a:endParaRPr lang="es-CL" sz="1200" b="1" dirty="0">
                <a:solidFill>
                  <a:srgbClr val="454545"/>
                </a:solidFill>
                <a:latin typeface="Century Gothic" panose="020B0502020202020204" pitchFamily="34" charset="0"/>
              </a:endParaRPr>
            </a:p>
          </p:txBody>
        </p:sp>
      </p:grpSp>
      <p:sp>
        <p:nvSpPr>
          <p:cNvPr id="26" name="CuadroTexto 25">
            <a:extLst>
              <a:ext uri="{FF2B5EF4-FFF2-40B4-BE49-F238E27FC236}">
                <a16:creationId xmlns:a16="http://schemas.microsoft.com/office/drawing/2014/main" id="{4DE88C82-8E65-6B43-2127-BCCCC31811A3}"/>
              </a:ext>
            </a:extLst>
          </p:cNvPr>
          <p:cNvSpPr txBox="1"/>
          <p:nvPr/>
        </p:nvSpPr>
        <p:spPr>
          <a:xfrm>
            <a:off x="2395856" y="2822414"/>
            <a:ext cx="700531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export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PATH="$HOME/.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composer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vendor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</a:t>
            </a:r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bin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:$PATH"</a:t>
            </a:r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C6E8EB70-FCE2-4786-2356-79F35482723B}"/>
              </a:ext>
            </a:extLst>
          </p:cNvPr>
          <p:cNvSpPr txBox="1"/>
          <p:nvPr/>
        </p:nvSpPr>
        <p:spPr>
          <a:xfrm>
            <a:off x="2406153" y="2430057"/>
            <a:ext cx="199439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1400" dirty="0" err="1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ipss@macOS</a:t>
            </a:r>
            <a:r>
              <a:rPr lang="es-CL" sz="1400" dirty="0">
                <a:solidFill>
                  <a:srgbClr val="3CFE24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~ %</a:t>
            </a:r>
          </a:p>
        </p:txBody>
      </p:sp>
    </p:spTree>
    <p:extLst>
      <p:ext uri="{BB962C8B-B14F-4D97-AF65-F5344CB8AC3E}">
        <p14:creationId xmlns:p14="http://schemas.microsoft.com/office/powerpoint/2010/main" val="4214266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72BB412-0761-08C0-91B5-7D184FDF04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411" y="3515722"/>
            <a:ext cx="10746151" cy="643773"/>
          </a:xfrm>
        </p:spPr>
        <p:txBody>
          <a:bodyPr>
            <a:normAutofit fontScale="90000"/>
          </a:bodyPr>
          <a:lstStyle/>
          <a:p>
            <a:pPr algn="ctr"/>
            <a:r>
              <a:rPr lang="es-ES" dirty="0">
                <a:latin typeface="Gotham"/>
              </a:rPr>
              <a:t>Desarrollo de Software Web I</a:t>
            </a:r>
            <a:endParaRPr lang="es-MX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17770C8-A12B-436B-AB8E-9FC2932E0D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7486" y="4170850"/>
            <a:ext cx="10746150" cy="635654"/>
          </a:xfrm>
        </p:spPr>
        <p:txBody>
          <a:bodyPr vert="horz" lIns="0" tIns="45720" rIns="0" bIns="45720" rtlCol="0" anchor="t">
            <a:noAutofit/>
          </a:bodyPr>
          <a:lstStyle/>
          <a:p>
            <a:pPr algn="ctr"/>
            <a:r>
              <a:rPr lang="es-MX" dirty="0">
                <a:latin typeface="Gotham"/>
              </a:rPr>
              <a:t>Instalación de Laravel </a:t>
            </a:r>
            <a:r>
              <a:rPr lang="es-MX">
                <a:latin typeface="Gotham"/>
              </a:rPr>
              <a:t>en macOS</a:t>
            </a:r>
            <a:endParaRPr lang="es-MX" dirty="0">
              <a:latin typeface="Gotham"/>
            </a:endParaRPr>
          </a:p>
        </p:txBody>
      </p:sp>
    </p:spTree>
    <p:extLst>
      <p:ext uri="{BB962C8B-B14F-4D97-AF65-F5344CB8AC3E}">
        <p14:creationId xmlns:p14="http://schemas.microsoft.com/office/powerpoint/2010/main" val="711878799"/>
      </p:ext>
    </p:extLst>
  </p:cSld>
  <p:clrMapOvr>
    <a:masterClrMapping/>
  </p:clrMapOvr>
</p:sld>
</file>

<file path=ppt/theme/theme1.xml><?xml version="1.0" encoding="utf-8"?>
<a:theme xmlns:a="http://schemas.openxmlformats.org/drawingml/2006/main" name="Plantilla Institucional CIISA">
  <a:themeElements>
    <a:clrScheme name="Retrospección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ció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ción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lantilla_Institucional-2021" id="{D6758B44-4591-4742-9426-1DF69164099C}" vid="{2BD42133-B291-4B97-8F0A-E5C885E715A2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da1ad10-d4bb-41ec-a603-c5fb97d92d9b" xsi:nil="true"/>
    <lcf76f155ced4ddcb4097134ff3c332f xmlns="a78bb83c-f79f-4baf-ae30-fdf209467eca">
      <Terms xmlns="http://schemas.microsoft.com/office/infopath/2007/PartnerControls"/>
    </lcf76f155ced4ddcb4097134ff3c332f>
    <SharedWithUsers xmlns="bda1ad10-d4bb-41ec-a603-c5fb97d92d9b">
      <UserInfo>
        <DisplayName/>
        <AccountId xsi:nil="true"/>
        <AccountType/>
      </UserInfo>
    </SharedWithUsers>
    <MediaLengthInSeconds xmlns="a78bb83c-f79f-4baf-ae30-fdf209467eca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CD8E051C034CD4AB7AA71D698AE8B30" ma:contentTypeVersion="14" ma:contentTypeDescription="Crear nuevo documento." ma:contentTypeScope="" ma:versionID="ba84be2a6c96e4e44c55bd7316411ed7">
  <xsd:schema xmlns:xsd="http://www.w3.org/2001/XMLSchema" xmlns:xs="http://www.w3.org/2001/XMLSchema" xmlns:p="http://schemas.microsoft.com/office/2006/metadata/properties" xmlns:ns2="bda1ad10-d4bb-41ec-a603-c5fb97d92d9b" xmlns:ns3="a78bb83c-f79f-4baf-ae30-fdf209467eca" targetNamespace="http://schemas.microsoft.com/office/2006/metadata/properties" ma:root="true" ma:fieldsID="41ef44b21c7357b5eadf57dcc10076a1" ns2:_="" ns3:_="">
    <xsd:import namespace="bda1ad10-d4bb-41ec-a603-c5fb97d92d9b"/>
    <xsd:import namespace="a78bb83c-f79f-4baf-ae30-fdf209467eca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lcf76f155ced4ddcb4097134ff3c332f" minOccurs="0"/>
                <xsd:element ref="ns2:TaxCatchAll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a1ad10-d4bb-41ec-a603-c5fb97d92d9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06eb44f-0cc1-4f80-a712-3bf3176deb3c}" ma:internalName="TaxCatchAll" ma:showField="CatchAllData" ma:web="bda1ad10-d4bb-41ec-a603-c5fb97d92d9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8bb83c-f79f-4baf-ae30-fdf209467ec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Etiquetas de imagen" ma:readOnly="false" ma:fieldId="{5cf76f15-5ced-4ddc-b409-7134ff3c332f}" ma:taxonomyMulti="true" ma:sspId="5d370a8b-1d73-4c2e-b75a-e5292e92d2a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7F4E0E8-DCD7-4FED-941D-0AB556AD80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0D21582-FC00-409E-B0FE-B85F4A2AD932}">
  <ds:schemaRefs>
    <ds:schemaRef ds:uri="http://purl.org/dc/elements/1.1/"/>
    <ds:schemaRef ds:uri="a78bb83c-f79f-4baf-ae30-fdf209467eca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purl.org/dc/terms/"/>
    <ds:schemaRef ds:uri="http://schemas.microsoft.com/office/2006/metadata/properties"/>
    <ds:schemaRef ds:uri="http://schemas.openxmlformats.org/package/2006/metadata/core-properties"/>
    <ds:schemaRef ds:uri="bda1ad10-d4bb-41ec-a603-c5fb97d92d9b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661082E-0D03-494C-9BAA-97B6381D5E43}">
  <ds:schemaRefs>
    <ds:schemaRef ds:uri="a78bb83c-f79f-4baf-ae30-fdf209467eca"/>
    <ds:schemaRef ds:uri="bda1ad10-d4bb-41ec-a603-c5fb97d92d9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Plantilla_Institucional-2021_A</Template>
  <TotalTime>363</TotalTime>
  <Words>467</Words>
  <Application>Microsoft Office PowerPoint</Application>
  <PresentationFormat>Panorámica</PresentationFormat>
  <Paragraphs>62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.SF NS</vt:lpstr>
      <vt:lpstr>Andale Mono</vt:lpstr>
      <vt:lpstr>Arial</vt:lpstr>
      <vt:lpstr>Calibri</vt:lpstr>
      <vt:lpstr>Century Gothic</vt:lpstr>
      <vt:lpstr>Consolas</vt:lpstr>
      <vt:lpstr>Gotham</vt:lpstr>
      <vt:lpstr>Plantilla Institucional CIISA</vt:lpstr>
      <vt:lpstr>Desarrollo de Software Web I</vt:lpstr>
      <vt:lpstr>Tabla de Contenidos</vt:lpstr>
      <vt:lpstr>Instalación de Homebrew</vt:lpstr>
      <vt:lpstr>Instalación de Homebrew [1/3]</vt:lpstr>
      <vt:lpstr>Instalación de Homebrew [2/3]</vt:lpstr>
      <vt:lpstr>Instalación de Homebrew [3/3]</vt:lpstr>
      <vt:lpstr>Instalación de PHP</vt:lpstr>
      <vt:lpstr>Instalación de PHP [1/1]</vt:lpstr>
      <vt:lpstr>Instalación de Composer</vt:lpstr>
      <vt:lpstr>Instalación de Composer [1/1]</vt:lpstr>
      <vt:lpstr>Instalación de Laravel</vt:lpstr>
      <vt:lpstr>Instalación de Laravel [1/2]</vt:lpstr>
      <vt:lpstr>Instalación de Laravel [2/2]</vt:lpstr>
      <vt:lpstr>Desarrollo de Software Web 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Lorem ipsum</dc:title>
  <dc:creator>César Díaz</dc:creator>
  <cp:lastModifiedBy>Tatiana del Carmen Zuñiga Vicencio</cp:lastModifiedBy>
  <cp:revision>171</cp:revision>
  <dcterms:created xsi:type="dcterms:W3CDTF">2023-07-19T16:06:31Z</dcterms:created>
  <dcterms:modified xsi:type="dcterms:W3CDTF">2025-06-25T18:02:01Z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0x0101009CD8E051C034CD4AB7AA71D698AE8B30</vt:lpwstr>
  </property>
  <property fmtid="{D5CDD505-2E9C-101B-9397-08002B2CF9AE}" pid="3" name="MediaServiceImageTags">
    <vt:lpwstr/>
  </property>
  <property fmtid="{D5CDD505-2E9C-101B-9397-08002B2CF9AE}" pid="4" name="Order">
    <vt:r8>217300</vt:r8>
  </property>
  <property fmtid="{D5CDD505-2E9C-101B-9397-08002B2CF9AE}" pid="5" name="ComplianceAsset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</Properties>
</file>