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076137705" r:id="rId5"/>
    <p:sldId id="2076137706" r:id="rId6"/>
    <p:sldId id="2076137712" r:id="rId7"/>
    <p:sldId id="2076137708" r:id="rId8"/>
    <p:sldId id="2076137715" r:id="rId9"/>
    <p:sldId id="2076137725" r:id="rId10"/>
    <p:sldId id="2076137722" r:id="rId11"/>
    <p:sldId id="2076137719" r:id="rId12"/>
    <p:sldId id="2076137707" r:id="rId13"/>
    <p:sldId id="2076137704" r:id="rId14"/>
    <p:sldId id="2076137726" r:id="rId15"/>
    <p:sldId id="207613772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4DFE0A-DF80-3E30-C204-25B1D5565698}" name="Alejandra Bravo Garcia" initials="AG" userId="S::alejandra.bravo@ipss.cl::4cf5125d-f567-4a98-9bb5-4ea9ae908f01" providerId="AD"/>
  <p188:author id="{DFC5AA2A-7322-24C3-9B68-AD7395C41981}" name="Alejandra Bravo Garcia" initials="AG" userId="S::abravo@ciisa.cl::4cf5125d-f567-4a98-9bb5-4ea9ae908f01" providerId="AD"/>
  <p188:author id="{56A303EC-24C9-A366-E7A3-68AFB5B8C733}" name="Lorena Massone Bresler" initials="LM" userId="S::lmassone@ciisa.cl::02953e08-4597-4d31-a081-9f68326755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B61"/>
    <a:srgbClr val="496073"/>
    <a:srgbClr val="00263E"/>
    <a:srgbClr val="798998"/>
    <a:srgbClr val="3C3C3B"/>
    <a:srgbClr val="C7AC7A"/>
    <a:srgbClr val="102B42"/>
    <a:srgbClr val="13A438"/>
    <a:srgbClr val="67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9721CA-2DBA-B6E6-585C-26AAA531B320}" v="19" dt="2025-09-14T22:52:00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54" y="6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500E61-EB54-4C5D-AE7A-772729FF23B9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7598F3-A4BA-43B9-B654-766F6D7C6C19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ES" dirty="0">
              <a:solidFill>
                <a:schemeClr val="bg1"/>
              </a:solidFill>
              <a:latin typeface="Arial"/>
              <a:cs typeface="Arial"/>
            </a:rPr>
            <a:t>Uso de </a:t>
          </a:r>
          <a:r>
            <a:rPr lang="es-ES" dirty="0">
              <a:solidFill>
                <a:srgbClr val="BDC1C6"/>
              </a:solidFill>
              <a:latin typeface="Arial"/>
              <a:cs typeface="Arial"/>
            </a:rPr>
            <a:t>Mapeo </a:t>
          </a:r>
          <a:r>
            <a:rPr lang="es-ES" dirty="0">
              <a:solidFill>
                <a:schemeClr val="bg1"/>
              </a:solidFill>
              <a:latin typeface="Arial"/>
              <a:cs typeface="Arial"/>
            </a:rPr>
            <a:t>Objeto-Relacional (ORM) en Laravel.</a:t>
          </a:r>
          <a:endParaRPr lang="en-US" dirty="0">
            <a:solidFill>
              <a:schemeClr val="bg1"/>
            </a:solidFill>
            <a:latin typeface="Arial"/>
            <a:cs typeface="Arial"/>
          </a:endParaRPr>
        </a:p>
      </dgm:t>
    </dgm:pt>
    <dgm:pt modelId="{4568AAB7-BD40-423D-85F4-D7343E581934}" type="parTrans" cxnId="{EFA06D49-0BB7-4728-A93E-141D234B32E1}">
      <dgm:prSet/>
      <dgm:spPr/>
      <dgm:t>
        <a:bodyPr/>
        <a:lstStyle/>
        <a:p>
          <a:endParaRPr lang="en-US"/>
        </a:p>
      </dgm:t>
    </dgm:pt>
    <dgm:pt modelId="{2DAE1DBB-E5A1-48E7-A2A6-86DE4598511B}" type="sibTrans" cxnId="{EFA06D49-0BB7-4728-A93E-141D234B32E1}">
      <dgm:prSet/>
      <dgm:spPr/>
      <dgm:t>
        <a:bodyPr/>
        <a:lstStyle/>
        <a:p>
          <a:endParaRPr lang="en-US"/>
        </a:p>
      </dgm:t>
    </dgm:pt>
    <dgm:pt modelId="{2F204C4D-F3FF-4141-AD5F-DA7E05E104CD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ES" dirty="0">
              <a:solidFill>
                <a:schemeClr val="bg1"/>
              </a:solidFill>
              <a:latin typeface="Arial"/>
              <a:cs typeface="Arial"/>
            </a:rPr>
            <a:t>Autorización vs Autenticación.</a:t>
          </a:r>
        </a:p>
      </dgm:t>
    </dgm:pt>
    <dgm:pt modelId="{E0A75A93-83EB-413A-85DD-3DCEE66E723C}" type="parTrans" cxnId="{150D60B2-BE28-4FE2-A64B-320D308C8F44}">
      <dgm:prSet/>
      <dgm:spPr/>
      <dgm:t>
        <a:bodyPr/>
        <a:lstStyle/>
        <a:p>
          <a:endParaRPr lang="en-US"/>
        </a:p>
      </dgm:t>
    </dgm:pt>
    <dgm:pt modelId="{784633D0-1734-461F-80FB-99A37F928D9A}" type="sibTrans" cxnId="{150D60B2-BE28-4FE2-A64B-320D308C8F44}">
      <dgm:prSet/>
      <dgm:spPr/>
      <dgm:t>
        <a:bodyPr/>
        <a:lstStyle/>
        <a:p>
          <a:endParaRPr lang="en-US"/>
        </a:p>
      </dgm:t>
    </dgm:pt>
    <dgm:pt modelId="{F7C9A729-B8BA-4645-BB62-40EF2DFD13A0}">
      <dgm:prSet phldrT="[Text]" phldr="0"/>
      <dgm:spPr>
        <a:solidFill>
          <a:srgbClr val="304B61"/>
        </a:solidFill>
      </dgm:spPr>
      <dgm:t>
        <a:bodyPr/>
        <a:lstStyle/>
        <a:p>
          <a:pPr rtl="0"/>
          <a:r>
            <a:rPr lang="es-ES" dirty="0">
              <a:solidFill>
                <a:schemeClr val="bg1"/>
              </a:solidFill>
              <a:latin typeface="Arial"/>
              <a:cs typeface="Arial"/>
            </a:rPr>
            <a:t>Implementación de JSON Web Token (JWT).</a:t>
          </a:r>
        </a:p>
      </dgm:t>
    </dgm:pt>
    <dgm:pt modelId="{E3511648-DB9F-4AB9-82D1-F5CBC8F79649}" type="parTrans" cxnId="{2BF10CF3-8D72-4330-BBC6-F3DED97D85C6}">
      <dgm:prSet/>
      <dgm:spPr/>
      <dgm:t>
        <a:bodyPr/>
        <a:lstStyle/>
        <a:p>
          <a:endParaRPr lang="en-US"/>
        </a:p>
      </dgm:t>
    </dgm:pt>
    <dgm:pt modelId="{59AE5095-785A-41D6-ABFC-1EB8BCCC0083}" type="sibTrans" cxnId="{2BF10CF3-8D72-4330-BBC6-F3DED97D85C6}">
      <dgm:prSet/>
      <dgm:spPr/>
      <dgm:t>
        <a:bodyPr/>
        <a:lstStyle/>
        <a:p>
          <a:endParaRPr lang="en-US"/>
        </a:p>
      </dgm:t>
    </dgm:pt>
    <dgm:pt modelId="{5ADE8CD2-AD35-4489-A0C9-97B939C72460}">
      <dgm:prSet phldr="0"/>
      <dgm:spPr/>
      <dgm:t>
        <a:bodyPr/>
        <a:lstStyle/>
        <a:p>
          <a:pPr rtl="0"/>
          <a:r>
            <a:rPr lang="es-ES" dirty="0">
              <a:latin typeface="Arial"/>
              <a:cs typeface="Arial"/>
            </a:rPr>
            <a:t>Cifrado de información en Laravel.</a:t>
          </a:r>
        </a:p>
      </dgm:t>
    </dgm:pt>
    <dgm:pt modelId="{D8C40A77-A35A-4456-9FD1-C222A53207B6}" type="parTrans" cxnId="{E053F077-CE46-4DA6-92F4-D7B3B637E649}">
      <dgm:prSet/>
      <dgm:spPr/>
    </dgm:pt>
    <dgm:pt modelId="{90CA3B33-F0EC-40CD-B0B5-EB472026C740}" type="sibTrans" cxnId="{E053F077-CE46-4DA6-92F4-D7B3B637E649}">
      <dgm:prSet/>
      <dgm:spPr/>
    </dgm:pt>
    <dgm:pt modelId="{BD238BFD-C3F3-4361-9B33-35B5DADCB794}" type="pres">
      <dgm:prSet presAssocID="{9A500E61-EB54-4C5D-AE7A-772729FF23B9}" presName="Name0" presStyleCnt="0">
        <dgm:presLayoutVars>
          <dgm:dir/>
          <dgm:resizeHandles val="exact"/>
        </dgm:presLayoutVars>
      </dgm:prSet>
      <dgm:spPr/>
    </dgm:pt>
    <dgm:pt modelId="{935357E2-36A7-4EE6-8B8A-4DBD2492AA1F}" type="pres">
      <dgm:prSet presAssocID="{C07598F3-A4BA-43B9-B654-766F6D7C6C19}" presName="node" presStyleLbl="node1" presStyleIdx="0" presStyleCnt="4">
        <dgm:presLayoutVars>
          <dgm:bulletEnabled val="1"/>
        </dgm:presLayoutVars>
      </dgm:prSet>
      <dgm:spPr/>
    </dgm:pt>
    <dgm:pt modelId="{D5116D66-9774-4109-B5EF-1AB8579C9A5D}" type="pres">
      <dgm:prSet presAssocID="{2DAE1DBB-E5A1-48E7-A2A6-86DE4598511B}" presName="sibTrans" presStyleLbl="sibTrans1D1" presStyleIdx="0" presStyleCnt="3"/>
      <dgm:spPr/>
    </dgm:pt>
    <dgm:pt modelId="{47EFBEDD-26A3-4F3A-9D26-3CC223D6EDA0}" type="pres">
      <dgm:prSet presAssocID="{2DAE1DBB-E5A1-48E7-A2A6-86DE4598511B}" presName="connectorText" presStyleLbl="sibTrans1D1" presStyleIdx="0" presStyleCnt="3"/>
      <dgm:spPr/>
    </dgm:pt>
    <dgm:pt modelId="{4CCED82D-1EF8-4247-87CE-E0AF8B1D78A7}" type="pres">
      <dgm:prSet presAssocID="{2F204C4D-F3FF-4141-AD5F-DA7E05E104CD}" presName="node" presStyleLbl="node1" presStyleIdx="1" presStyleCnt="4">
        <dgm:presLayoutVars>
          <dgm:bulletEnabled val="1"/>
        </dgm:presLayoutVars>
      </dgm:prSet>
      <dgm:spPr/>
    </dgm:pt>
    <dgm:pt modelId="{F75632A4-8B7F-4EDC-B39C-06B746E5C1B4}" type="pres">
      <dgm:prSet presAssocID="{784633D0-1734-461F-80FB-99A37F928D9A}" presName="sibTrans" presStyleLbl="sibTrans1D1" presStyleIdx="1" presStyleCnt="3"/>
      <dgm:spPr/>
    </dgm:pt>
    <dgm:pt modelId="{B1DB072A-DD56-4461-86D2-5FE61255C69C}" type="pres">
      <dgm:prSet presAssocID="{784633D0-1734-461F-80FB-99A37F928D9A}" presName="connectorText" presStyleLbl="sibTrans1D1" presStyleIdx="1" presStyleCnt="3"/>
      <dgm:spPr/>
    </dgm:pt>
    <dgm:pt modelId="{515B5F9B-A11F-413D-A8E8-E2FCAC70B4FB}" type="pres">
      <dgm:prSet presAssocID="{F7C9A729-B8BA-4645-BB62-40EF2DFD13A0}" presName="node" presStyleLbl="node1" presStyleIdx="2" presStyleCnt="4">
        <dgm:presLayoutVars>
          <dgm:bulletEnabled val="1"/>
        </dgm:presLayoutVars>
      </dgm:prSet>
      <dgm:spPr/>
    </dgm:pt>
    <dgm:pt modelId="{42BEEBED-3ED5-47A0-8439-CF1F88236D5E}" type="pres">
      <dgm:prSet presAssocID="{59AE5095-785A-41D6-ABFC-1EB8BCCC0083}" presName="sibTrans" presStyleLbl="sibTrans1D1" presStyleIdx="2" presStyleCnt="3"/>
      <dgm:spPr/>
    </dgm:pt>
    <dgm:pt modelId="{CC2FEC02-0560-4D73-A559-41723DD5ECB2}" type="pres">
      <dgm:prSet presAssocID="{59AE5095-785A-41D6-ABFC-1EB8BCCC0083}" presName="connectorText" presStyleLbl="sibTrans1D1" presStyleIdx="2" presStyleCnt="3"/>
      <dgm:spPr/>
    </dgm:pt>
    <dgm:pt modelId="{85927DBE-72DB-4AF2-BFD8-9EF3E48AC612}" type="pres">
      <dgm:prSet presAssocID="{5ADE8CD2-AD35-4489-A0C9-97B939C72460}" presName="node" presStyleLbl="node1" presStyleIdx="3" presStyleCnt="4">
        <dgm:presLayoutVars>
          <dgm:bulletEnabled val="1"/>
        </dgm:presLayoutVars>
      </dgm:prSet>
      <dgm:spPr>
        <a:solidFill>
          <a:srgbClr val="304B61"/>
        </a:solidFill>
      </dgm:spPr>
    </dgm:pt>
  </dgm:ptLst>
  <dgm:cxnLst>
    <dgm:cxn modelId="{5DE34B0A-E817-4283-A275-4871A36BAEA1}" type="presOf" srcId="{2DAE1DBB-E5A1-48E7-A2A6-86DE4598511B}" destId="{D5116D66-9774-4109-B5EF-1AB8579C9A5D}" srcOrd="0" destOrd="0" presId="urn:microsoft.com/office/officeart/2005/8/layout/bProcess3"/>
    <dgm:cxn modelId="{83570314-7F1D-41B9-8B3E-51C316A9AEDB}" type="presOf" srcId="{F7C9A729-B8BA-4645-BB62-40EF2DFD13A0}" destId="{515B5F9B-A11F-413D-A8E8-E2FCAC70B4FB}" srcOrd="0" destOrd="0" presId="urn:microsoft.com/office/officeart/2005/8/layout/bProcess3"/>
    <dgm:cxn modelId="{33FF0E1C-56EF-4098-B42D-CD316933678A}" type="presOf" srcId="{2F204C4D-F3FF-4141-AD5F-DA7E05E104CD}" destId="{4CCED82D-1EF8-4247-87CE-E0AF8B1D78A7}" srcOrd="0" destOrd="0" presId="urn:microsoft.com/office/officeart/2005/8/layout/bProcess3"/>
    <dgm:cxn modelId="{D62B715B-E176-4226-96E5-1D9D9DA1EB1A}" type="presOf" srcId="{C07598F3-A4BA-43B9-B654-766F6D7C6C19}" destId="{935357E2-36A7-4EE6-8B8A-4DBD2492AA1F}" srcOrd="0" destOrd="0" presId="urn:microsoft.com/office/officeart/2005/8/layout/bProcess3"/>
    <dgm:cxn modelId="{EFA06D49-0BB7-4728-A93E-141D234B32E1}" srcId="{9A500E61-EB54-4C5D-AE7A-772729FF23B9}" destId="{C07598F3-A4BA-43B9-B654-766F6D7C6C19}" srcOrd="0" destOrd="0" parTransId="{4568AAB7-BD40-423D-85F4-D7343E581934}" sibTransId="{2DAE1DBB-E5A1-48E7-A2A6-86DE4598511B}"/>
    <dgm:cxn modelId="{8174854A-DD38-43E8-8215-9E0CCF1A486D}" type="presOf" srcId="{784633D0-1734-461F-80FB-99A37F928D9A}" destId="{B1DB072A-DD56-4461-86D2-5FE61255C69C}" srcOrd="1" destOrd="0" presId="urn:microsoft.com/office/officeart/2005/8/layout/bProcess3"/>
    <dgm:cxn modelId="{00690974-605F-4377-9992-A93CD99C45D1}" type="presOf" srcId="{59AE5095-785A-41D6-ABFC-1EB8BCCC0083}" destId="{CC2FEC02-0560-4D73-A559-41723DD5ECB2}" srcOrd="1" destOrd="0" presId="urn:microsoft.com/office/officeart/2005/8/layout/bProcess3"/>
    <dgm:cxn modelId="{E053F077-CE46-4DA6-92F4-D7B3B637E649}" srcId="{9A500E61-EB54-4C5D-AE7A-772729FF23B9}" destId="{5ADE8CD2-AD35-4489-A0C9-97B939C72460}" srcOrd="3" destOrd="0" parTransId="{D8C40A77-A35A-4456-9FD1-C222A53207B6}" sibTransId="{90CA3B33-F0EC-40CD-B0B5-EB472026C740}"/>
    <dgm:cxn modelId="{BC484C94-E8A9-4F77-89B9-FDDDB1A8A4C0}" type="presOf" srcId="{2DAE1DBB-E5A1-48E7-A2A6-86DE4598511B}" destId="{47EFBEDD-26A3-4F3A-9D26-3CC223D6EDA0}" srcOrd="1" destOrd="0" presId="urn:microsoft.com/office/officeart/2005/8/layout/bProcess3"/>
    <dgm:cxn modelId="{BBC454A2-0C78-40EE-B5D8-02489552A474}" type="presOf" srcId="{59AE5095-785A-41D6-ABFC-1EB8BCCC0083}" destId="{42BEEBED-3ED5-47A0-8439-CF1F88236D5E}" srcOrd="0" destOrd="0" presId="urn:microsoft.com/office/officeart/2005/8/layout/bProcess3"/>
    <dgm:cxn modelId="{150D60B2-BE28-4FE2-A64B-320D308C8F44}" srcId="{9A500E61-EB54-4C5D-AE7A-772729FF23B9}" destId="{2F204C4D-F3FF-4141-AD5F-DA7E05E104CD}" srcOrd="1" destOrd="0" parTransId="{E0A75A93-83EB-413A-85DD-3DCEE66E723C}" sibTransId="{784633D0-1734-461F-80FB-99A37F928D9A}"/>
    <dgm:cxn modelId="{969834D4-78CA-4327-B99C-A65DE0546FF0}" type="presOf" srcId="{784633D0-1734-461F-80FB-99A37F928D9A}" destId="{F75632A4-8B7F-4EDC-B39C-06B746E5C1B4}" srcOrd="0" destOrd="0" presId="urn:microsoft.com/office/officeart/2005/8/layout/bProcess3"/>
    <dgm:cxn modelId="{6656A6E0-82AC-4ABE-A76A-7FB82E67BFE9}" type="presOf" srcId="{5ADE8CD2-AD35-4489-A0C9-97B939C72460}" destId="{85927DBE-72DB-4AF2-BFD8-9EF3E48AC612}" srcOrd="0" destOrd="0" presId="urn:microsoft.com/office/officeart/2005/8/layout/bProcess3"/>
    <dgm:cxn modelId="{1931A7E1-8FC4-467E-B629-7992A896DCC5}" type="presOf" srcId="{9A500E61-EB54-4C5D-AE7A-772729FF23B9}" destId="{BD238BFD-C3F3-4361-9B33-35B5DADCB794}" srcOrd="0" destOrd="0" presId="urn:microsoft.com/office/officeart/2005/8/layout/bProcess3"/>
    <dgm:cxn modelId="{2BF10CF3-8D72-4330-BBC6-F3DED97D85C6}" srcId="{9A500E61-EB54-4C5D-AE7A-772729FF23B9}" destId="{F7C9A729-B8BA-4645-BB62-40EF2DFD13A0}" srcOrd="2" destOrd="0" parTransId="{E3511648-DB9F-4AB9-82D1-F5CBC8F79649}" sibTransId="{59AE5095-785A-41D6-ABFC-1EB8BCCC0083}"/>
    <dgm:cxn modelId="{033039B4-0B4F-48E1-A98F-0A029CE9190E}" type="presParOf" srcId="{BD238BFD-C3F3-4361-9B33-35B5DADCB794}" destId="{935357E2-36A7-4EE6-8B8A-4DBD2492AA1F}" srcOrd="0" destOrd="0" presId="urn:microsoft.com/office/officeart/2005/8/layout/bProcess3"/>
    <dgm:cxn modelId="{7D6432A4-A681-4FCA-8530-D08AE00B8B98}" type="presParOf" srcId="{BD238BFD-C3F3-4361-9B33-35B5DADCB794}" destId="{D5116D66-9774-4109-B5EF-1AB8579C9A5D}" srcOrd="1" destOrd="0" presId="urn:microsoft.com/office/officeart/2005/8/layout/bProcess3"/>
    <dgm:cxn modelId="{EF139A60-1330-4FD9-919E-6F95B5CEDDC2}" type="presParOf" srcId="{D5116D66-9774-4109-B5EF-1AB8579C9A5D}" destId="{47EFBEDD-26A3-4F3A-9D26-3CC223D6EDA0}" srcOrd="0" destOrd="0" presId="urn:microsoft.com/office/officeart/2005/8/layout/bProcess3"/>
    <dgm:cxn modelId="{94EDCA84-ABD2-4425-BC6C-8219970C89AD}" type="presParOf" srcId="{BD238BFD-C3F3-4361-9B33-35B5DADCB794}" destId="{4CCED82D-1EF8-4247-87CE-E0AF8B1D78A7}" srcOrd="2" destOrd="0" presId="urn:microsoft.com/office/officeart/2005/8/layout/bProcess3"/>
    <dgm:cxn modelId="{DCC4BC39-AC3D-4FA8-916B-EBCF59D4977A}" type="presParOf" srcId="{BD238BFD-C3F3-4361-9B33-35B5DADCB794}" destId="{F75632A4-8B7F-4EDC-B39C-06B746E5C1B4}" srcOrd="3" destOrd="0" presId="urn:microsoft.com/office/officeart/2005/8/layout/bProcess3"/>
    <dgm:cxn modelId="{2AA4D5AF-22B2-45FC-BF39-884A5FD1129D}" type="presParOf" srcId="{F75632A4-8B7F-4EDC-B39C-06B746E5C1B4}" destId="{B1DB072A-DD56-4461-86D2-5FE61255C69C}" srcOrd="0" destOrd="0" presId="urn:microsoft.com/office/officeart/2005/8/layout/bProcess3"/>
    <dgm:cxn modelId="{30B943FA-5B78-40B6-BBFD-FDDA66F62569}" type="presParOf" srcId="{BD238BFD-C3F3-4361-9B33-35B5DADCB794}" destId="{515B5F9B-A11F-413D-A8E8-E2FCAC70B4FB}" srcOrd="4" destOrd="0" presId="urn:microsoft.com/office/officeart/2005/8/layout/bProcess3"/>
    <dgm:cxn modelId="{F65C390C-20CC-4A46-939B-803A697E3C5B}" type="presParOf" srcId="{BD238BFD-C3F3-4361-9B33-35B5DADCB794}" destId="{42BEEBED-3ED5-47A0-8439-CF1F88236D5E}" srcOrd="5" destOrd="0" presId="urn:microsoft.com/office/officeart/2005/8/layout/bProcess3"/>
    <dgm:cxn modelId="{205A3135-1E55-4385-B3F1-1A7F6FD7AD96}" type="presParOf" srcId="{42BEEBED-3ED5-47A0-8439-CF1F88236D5E}" destId="{CC2FEC02-0560-4D73-A559-41723DD5ECB2}" srcOrd="0" destOrd="0" presId="urn:microsoft.com/office/officeart/2005/8/layout/bProcess3"/>
    <dgm:cxn modelId="{DEC5551D-F167-451D-B2EF-22C92C456E1A}" type="presParOf" srcId="{BD238BFD-C3F3-4361-9B33-35B5DADCB794}" destId="{85927DBE-72DB-4AF2-BFD8-9EF3E48AC612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16D66-9774-4109-B5EF-1AB8579C9A5D}">
      <dsp:nvSpPr>
        <dsp:cNvPr id="0" name=""/>
        <dsp:cNvSpPr/>
      </dsp:nvSpPr>
      <dsp:spPr>
        <a:xfrm>
          <a:off x="2974635" y="1084046"/>
          <a:ext cx="6536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36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4358" y="1126344"/>
        <a:ext cx="34212" cy="6842"/>
      </dsp:txXfrm>
    </dsp:sp>
    <dsp:sp modelId="{935357E2-36A7-4EE6-8B8A-4DBD2492AA1F}">
      <dsp:nvSpPr>
        <dsp:cNvPr id="0" name=""/>
        <dsp:cNvSpPr/>
      </dsp:nvSpPr>
      <dsp:spPr>
        <a:xfrm>
          <a:off x="1393" y="237253"/>
          <a:ext cx="2975041" cy="1785025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>
              <a:solidFill>
                <a:schemeClr val="bg1"/>
              </a:solidFill>
              <a:latin typeface="Arial"/>
              <a:cs typeface="Arial"/>
            </a:rPr>
            <a:t>Uso de </a:t>
          </a:r>
          <a:r>
            <a:rPr lang="es-ES" sz="2500" kern="1200" dirty="0">
              <a:solidFill>
                <a:srgbClr val="BDC1C6"/>
              </a:solidFill>
              <a:latin typeface="Arial"/>
              <a:cs typeface="Arial"/>
            </a:rPr>
            <a:t>Mapeo </a:t>
          </a:r>
          <a:r>
            <a:rPr lang="es-ES" sz="2500" kern="1200" dirty="0">
              <a:solidFill>
                <a:schemeClr val="bg1"/>
              </a:solidFill>
              <a:latin typeface="Arial"/>
              <a:cs typeface="Arial"/>
            </a:rPr>
            <a:t>Objeto-Relacional (ORM) en Laravel.</a:t>
          </a:r>
          <a:endParaRPr lang="en-US" sz="25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1393" y="237253"/>
        <a:ext cx="2975041" cy="1785025"/>
      </dsp:txXfrm>
    </dsp:sp>
    <dsp:sp modelId="{F75632A4-8B7F-4EDC-B39C-06B746E5C1B4}">
      <dsp:nvSpPr>
        <dsp:cNvPr id="0" name=""/>
        <dsp:cNvSpPr/>
      </dsp:nvSpPr>
      <dsp:spPr>
        <a:xfrm>
          <a:off x="1488914" y="2020478"/>
          <a:ext cx="3659301" cy="653659"/>
        </a:xfrm>
        <a:custGeom>
          <a:avLst/>
          <a:gdLst/>
          <a:ahLst/>
          <a:cxnLst/>
          <a:rect l="0" t="0" r="0" b="0"/>
          <a:pathLst>
            <a:path>
              <a:moveTo>
                <a:pt x="3659301" y="0"/>
              </a:moveTo>
              <a:lnTo>
                <a:pt x="3659301" y="343929"/>
              </a:lnTo>
              <a:lnTo>
                <a:pt x="0" y="343929"/>
              </a:lnTo>
              <a:lnTo>
                <a:pt x="0" y="65365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25496" y="2343887"/>
        <a:ext cx="186136" cy="6842"/>
      </dsp:txXfrm>
    </dsp:sp>
    <dsp:sp modelId="{4CCED82D-1EF8-4247-87CE-E0AF8B1D78A7}">
      <dsp:nvSpPr>
        <dsp:cNvPr id="0" name=""/>
        <dsp:cNvSpPr/>
      </dsp:nvSpPr>
      <dsp:spPr>
        <a:xfrm>
          <a:off x="3660694" y="237253"/>
          <a:ext cx="2975041" cy="1785025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>
              <a:solidFill>
                <a:schemeClr val="bg1"/>
              </a:solidFill>
              <a:latin typeface="Arial"/>
              <a:cs typeface="Arial"/>
            </a:rPr>
            <a:t>Autorización vs Autenticación.</a:t>
          </a:r>
        </a:p>
      </dsp:txBody>
      <dsp:txXfrm>
        <a:off x="3660694" y="237253"/>
        <a:ext cx="2975041" cy="1785025"/>
      </dsp:txXfrm>
    </dsp:sp>
    <dsp:sp modelId="{42BEEBED-3ED5-47A0-8439-CF1F88236D5E}">
      <dsp:nvSpPr>
        <dsp:cNvPr id="0" name=""/>
        <dsp:cNvSpPr/>
      </dsp:nvSpPr>
      <dsp:spPr>
        <a:xfrm>
          <a:off x="2974635" y="3553330"/>
          <a:ext cx="6536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365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4358" y="3595629"/>
        <a:ext cx="34212" cy="6842"/>
      </dsp:txXfrm>
    </dsp:sp>
    <dsp:sp modelId="{515B5F9B-A11F-413D-A8E8-E2FCAC70B4FB}">
      <dsp:nvSpPr>
        <dsp:cNvPr id="0" name=""/>
        <dsp:cNvSpPr/>
      </dsp:nvSpPr>
      <dsp:spPr>
        <a:xfrm>
          <a:off x="1393" y="2706538"/>
          <a:ext cx="2975041" cy="1785025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>
              <a:solidFill>
                <a:schemeClr val="bg1"/>
              </a:solidFill>
              <a:latin typeface="Arial"/>
              <a:cs typeface="Arial"/>
            </a:rPr>
            <a:t>Implementación de JSON Web Token (JWT).</a:t>
          </a:r>
        </a:p>
      </dsp:txBody>
      <dsp:txXfrm>
        <a:off x="1393" y="2706538"/>
        <a:ext cx="2975041" cy="1785025"/>
      </dsp:txXfrm>
    </dsp:sp>
    <dsp:sp modelId="{85927DBE-72DB-4AF2-BFD8-9EF3E48AC612}">
      <dsp:nvSpPr>
        <dsp:cNvPr id="0" name=""/>
        <dsp:cNvSpPr/>
      </dsp:nvSpPr>
      <dsp:spPr>
        <a:xfrm>
          <a:off x="3660694" y="2706538"/>
          <a:ext cx="2975041" cy="1785025"/>
        </a:xfrm>
        <a:prstGeom prst="rect">
          <a:avLst/>
        </a:prstGeom>
        <a:solidFill>
          <a:srgbClr val="304B6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>
              <a:latin typeface="Arial"/>
              <a:cs typeface="Arial"/>
            </a:rPr>
            <a:t>Cifrado de información en Laravel.</a:t>
          </a:r>
        </a:p>
      </dsp:txBody>
      <dsp:txXfrm>
        <a:off x="3660694" y="2706538"/>
        <a:ext cx="2975041" cy="1785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14-09-2025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2790" y="3107113"/>
            <a:ext cx="5113194" cy="643773"/>
          </a:xfrm>
        </p:spPr>
        <p:txBody>
          <a:bodyPr anchor="ctr">
            <a:normAutofit/>
          </a:bodyPr>
          <a:lstStyle/>
          <a:p>
            <a:pPr algn="l"/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790" y="3839546"/>
            <a:ext cx="5113194" cy="635654"/>
          </a:xfrm>
        </p:spPr>
        <p:txBody>
          <a:bodyPr>
            <a:noAutofit/>
          </a:bodyPr>
          <a:lstStyle/>
          <a:p>
            <a:pPr algn="l"/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pic>
        <p:nvPicPr>
          <p:cNvPr id="2" name="Imagen 1" descr="Imagen que contiene botella, texto, periódico, firmar&#10;&#10;Descripción generada automáticamente">
            <a:extLst>
              <a:ext uri="{FF2B5EF4-FFF2-40B4-BE49-F238E27FC236}">
                <a16:creationId xmlns:a16="http://schemas.microsoft.com/office/drawing/2014/main" id="{56246E2A-FF94-6B4F-980C-12E7E5DF0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6" y="5579974"/>
            <a:ext cx="2199042" cy="7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AGENDA</a:t>
            </a:r>
            <a:endParaRPr lang="en-US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669CD1B-0E03-ABA9-763C-5D948F0B8EB8}"/>
              </a:ext>
            </a:extLst>
          </p:cNvPr>
          <p:cNvSpPr/>
          <p:nvPr userDrawn="1"/>
        </p:nvSpPr>
        <p:spPr>
          <a:xfrm rot="16200000">
            <a:off x="-14135" y="3062436"/>
            <a:ext cx="4305299" cy="2180925"/>
          </a:xfrm>
          <a:prstGeom prst="round2SameRect">
            <a:avLst/>
          </a:prstGeom>
          <a:solidFill>
            <a:srgbClr val="304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24370F0-34C6-0E0F-CB33-03242E12CDC9}"/>
              </a:ext>
            </a:extLst>
          </p:cNvPr>
          <p:cNvSpPr txBox="1">
            <a:spLocks/>
          </p:cNvSpPr>
          <p:nvPr userDrawn="1"/>
        </p:nvSpPr>
        <p:spPr>
          <a:xfrm>
            <a:off x="3933825" y="1877961"/>
            <a:ext cx="7221854" cy="444429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01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02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03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04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05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06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Imagen 3" descr="Texto, Icono&#10;&#10;Descripción generada automáticamente">
            <a:extLst>
              <a:ext uri="{FF2B5EF4-FFF2-40B4-BE49-F238E27FC236}">
                <a16:creationId xmlns:a16="http://schemas.microsoft.com/office/drawing/2014/main" id="{EC37FD03-A8F4-6CC0-494F-F7761EB371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77" y="3038639"/>
            <a:ext cx="2125701" cy="21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5AF31D7-DDAD-AE10-0239-B0B63994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966452"/>
            <a:ext cx="11137692" cy="4359396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ambio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8F40-9B3F-63B9-DD8C-BB01669C2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721" y="2553043"/>
            <a:ext cx="7286438" cy="1744716"/>
          </a:xfrm>
        </p:spPr>
        <p:txBody>
          <a:bodyPr anchor="ctr"/>
          <a:lstStyle/>
          <a:p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44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1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866" y="2203068"/>
            <a:ext cx="49258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866" y="365382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1" r:id="rId3"/>
    <p:sldLayoutId id="2147483663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413" y="3515722"/>
            <a:ext cx="6975186" cy="654356"/>
          </a:xfrm>
        </p:spPr>
        <p:txBody>
          <a:bodyPr>
            <a:normAutofit fontScale="90000"/>
          </a:bodyPr>
          <a:lstStyle/>
          <a:p>
            <a:r>
              <a:rPr lang="es-MX" b="0" dirty="0">
                <a:solidFill>
                  <a:srgbClr val="FFFFFF"/>
                </a:solidFill>
                <a:latin typeface="Gotham"/>
                <a:cs typeface="Arial"/>
              </a:rPr>
              <a:t>Base de datos y seguridad de la información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030" y="5820242"/>
            <a:ext cx="5113194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 dirty="0">
                <a:latin typeface="Gotham"/>
              </a:rPr>
              <a:t>Sesión sincrónica S6</a:t>
            </a:r>
          </a:p>
        </p:txBody>
      </p:sp>
    </p:spTree>
    <p:extLst>
      <p:ext uri="{BB962C8B-B14F-4D97-AF65-F5344CB8AC3E}">
        <p14:creationId xmlns:p14="http://schemas.microsoft.com/office/powerpoint/2010/main" val="3167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DCBE-E499-3103-92A5-28F5D642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latin typeface="Gotham"/>
              </a:rPr>
              <a:t>ÍNDICE</a:t>
            </a:r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EDA60-EA13-DE58-247C-0BA1927DF33E}"/>
              </a:ext>
            </a:extLst>
          </p:cNvPr>
          <p:cNvSpPr txBox="1"/>
          <p:nvPr/>
        </p:nvSpPr>
        <p:spPr>
          <a:xfrm>
            <a:off x="3906982" y="1877961"/>
            <a:ext cx="7499927" cy="31393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1: </a:t>
            </a:r>
            <a:r>
              <a:rPr lang="es-MX" b="1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mapa conceptual / esquema / diagrama </a:t>
            </a:r>
            <a:r>
              <a:rPr lang="es-MX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resumen</a:t>
            </a: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2: </a:t>
            </a:r>
            <a:r>
              <a:rPr lang="es-MX" sz="1800" b="1" i="0" u="none" strike="noStrike" dirty="0">
                <a:solidFill>
                  <a:srgbClr val="102B42"/>
                </a:solidFill>
                <a:effectLst/>
                <a:latin typeface="Calibri" panose="020F0502020204030204" pitchFamily="34" charset="0"/>
              </a:rPr>
              <a:t>retroalimentación</a:t>
            </a:r>
            <a:r>
              <a:rPr lang="es-MX" b="1" dirty="0">
                <a:solidFill>
                  <a:srgbClr val="102B42"/>
                </a:solidFill>
                <a:latin typeface="Calibri" panose="020F0502020204030204" pitchFamily="34" charset="0"/>
              </a:rPr>
              <a:t> preguntas del apunte</a:t>
            </a:r>
            <a:endParaRPr lang="es-MX" dirty="0">
              <a:solidFill>
                <a:srgbClr val="102B42"/>
              </a:solidFill>
            </a:endParaRPr>
          </a:p>
          <a:p>
            <a:endParaRPr lang="es-MX" dirty="0">
              <a:solidFill>
                <a:srgbClr val="49607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3: </a:t>
            </a:r>
            <a:r>
              <a:rPr lang="es-MX" sz="1800" b="1" i="0" u="none" strike="noStrike" dirty="0">
                <a:solidFill>
                  <a:srgbClr val="102B42"/>
                </a:solidFill>
                <a:effectLst/>
                <a:latin typeface="Calibri" panose="020F0502020204030204" pitchFamily="34" charset="0"/>
              </a:rPr>
              <a:t>retroalimentación preguntas del foro</a:t>
            </a: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4: </a:t>
            </a:r>
            <a:r>
              <a:rPr lang="en-US" b="1" dirty="0">
                <a:solidFill>
                  <a:srgbClr val="102B42"/>
                </a:solidFill>
                <a:latin typeface="Calibri" panose="020F0502020204030204" pitchFamily="34" charset="0"/>
              </a:rPr>
              <a:t>mini </a:t>
            </a:r>
            <a:r>
              <a:rPr lang="es-CL" b="1" dirty="0">
                <a:solidFill>
                  <a:srgbClr val="102B42"/>
                </a:solidFill>
                <a:latin typeface="Calibri" panose="020F0502020204030204" pitchFamily="34" charset="0"/>
              </a:rPr>
              <a:t>problema </a:t>
            </a:r>
            <a:endParaRPr lang="es-CL" sz="1800" b="0" i="0" dirty="0">
              <a:solidFill>
                <a:srgbClr val="102B42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02B42"/>
                </a:solidFill>
                <a:latin typeface="Calibri" panose="020F0502020204030204" pitchFamily="34" charset="0"/>
              </a:rPr>
              <a:t>Tema 5: </a:t>
            </a:r>
            <a:r>
              <a:rPr lang="es-CL" sz="1800" b="1" i="0" u="none" strike="noStrike" dirty="0">
                <a:solidFill>
                  <a:srgbClr val="102B42"/>
                </a:solidFill>
                <a:effectLst/>
                <a:latin typeface="Calibri" panose="020F0502020204030204" pitchFamily="34" charset="0"/>
              </a:rPr>
              <a:t>Cierre: enlace autoevaluación</a:t>
            </a:r>
            <a:endParaRPr lang="es-CL" sz="1800" b="0" i="0" dirty="0">
              <a:solidFill>
                <a:srgbClr val="102B42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83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74C9C-032E-5215-271E-7472146D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56" y="324913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Resumen unidad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1916B49-62DA-60EB-01FA-E92598E0BBDE}"/>
              </a:ext>
            </a:extLst>
          </p:cNvPr>
          <p:cNvGraphicFramePr/>
          <p:nvPr/>
        </p:nvGraphicFramePr>
        <p:xfrm>
          <a:off x="3533914" y="1500808"/>
          <a:ext cx="6637130" cy="4728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25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619" y="2843772"/>
            <a:ext cx="7795490" cy="1744716"/>
          </a:xfrm>
        </p:spPr>
        <p:txBody>
          <a:bodyPr/>
          <a:lstStyle/>
          <a:p>
            <a:r>
              <a:rPr lang="es-MX"/>
              <a:t>Fase de retroalimentación</a:t>
            </a:r>
          </a:p>
        </p:txBody>
      </p:sp>
    </p:spTree>
    <p:extLst>
      <p:ext uri="{BB962C8B-B14F-4D97-AF65-F5344CB8AC3E}">
        <p14:creationId xmlns:p14="http://schemas.microsoft.com/office/powerpoint/2010/main" val="82932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908" y="313870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Apunte activador de aprendizaje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106626"/>
            <a:ext cx="111350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A continuación, se presentan las preguntas del apunte activador del aprendizaje.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1571787"/>
            <a:ext cx="11135032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/>
              <a:t>Preguntas:</a:t>
            </a:r>
          </a:p>
          <a:p>
            <a:pPr marL="342900" indent="-342900">
              <a:buAutoNum type="arabicPeriod"/>
            </a:pPr>
            <a:r>
              <a:rPr lang="es-ES" dirty="0">
                <a:ea typeface="+mn-lt"/>
                <a:cs typeface="+mn-lt"/>
              </a:rPr>
              <a:t>¿Cuál es la principal función de un ORM (</a:t>
            </a:r>
            <a:r>
              <a:rPr lang="es-ES" dirty="0" err="1">
                <a:ea typeface="+mn-lt"/>
                <a:cs typeface="+mn-lt"/>
              </a:rPr>
              <a:t>Object-Relational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Mapping</a:t>
            </a:r>
            <a:r>
              <a:rPr lang="es-ES" dirty="0">
                <a:ea typeface="+mn-lt"/>
                <a:cs typeface="+mn-lt"/>
              </a:rPr>
              <a:t>) en el desarrollo de aplicaciones? </a:t>
            </a:r>
            <a:endParaRPr lang="es-ES" dirty="0"/>
          </a:p>
          <a:p>
            <a:r>
              <a:rPr lang="es-CL" b="1" dirty="0"/>
              <a:t>Respuesta:</a:t>
            </a:r>
            <a:r>
              <a:rPr lang="es-CL" dirty="0"/>
              <a:t> </a:t>
            </a:r>
            <a:r>
              <a:rPr lang="es-CL" dirty="0">
                <a:ea typeface="+mn-lt"/>
                <a:cs typeface="+mn-lt"/>
              </a:rPr>
              <a:t>La principal función de un ORM en el desarrollo de aplicaciones es mapear datos entre la base de datos y los objetos del código. Esto permite a los desarrolladores trabajar con bases de datos utilizando lenguajes de programación orientados a objetos, facilitando la manipulación de datos sin tener que escribir consultas SQL manualmente. Los </a:t>
            </a:r>
            <a:r>
              <a:rPr lang="es-CL" dirty="0" err="1">
                <a:ea typeface="+mn-lt"/>
                <a:cs typeface="+mn-lt"/>
              </a:rPr>
              <a:t>ORMs</a:t>
            </a:r>
            <a:r>
              <a:rPr lang="es-CL" dirty="0">
                <a:ea typeface="+mn-lt"/>
                <a:cs typeface="+mn-lt"/>
              </a:rPr>
              <a:t> mejoran la productividad y reducen los errores al proporcionar una abstracción sobre el sistema de gestión de bases de datos, permitiendo un acceso más intuitivo y estructurado a los datos almacenados</a:t>
            </a:r>
            <a:r>
              <a:rPr lang="es-CL" dirty="0"/>
              <a:t>.</a:t>
            </a:r>
            <a:endParaRPr lang="es-ES" dirty="0">
              <a:cs typeface="Calibri"/>
            </a:endParaRPr>
          </a:p>
          <a:p>
            <a:endParaRPr lang="es-ES"/>
          </a:p>
          <a:p>
            <a:r>
              <a:rPr lang="es-ES" dirty="0"/>
              <a:t>2. </a:t>
            </a:r>
            <a:r>
              <a:rPr lang="es-ES" dirty="0">
                <a:ea typeface="+mn-lt"/>
                <a:cs typeface="+mn-lt"/>
              </a:rPr>
              <a:t>¿Qué es autorización en el desarrollo de aplicaciones web?</a:t>
            </a:r>
            <a:r>
              <a:rPr lang="es-ES" dirty="0"/>
              <a:t> </a:t>
            </a:r>
            <a:endParaRPr lang="es-ES" dirty="0">
              <a:ea typeface="Calibri" panose="020F0502020204030204"/>
              <a:cs typeface="Calibri" panose="020F0502020204030204"/>
            </a:endParaRPr>
          </a:p>
          <a:p>
            <a:r>
              <a:rPr lang="es-ES" b="1" dirty="0">
                <a:ea typeface="Calibri" panose="020F0502020204030204"/>
                <a:cs typeface="Calibri" panose="020F0502020204030204"/>
              </a:rPr>
              <a:t>Respuesta:</a:t>
            </a:r>
            <a:r>
              <a:rPr lang="es-ES" dirty="0">
                <a:ea typeface="Calibri" panose="020F0502020204030204"/>
                <a:cs typeface="Calibri" panose="020F0502020204030204"/>
              </a:rPr>
              <a:t> </a:t>
            </a:r>
            <a:r>
              <a:rPr lang="es-ES" dirty="0">
                <a:ea typeface="+mn-lt"/>
                <a:cs typeface="+mn-lt"/>
              </a:rPr>
              <a:t>La autorización en el desarrollo de aplicaciones web se refiere al proceso de permitir o denegar acceso a recursos específicos en función de las credenciales del usuario. A diferencia de la autenticación, que verifica la identidad del usuario, la autorización determina los permisos y niveles de acceso que tiene el usuario dentro de la aplicación. Esto es crucial para la seguridad, asegurando que solo los usuarios autorizados puedan acceder a ciertos datos o realizar determinadas acciones</a:t>
            </a:r>
            <a:r>
              <a:rPr lang="es-ES" dirty="0"/>
              <a:t>.</a:t>
            </a:r>
            <a:endParaRPr lang="es-E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835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908" y="313870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Apunte activador de aprendizaje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106626"/>
            <a:ext cx="111350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/>
              <a:t>A continuación, se presentan las preguntas del apunte activador del aprendizaje.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1571787"/>
            <a:ext cx="11135032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/>
              <a:t>Preguntas:</a:t>
            </a:r>
          </a:p>
          <a:p>
            <a:r>
              <a:rPr lang="es-ES" dirty="0">
                <a:ea typeface="Calibri"/>
                <a:cs typeface="Calibri"/>
              </a:rPr>
              <a:t>3. </a:t>
            </a:r>
            <a:r>
              <a:rPr lang="es-ES" dirty="0">
                <a:ea typeface="+mn-lt"/>
                <a:cs typeface="+mn-lt"/>
              </a:rPr>
              <a:t>¿Que es autenticación en el desarrollo de aplicaciones web?</a:t>
            </a:r>
          </a:p>
          <a:p>
            <a:r>
              <a:rPr lang="es-CL" b="1" dirty="0"/>
              <a:t>Respuesta</a:t>
            </a:r>
            <a:r>
              <a:rPr lang="es-CL" dirty="0"/>
              <a:t>: </a:t>
            </a:r>
            <a:r>
              <a:rPr lang="es-CL" dirty="0">
                <a:ea typeface="+mn-lt"/>
                <a:cs typeface="+mn-lt"/>
              </a:rPr>
              <a:t>La autenticación en el desarrollo de aplicaciones web es el proceso de verificar la identidad de un usuario. Esto se realiza generalmente mediante credenciales como nombres de usuario y contraseñas, tokens de seguridad, o autenticación </a:t>
            </a:r>
            <a:r>
              <a:rPr lang="es-CL" dirty="0" err="1">
                <a:ea typeface="+mn-lt"/>
                <a:cs typeface="+mn-lt"/>
              </a:rPr>
              <a:t>multifactor</a:t>
            </a:r>
            <a:r>
              <a:rPr lang="es-CL" dirty="0">
                <a:ea typeface="+mn-lt"/>
                <a:cs typeface="+mn-lt"/>
              </a:rPr>
              <a:t>. La autenticación asegura que el usuario es quien dice ser antes de permitirle acceso a la aplicación, lo cual es esencial para proteger la información y mantener la integridad de los datos</a:t>
            </a:r>
            <a:r>
              <a:rPr lang="es-CL" dirty="0"/>
              <a:t>.</a:t>
            </a:r>
            <a:endParaRPr lang="es-CL" dirty="0">
              <a:ea typeface="Calibri"/>
              <a:cs typeface="Calibri"/>
            </a:endParaRPr>
          </a:p>
          <a:p>
            <a:endParaRPr lang="es-CL"/>
          </a:p>
          <a:p>
            <a:r>
              <a:rPr lang="es-CL" dirty="0"/>
              <a:t>4. </a:t>
            </a:r>
            <a:r>
              <a:rPr lang="es-CL" dirty="0">
                <a:ea typeface="+mn-lt"/>
                <a:cs typeface="+mn-lt"/>
              </a:rPr>
              <a:t>¿Qué es un JSON Web Token (JWT)?</a:t>
            </a:r>
            <a:endParaRPr lang="es-CL" dirty="0">
              <a:cs typeface="Calibri"/>
            </a:endParaRPr>
          </a:p>
          <a:p>
            <a:r>
              <a:rPr lang="es-CL" b="1" dirty="0"/>
              <a:t>Respuesta</a:t>
            </a:r>
            <a:r>
              <a:rPr lang="es-CL" dirty="0"/>
              <a:t>: </a:t>
            </a:r>
            <a:r>
              <a:rPr lang="es-CL" dirty="0">
                <a:ea typeface="+mn-lt"/>
                <a:cs typeface="+mn-lt"/>
              </a:rPr>
              <a:t>Un JSON Web Token (JWT) es un estándar para crear tokens de acceso que permiten la transmisión segura de información entre partes. Los JWT se utilizan ampliamente para la autenticación y autorización en aplicaciones web, ya que permiten la verificación de la identidad de un usuario y el intercambio seguro de información. Los tokens están firmados digitalmente para garantizar su integridad y autenticidad, asegurando que los datos no hayan sido alterados.</a:t>
            </a:r>
          </a:p>
        </p:txBody>
      </p:sp>
    </p:spTree>
    <p:extLst>
      <p:ext uri="{BB962C8B-B14F-4D97-AF65-F5344CB8AC3E}">
        <p14:creationId xmlns:p14="http://schemas.microsoft.com/office/powerpoint/2010/main" val="345464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51" y="302827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Foro crítico reflexivo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386348"/>
            <a:ext cx="1113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 continuación, se presentan las preguntas de la sección “Foro”. El objetivo es que se puedan resolver las dudas, entregando las respuestas esperadas o correctas para orientar el aprendizaje de los y las estudiantes.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2158205"/>
            <a:ext cx="11135032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/>
              <a:t>Preguntas:</a:t>
            </a:r>
          </a:p>
          <a:p>
            <a:r>
              <a:rPr lang="es-MX"/>
              <a:t>1. ¿Cuál es la importancia de configurar correctamente la conexión a la base de datos en una aplicación web utilizando un ORM (</a:t>
            </a:r>
            <a:r>
              <a:rPr lang="es-MX" err="1"/>
              <a:t>Object-Relational</a:t>
            </a:r>
            <a:r>
              <a:rPr lang="es-MX"/>
              <a:t> </a:t>
            </a:r>
            <a:r>
              <a:rPr lang="es-MX" err="1"/>
              <a:t>Mapping</a:t>
            </a:r>
            <a:r>
              <a:rPr lang="es-MX"/>
              <a:t>)? Discute las posibles consecuencias de una configuración incorrecta y proporciona ejemplos de cómo afecta el rendimiento y la seguridad de la aplicación</a:t>
            </a:r>
            <a:endParaRPr lang="es-ES"/>
          </a:p>
          <a:p>
            <a:r>
              <a:rPr lang="es-ES" b="1" dirty="0"/>
              <a:t>Respuesta</a:t>
            </a:r>
            <a:r>
              <a:rPr lang="es-ES" dirty="0"/>
              <a:t>: </a:t>
            </a:r>
            <a:r>
              <a:rPr lang="es-ES" dirty="0">
                <a:ea typeface="+mn-lt"/>
                <a:cs typeface="+mn-lt"/>
              </a:rPr>
              <a:t>Configurar correctamente la conexión a la base de datos en una aplicación web utilizando un ORM (</a:t>
            </a:r>
            <a:r>
              <a:rPr lang="es-ES" dirty="0" err="1">
                <a:ea typeface="+mn-lt"/>
                <a:cs typeface="+mn-lt"/>
              </a:rPr>
              <a:t>Object-Relational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Mapping</a:t>
            </a:r>
            <a:r>
              <a:rPr lang="es-ES" dirty="0">
                <a:ea typeface="+mn-lt"/>
                <a:cs typeface="+mn-lt"/>
              </a:rPr>
              <a:t>) es crucial por varias razones:</a:t>
            </a: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Eficiencia en las Consultas:</a:t>
            </a:r>
            <a:r>
              <a:rPr lang="es-ES" dirty="0">
                <a:ea typeface="+mn-lt"/>
                <a:cs typeface="+mn-lt"/>
              </a:rPr>
              <a:t> Una conexión mal configurada puede llevar a consultas ineficientes, aumentando el tiempo de respuesta y la carga en el servidor. </a:t>
            </a: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Protección de Datos:</a:t>
            </a:r>
            <a:r>
              <a:rPr lang="es-ES" dirty="0">
                <a:ea typeface="+mn-lt"/>
                <a:cs typeface="+mn-lt"/>
              </a:rPr>
              <a:t> Una configuración incorrecta puede exponer la base de datos a vulnerabilidades, como inyecciones SQL. </a:t>
            </a:r>
            <a:endParaRPr lang="es-ES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Consistencia de Datos:</a:t>
            </a:r>
            <a:r>
              <a:rPr lang="es-ES" dirty="0">
                <a:ea typeface="+mn-lt"/>
                <a:cs typeface="+mn-lt"/>
              </a:rPr>
              <a:t> Configuraciones incorrectas pueden llevar a problemas de consistencia de datos, como registros duplicados o pérdida de datos. </a:t>
            </a:r>
            <a:endParaRPr lang="es-E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b="1" dirty="0">
                <a:ea typeface="+mn-lt"/>
                <a:cs typeface="+mn-lt"/>
              </a:rPr>
              <a:t>Facilidad de Actualización:</a:t>
            </a:r>
            <a:r>
              <a:rPr lang="es-ES" dirty="0">
                <a:ea typeface="+mn-lt"/>
                <a:cs typeface="+mn-lt"/>
              </a:rPr>
              <a:t> Una conexión bien configurada facilita el mantenimiento y actualización de la base de datos.</a:t>
            </a:r>
            <a:endParaRPr lang="es-E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860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1DC72-8352-BD2B-D466-047E2043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51" y="302827"/>
            <a:ext cx="10113461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Foro crítico reflexivo</a:t>
            </a:r>
            <a:endParaRPr lang="es-ES">
              <a:solidFill>
                <a:srgbClr val="00263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2F953-4E77-98FF-5569-BBF9A0424ADD}"/>
              </a:ext>
            </a:extLst>
          </p:cNvPr>
          <p:cNvSpPr txBox="1"/>
          <p:nvPr/>
        </p:nvSpPr>
        <p:spPr>
          <a:xfrm>
            <a:off x="707923" y="1386348"/>
            <a:ext cx="1113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 continuación, se presentan las preguntas de la sección “Foro”. El objetivo es que se puedan resolver las dudas, entregando las respuestas esperadas o correctas para orientar el aprendizaje de los y las estudiantes.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28F638-7AE5-2D6B-8A0B-D6FCECADB96D}"/>
              </a:ext>
            </a:extLst>
          </p:cNvPr>
          <p:cNvSpPr txBox="1"/>
          <p:nvPr/>
        </p:nvSpPr>
        <p:spPr>
          <a:xfrm>
            <a:off x="707923" y="2333787"/>
            <a:ext cx="11135032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/>
              <a:t>Preguntas:</a:t>
            </a:r>
          </a:p>
          <a:p>
            <a:r>
              <a:rPr lang="es-MX" dirty="0">
                <a:latin typeface="Calibri"/>
                <a:ea typeface="Calibri"/>
                <a:cs typeface="Calibri"/>
              </a:rPr>
              <a:t>2</a:t>
            </a:r>
            <a:r>
              <a:rPr lang="es-MX" dirty="0">
                <a:ea typeface="+mn-lt"/>
                <a:cs typeface="+mn-lt"/>
              </a:rPr>
              <a:t>. </a:t>
            </a:r>
            <a:r>
              <a:rPr lang="es-CL" dirty="0">
                <a:ea typeface="+mn-lt"/>
                <a:cs typeface="+mn-lt"/>
              </a:rPr>
              <a:t>Describe los pasos necesarios para establecer una conexión entre tu aplicación web y la base de datos utilizando un ORM de tu elección (por ejemplo, </a:t>
            </a:r>
            <a:r>
              <a:rPr lang="es-CL" dirty="0" err="1">
                <a:ea typeface="+mn-lt"/>
                <a:cs typeface="+mn-lt"/>
              </a:rPr>
              <a:t>Eloquent</a:t>
            </a:r>
            <a:r>
              <a:rPr lang="es-CL" dirty="0">
                <a:ea typeface="+mn-lt"/>
                <a:cs typeface="+mn-lt"/>
              </a:rPr>
              <a:t> en Laravel). Incluye detalles sobre la configuración de archivos y la definición de modelos. ¿Qué consideraciones adicionales debes tener en cuenta al conectar la aplicación a diferentes entornos (desarrollo, pruebas, producción)?</a:t>
            </a:r>
            <a:endParaRPr lang="es-MX" dirty="0">
              <a:ea typeface="+mn-lt"/>
              <a:cs typeface="+mn-lt"/>
            </a:endParaRPr>
          </a:p>
          <a:p>
            <a:r>
              <a:rPr lang="es-ES" b="1" dirty="0"/>
              <a:t>Respuesta</a:t>
            </a:r>
            <a:r>
              <a:rPr lang="es-ES" dirty="0"/>
              <a:t>: </a:t>
            </a:r>
            <a:endParaRPr lang="es-ES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s-ES">
                <a:ea typeface="+mn-lt"/>
                <a:cs typeface="+mn-lt"/>
              </a:rPr>
              <a:t>Configuración del Archivo de Configuración</a:t>
            </a:r>
          </a:p>
          <a:p>
            <a:pPr marL="342900" indent="-342900">
              <a:buAutoNum type="arabicPeriod"/>
            </a:pPr>
            <a:r>
              <a:rPr lang="es-ES">
                <a:ea typeface="+mn-lt"/>
                <a:cs typeface="+mn-lt"/>
              </a:rPr>
              <a:t>Consideraciones Adicionales para Diferentes Entornos</a:t>
            </a:r>
            <a:endParaRPr lang="es-ES"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s-ES">
                <a:ea typeface="+mn-lt"/>
                <a:cs typeface="+mn-lt"/>
              </a:rPr>
              <a:t>Definición de Modelos</a:t>
            </a:r>
          </a:p>
          <a:p>
            <a:pPr marL="342900" indent="-342900">
              <a:buAutoNum type="arabicPeriod"/>
            </a:pPr>
            <a:r>
              <a:rPr lang="es-ES">
                <a:ea typeface="+mn-lt"/>
                <a:cs typeface="+mn-lt"/>
              </a:rPr>
              <a:t>Migraciones</a:t>
            </a:r>
            <a:endParaRPr lang="es-E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6955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727" y="2862260"/>
            <a:ext cx="7795490" cy="1744716"/>
          </a:xfrm>
        </p:spPr>
        <p:txBody>
          <a:bodyPr/>
          <a:lstStyle/>
          <a:p>
            <a:r>
              <a:rPr lang="es-MX" dirty="0">
                <a:latin typeface="Gotham"/>
              </a:rPr>
              <a:t>Taller colaborativo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643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F3E90-4C06-2C14-515C-CBDD987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7" y="243437"/>
            <a:ext cx="8423809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del mini 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632AB-0ACC-59EA-3FDC-68044C7067A9}"/>
              </a:ext>
            </a:extLst>
          </p:cNvPr>
          <p:cNvSpPr txBox="1"/>
          <p:nvPr/>
        </p:nvSpPr>
        <p:spPr>
          <a:xfrm>
            <a:off x="1720645" y="1725561"/>
            <a:ext cx="8278761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L" dirty="0">
                <a:latin typeface="Calibri"/>
                <a:ea typeface="Calibri" panose="020F0502020204030204"/>
                <a:cs typeface="Arial"/>
              </a:rPr>
              <a:t>La empresa </a:t>
            </a:r>
            <a:r>
              <a:rPr lang="es-CL" b="1" dirty="0" err="1">
                <a:latin typeface="Calibri"/>
                <a:ea typeface="Calibri" panose="020F0502020204030204"/>
                <a:cs typeface="Arial"/>
              </a:rPr>
              <a:t>Tech</a:t>
            </a:r>
            <a:r>
              <a:rPr lang="es-CL" b="1" dirty="0">
                <a:latin typeface="Calibri"/>
                <a:ea typeface="Calibri" panose="020F0502020204030204"/>
                <a:cs typeface="Arial"/>
              </a:rPr>
              <a:t> </a:t>
            </a:r>
            <a:r>
              <a:rPr lang="es-CL" b="1" dirty="0" err="1">
                <a:latin typeface="Calibri"/>
                <a:ea typeface="Calibri" panose="020F0502020204030204"/>
                <a:cs typeface="Arial"/>
              </a:rPr>
              <a:t>Solutions</a:t>
            </a:r>
            <a:r>
              <a:rPr lang="es-CL" dirty="0">
                <a:latin typeface="Calibri"/>
                <a:ea typeface="Calibri" panose="020F0502020204030204"/>
                <a:cs typeface="Arial"/>
              </a:rPr>
              <a:t> ha decidido modernizar su sistema de gestión de proyectos. Para ello, han optado por utilizar un </a:t>
            </a:r>
            <a:r>
              <a:rPr lang="es-CL" dirty="0" err="1">
                <a:latin typeface="Calibri"/>
                <a:ea typeface="Calibri" panose="020F0502020204030204"/>
                <a:cs typeface="Arial"/>
              </a:rPr>
              <a:t>framework</a:t>
            </a:r>
            <a:r>
              <a:rPr lang="es-CL" dirty="0">
                <a:latin typeface="Calibri"/>
                <a:ea typeface="Calibri" panose="020F0502020204030204"/>
                <a:cs typeface="Arial"/>
              </a:rPr>
              <a:t> moderno para el desarrollo web. El esqueleto y base de los controladores fue creado como parte de la </a:t>
            </a:r>
            <a:r>
              <a:rPr lang="es-CL">
                <a:latin typeface="Calibri"/>
                <a:ea typeface="Calibri" panose="020F0502020204030204"/>
                <a:cs typeface="Arial"/>
              </a:rPr>
              <a:t>Unidad 1 </a:t>
            </a:r>
            <a:r>
              <a:rPr lang="es-CL" dirty="0">
                <a:latin typeface="Calibri"/>
                <a:ea typeface="Calibri" panose="020F0502020204030204"/>
                <a:cs typeface="Arial"/>
              </a:rPr>
              <a:t>y ahora debes los requerimientos que se definen a continuación:</a:t>
            </a:r>
            <a:endParaRPr lang="en-US" dirty="0"/>
          </a:p>
          <a:p>
            <a:pPr algn="just"/>
            <a:endParaRPr lang="es-CL" dirty="0">
              <a:latin typeface="Calibri"/>
              <a:ea typeface="Calibri" panose="020F0502020204030204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Definición de las siguientes rutas que serán manejadas por la API:</a:t>
            </a:r>
          </a:p>
          <a:p>
            <a:pPr marL="285750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Registro de Usuario</a:t>
            </a:r>
          </a:p>
          <a:p>
            <a:pPr marL="285750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Inicio de Sesión de Usuario</a:t>
            </a:r>
          </a:p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Generar los siguientes controladores que conectaran cada una de las rutas definidas con los modelos definidos</a:t>
            </a: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Controlador de Autenticación que se encargara de lo siguiente: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Función de Registro de Usuario en el cual se implementará un cifrado a la clave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Función de Inicio de Sesión el cual devolverá un JWT si las credenciales son correctas</a:t>
            </a:r>
          </a:p>
          <a:p>
            <a:pPr marL="1200150" lvl="2" indent="-285750" algn="just">
              <a:buFont typeface="Wingdings"/>
              <a:buChar char="▪"/>
            </a:pPr>
            <a:endParaRPr lang="es-ES" dirty="0">
              <a:latin typeface="Calibri"/>
              <a:ea typeface="Calibri" panose="020F050202020403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392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F3E90-4C06-2C14-515C-CBDD987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7" y="243437"/>
            <a:ext cx="8423809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Desarrollo del mini caso/problema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632AB-0ACC-59EA-3FDC-68044C7067A9}"/>
              </a:ext>
            </a:extLst>
          </p:cNvPr>
          <p:cNvSpPr txBox="1"/>
          <p:nvPr/>
        </p:nvSpPr>
        <p:spPr>
          <a:xfrm>
            <a:off x="1730291" y="1223991"/>
            <a:ext cx="8278761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buFont typeface="Symbol"/>
              <a:buChar char="•"/>
            </a:pPr>
            <a:r>
              <a:rPr lang="es-CL" dirty="0">
                <a:latin typeface="Calibri"/>
                <a:cs typeface="Arial"/>
              </a:rPr>
              <a:t>Configurar las variables de entorno para usar las siguientes configuraciones:</a:t>
            </a:r>
            <a:endParaRPr lang="en-US" dirty="0">
              <a:latin typeface="Calibri"/>
              <a:cs typeface="Arial"/>
            </a:endParaRPr>
          </a:p>
          <a:p>
            <a:pPr lvl="1" algn="just">
              <a:buFont typeface="Arial"/>
              <a:buChar char="•"/>
            </a:pPr>
            <a:r>
              <a:rPr lang="es-CL" dirty="0">
                <a:latin typeface="Calibri"/>
                <a:cs typeface="Arial"/>
              </a:rPr>
              <a:t>Nombre de la Base de Datos: desarrollo_software_1</a:t>
            </a:r>
            <a:endParaRPr lang="en-US" dirty="0">
              <a:latin typeface="Calibri"/>
              <a:cs typeface="Arial"/>
            </a:endParaRPr>
          </a:p>
          <a:p>
            <a:pPr lvl="1" algn="just">
              <a:buFont typeface="Arial"/>
              <a:buChar char="•"/>
            </a:pPr>
            <a:r>
              <a:rPr lang="es-CL" dirty="0" err="1">
                <a:latin typeface="Calibri"/>
                <a:cs typeface="Arial"/>
              </a:rPr>
              <a:t>Username</a:t>
            </a:r>
            <a:r>
              <a:rPr lang="es-CL" dirty="0">
                <a:latin typeface="Calibri"/>
                <a:cs typeface="Arial"/>
              </a:rPr>
              <a:t>: </a:t>
            </a:r>
            <a:r>
              <a:rPr lang="es-CL" dirty="0" err="1">
                <a:latin typeface="Calibri"/>
                <a:cs typeface="Arial"/>
              </a:rPr>
              <a:t>root</a:t>
            </a:r>
            <a:endParaRPr lang="en-US" dirty="0" err="1">
              <a:latin typeface="Calibri"/>
              <a:cs typeface="Arial"/>
            </a:endParaRPr>
          </a:p>
          <a:p>
            <a:pPr lvl="1" algn="just">
              <a:buFont typeface="Arial"/>
              <a:buChar char="•"/>
            </a:pPr>
            <a:r>
              <a:rPr lang="es-CL" dirty="0">
                <a:latin typeface="Calibri"/>
                <a:cs typeface="Arial"/>
              </a:rPr>
              <a:t>Clave: desarrollo_software_1</a:t>
            </a:r>
            <a:endParaRPr lang="en-US" dirty="0">
              <a:latin typeface="Calibri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Genera los siguientes modelos que serán usados por el controlador con datos </a:t>
            </a:r>
            <a:r>
              <a:rPr lang="es-CL">
                <a:latin typeface="Calibri"/>
                <a:ea typeface="Calibri" panose="020F0502020204030204"/>
                <a:cs typeface="Arial"/>
              </a:rPr>
              <a:t>estáticos con los siguientes campos</a:t>
            </a:r>
            <a:endParaRPr lang="en-US" dirty="0">
              <a:cs typeface="Calibri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Usuario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Id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Nombre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Correo. (Identificador Único)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 Clave</a:t>
            </a: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Proyecto (Actualizar)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Id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Nombre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Fecha de Inicio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Estado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Responsable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Monto</a:t>
            </a:r>
          </a:p>
          <a:p>
            <a:pPr marL="1200150" lvl="2" indent="-285750" algn="just">
              <a:buFont typeface="Wingdings"/>
              <a:buChar char="▪"/>
            </a:pPr>
            <a:r>
              <a:rPr lang="es-CL" err="1">
                <a:latin typeface="Calibri"/>
                <a:ea typeface="Calibri" panose="020F0502020204030204"/>
                <a:cs typeface="Arial"/>
              </a:rPr>
              <a:t>created_by</a:t>
            </a:r>
            <a:r>
              <a:rPr lang="es-CL" dirty="0">
                <a:latin typeface="Calibri"/>
                <a:ea typeface="Calibri" panose="020F0502020204030204"/>
                <a:cs typeface="Arial"/>
              </a:rPr>
              <a:t> (Debería ser el Id del usuario)</a:t>
            </a:r>
          </a:p>
          <a:p>
            <a:pPr marL="742950" lvl="1" indent="-285750" algn="just">
              <a:buFont typeface="Arial"/>
              <a:buChar char="•"/>
            </a:pPr>
            <a:endParaRPr lang="es-ES" dirty="0">
              <a:latin typeface="Calibri"/>
              <a:ea typeface="Calibri" panose="020F050202020403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9140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9F3E90-4C06-2C14-515C-CBDD987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297" y="243437"/>
            <a:ext cx="8423809" cy="602137"/>
          </a:xfrm>
        </p:spPr>
        <p:txBody>
          <a:bodyPr/>
          <a:lstStyle/>
          <a:p>
            <a:r>
              <a:rPr lang="es-ES">
                <a:solidFill>
                  <a:srgbClr val="00263E"/>
                </a:solidFill>
                <a:latin typeface="Gotham"/>
              </a:rPr>
              <a:t>Desarrollo del mini caso/problema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2632AB-0ACC-59EA-3FDC-68044C7067A9}"/>
              </a:ext>
            </a:extLst>
          </p:cNvPr>
          <p:cNvSpPr txBox="1"/>
          <p:nvPr/>
        </p:nvSpPr>
        <p:spPr>
          <a:xfrm>
            <a:off x="1720645" y="1725561"/>
            <a:ext cx="8278761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Construir las siguientes vistas con estilos básicos que muestren la información retornada por el controlador</a:t>
            </a:r>
            <a:endParaRPr lang="en-US"/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Inicio de Sesión</a:t>
            </a:r>
          </a:p>
          <a:p>
            <a:pPr marL="742950" lvl="1" indent="-285750" algn="just">
              <a:buFont typeface="Aria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Registro</a:t>
            </a:r>
            <a:r>
              <a:rPr lang="es-CL" dirty="0">
                <a:latin typeface="Calibri"/>
                <a:ea typeface="Calibri" panose="020F0502020204030204"/>
                <a:cs typeface="Calibri"/>
              </a:rPr>
              <a:t> </a:t>
            </a:r>
            <a:endParaRPr lang="es-CL" dirty="0">
              <a:latin typeface="Calibri"/>
              <a:ea typeface="Calibri" panose="020F0502020204030204"/>
              <a:cs typeface="Arial"/>
            </a:endParaRPr>
          </a:p>
          <a:p>
            <a:pPr marL="285750" indent="-285750" algn="just">
              <a:buFont typeface="Symbol"/>
              <a:buChar char="•"/>
            </a:pPr>
            <a:r>
              <a:rPr lang="es-CL" dirty="0">
                <a:latin typeface="Calibri"/>
                <a:ea typeface="Calibri" panose="020F0502020204030204"/>
                <a:cs typeface="Arial"/>
              </a:rPr>
              <a:t>Genera un middleware que valida si el usuario esta autenticado o no por medio de un JWT</a:t>
            </a:r>
          </a:p>
          <a:p>
            <a:pPr marL="742950" lvl="1" indent="-285750" algn="just">
              <a:buFont typeface="Arial"/>
              <a:buChar char="•"/>
            </a:pPr>
            <a:endParaRPr lang="es-ES" dirty="0">
              <a:latin typeface="Calibri"/>
              <a:ea typeface="Calibri" panose="020F050202020403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873583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Institucional CIISA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D8E051C034CD4AB7AA71D698AE8B30" ma:contentTypeVersion="14" ma:contentTypeDescription="Crear nuevo documento." ma:contentTypeScope="" ma:versionID="ba84be2a6c96e4e44c55bd7316411ed7">
  <xsd:schema xmlns:xsd="http://www.w3.org/2001/XMLSchema" xmlns:xs="http://www.w3.org/2001/XMLSchema" xmlns:p="http://schemas.microsoft.com/office/2006/metadata/properties" xmlns:ns2="bda1ad10-d4bb-41ec-a603-c5fb97d92d9b" xmlns:ns3="a78bb83c-f79f-4baf-ae30-fdf209467eca" targetNamespace="http://schemas.microsoft.com/office/2006/metadata/properties" ma:root="true" ma:fieldsID="41ef44b21c7357b5eadf57dcc10076a1" ns2:_="" ns3:_="">
    <xsd:import namespace="bda1ad10-d4bb-41ec-a603-c5fb97d92d9b"/>
    <xsd:import namespace="a78bb83c-f79f-4baf-ae30-fdf209467e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1ad10-d4bb-41ec-a603-c5fb97d92d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06eb44f-0cc1-4f80-a712-3bf3176deb3c}" ma:internalName="TaxCatchAll" ma:showField="CatchAllData" ma:web="bda1ad10-d4bb-41ec-a603-c5fb97d92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bb83c-f79f-4baf-ae30-fdf209467e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5d370a8b-1d73-4c2e-b75a-e5292e92d2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a1ad10-d4bb-41ec-a603-c5fb97d92d9b" xsi:nil="true"/>
    <lcf76f155ced4ddcb4097134ff3c332f xmlns="a78bb83c-f79f-4baf-ae30-fdf209467eca">
      <Terms xmlns="http://schemas.microsoft.com/office/infopath/2007/PartnerControls"/>
    </lcf76f155ced4ddcb4097134ff3c332f>
    <SharedWithUsers xmlns="bda1ad10-d4bb-41ec-a603-c5fb97d92d9b">
      <UserInfo>
        <DisplayName/>
        <AccountId xsi:nil="true"/>
        <AccountType/>
      </UserInfo>
    </SharedWithUsers>
    <MediaLengthInSeconds xmlns="a78bb83c-f79f-4baf-ae30-fdf209467eca" xsi:nil="true"/>
  </documentManagement>
</p:properties>
</file>

<file path=customXml/itemProps1.xml><?xml version="1.0" encoding="utf-8"?>
<ds:datastoreItem xmlns:ds="http://schemas.openxmlformats.org/officeDocument/2006/customXml" ds:itemID="{4661082E-0D03-494C-9BAA-97B6381D5E43}">
  <ds:schemaRefs>
    <ds:schemaRef ds:uri="a78bb83c-f79f-4baf-ae30-fdf209467eca"/>
    <ds:schemaRef ds:uri="bda1ad10-d4bb-41ec-a603-c5fb97d92d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F4E0E8-DCD7-4FED-941D-0AB556AD80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D21582-FC00-409E-B0FE-B85F4A2AD932}">
  <ds:schemaRefs>
    <ds:schemaRef ds:uri="a78bb83c-f79f-4baf-ae30-fdf209467eca"/>
    <ds:schemaRef ds:uri="bda1ad10-d4bb-41ec-a603-c5fb97d92d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0</TotalTime>
  <Words>1191</Words>
  <Application>Microsoft Office PowerPoint</Application>
  <PresentationFormat>Panorámica</PresentationFormat>
  <Paragraphs>93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Plantilla Institucional CIISA</vt:lpstr>
      <vt:lpstr>Base de datos y seguridad de la información</vt:lpstr>
      <vt:lpstr>ÍNDICE</vt:lpstr>
      <vt:lpstr>Resumen unidad</vt:lpstr>
      <vt:lpstr>Fase de retroalimentación</vt:lpstr>
      <vt:lpstr>Apunte activador de aprendizaje</vt:lpstr>
      <vt:lpstr>Apunte activador de aprendizaje</vt:lpstr>
      <vt:lpstr>Foro crítico reflexivo</vt:lpstr>
      <vt:lpstr>Foro crítico reflexivo</vt:lpstr>
      <vt:lpstr>Taller colaborativo</vt:lpstr>
      <vt:lpstr>Desarrollo del mini problema</vt:lpstr>
      <vt:lpstr>Desarrollo del mini caso/problema</vt:lpstr>
      <vt:lpstr>Desarrollo del mini caso/problema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Tatiana Zuñiga Vicencio</cp:lastModifiedBy>
  <cp:revision>92</cp:revision>
  <dcterms:created xsi:type="dcterms:W3CDTF">2023-07-19T16:06:31Z</dcterms:created>
  <dcterms:modified xsi:type="dcterms:W3CDTF">2025-09-14T22:52:12Z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0x0101009CD8E051C034CD4AB7AA71D698AE8B30</vt:lpwstr>
  </property>
  <property fmtid="{D5CDD505-2E9C-101B-9397-08002B2CF9AE}" pid="3" name="MediaServiceImageTags">
    <vt:lpwstr/>
  </property>
  <property fmtid="{D5CDD505-2E9C-101B-9397-08002B2CF9AE}" pid="4" name="Order">
    <vt:r8>217300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