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076137705" r:id="rId5"/>
    <p:sldId id="2076137725" r:id="rId6"/>
    <p:sldId id="2076137729" r:id="rId7"/>
    <p:sldId id="2076137708" r:id="rId8"/>
    <p:sldId id="2076137734" r:id="rId9"/>
    <p:sldId id="2076137735" r:id="rId10"/>
    <p:sldId id="2076137736" r:id="rId11"/>
    <p:sldId id="2076137707" r:id="rId12"/>
    <p:sldId id="2076137730" r:id="rId13"/>
    <p:sldId id="2076137731" r:id="rId14"/>
    <p:sldId id="2076137732" r:id="rId15"/>
    <p:sldId id="2076137733" r:id="rId16"/>
    <p:sldId id="2076137738" r:id="rId17"/>
    <p:sldId id="2076137739" r:id="rId18"/>
    <p:sldId id="2076137743" r:id="rId19"/>
    <p:sldId id="2076137742" r:id="rId20"/>
    <p:sldId id="207613774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4DFE0A-DF80-3E30-C204-25B1D5565698}" name="Alejandra Bravo Garcia" initials="AG" userId="S::alejandra.bravo@ipss.cl::4cf5125d-f567-4a98-9bb5-4ea9ae908f01" providerId="AD"/>
  <p188:author id="{DFC5AA2A-7322-24C3-9B68-AD7395C41981}" name="Alejandra Bravo Garcia" initials="AG" userId="S::abravo@ciisa.cl::4cf5125d-f567-4a98-9bb5-4ea9ae908f01" providerId="AD"/>
  <p188:author id="{56A303EC-24C9-A366-E7A3-68AFB5B8C733}" name="Lorena Massone Bresler" initials="LM" userId="S::lmassone@ciisa.cl::02953e08-4597-4d31-a081-9f68326755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3E"/>
    <a:srgbClr val="496073"/>
    <a:srgbClr val="798998"/>
    <a:srgbClr val="3C3C3B"/>
    <a:srgbClr val="C7AC7A"/>
    <a:srgbClr val="102B42"/>
    <a:srgbClr val="304B61"/>
    <a:srgbClr val="13A438"/>
    <a:srgbClr val="67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0"/>
  </p:normalViewPr>
  <p:slideViewPr>
    <p:cSldViewPr snapToGrid="0">
      <p:cViewPr varScale="1">
        <p:scale>
          <a:sx n="101" d="100"/>
          <a:sy n="101" d="100"/>
        </p:scale>
        <p:origin x="808" y="184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C2656-D0C9-4458-96E2-63B8D593F054}" type="datetimeFigureOut">
              <a:rPr lang="es-CL" smtClean="0"/>
              <a:t>16-06-25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8C6D-1E16-459A-B4A2-B354227B25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48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38C6D-1E16-459A-B4A2-B354227B25CE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4743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38C6D-1E16-459A-B4A2-B354227B25CE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0228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39BCFA7-EFF0-AE3A-4D5A-F54C59C5A6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2790" y="3107113"/>
            <a:ext cx="5113194" cy="643773"/>
          </a:xfrm>
        </p:spPr>
        <p:txBody>
          <a:bodyPr anchor="ctr">
            <a:normAutofit/>
          </a:bodyPr>
          <a:lstStyle/>
          <a:p>
            <a:pPr algn="l"/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36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 sz="3600" b="1">
              <a:solidFill>
                <a:schemeClr val="bg1"/>
              </a:solidFill>
              <a:latin typeface="Gotham" panose="02000603040000020004" pitchFamily="50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29DCCD-8CF6-9BA5-1F82-4885C19BA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2790" y="3839546"/>
            <a:ext cx="5113194" cy="635654"/>
          </a:xfrm>
        </p:spPr>
        <p:txBody>
          <a:bodyPr>
            <a:noAutofit/>
          </a:bodyPr>
          <a:lstStyle/>
          <a:p>
            <a:pPr algn="l"/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dolor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sit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amet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consectetuer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adipiscing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elit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sed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diam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.</a:t>
            </a:r>
          </a:p>
        </p:txBody>
      </p:sp>
      <p:pic>
        <p:nvPicPr>
          <p:cNvPr id="2" name="Imagen 1" descr="Imagen que contiene botella, texto, periódico, firmar&#10;&#10;Descripción generada automáticamente">
            <a:extLst>
              <a:ext uri="{FF2B5EF4-FFF2-40B4-BE49-F238E27FC236}">
                <a16:creationId xmlns:a16="http://schemas.microsoft.com/office/drawing/2014/main" id="{56246E2A-FF94-6B4F-980C-12E7E5DF0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6" y="5579974"/>
            <a:ext cx="2199042" cy="7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9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AGENDA</a:t>
            </a:r>
            <a:endParaRPr lang="en-US"/>
          </a:p>
        </p:txBody>
      </p: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A669CD1B-0E03-ABA9-763C-5D948F0B8EB8}"/>
              </a:ext>
            </a:extLst>
          </p:cNvPr>
          <p:cNvSpPr/>
          <p:nvPr userDrawn="1"/>
        </p:nvSpPr>
        <p:spPr>
          <a:xfrm rot="16200000">
            <a:off x="-14135" y="3062436"/>
            <a:ext cx="4305299" cy="2180925"/>
          </a:xfrm>
          <a:prstGeom prst="round2SameRect">
            <a:avLst/>
          </a:prstGeom>
          <a:solidFill>
            <a:srgbClr val="304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024370F0-34C6-0E0F-CB33-03242E12CDC9}"/>
              </a:ext>
            </a:extLst>
          </p:cNvPr>
          <p:cNvSpPr txBox="1">
            <a:spLocks/>
          </p:cNvSpPr>
          <p:nvPr userDrawn="1"/>
        </p:nvSpPr>
        <p:spPr>
          <a:xfrm>
            <a:off x="3933825" y="1877961"/>
            <a:ext cx="7221854" cy="444429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01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02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03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04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05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06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4" name="Imagen 3" descr="Texto, Icono&#10;&#10;Descripción generada automáticamente">
            <a:extLst>
              <a:ext uri="{FF2B5EF4-FFF2-40B4-BE49-F238E27FC236}">
                <a16:creationId xmlns:a16="http://schemas.microsoft.com/office/drawing/2014/main" id="{EC37FD03-A8F4-6CC0-494F-F7761EB371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77" y="3038639"/>
            <a:ext cx="2125701" cy="21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5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Lorem</a:t>
            </a:r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 </a:t>
            </a:r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Ipsum</a:t>
            </a:r>
            <a:endParaRPr lang="en-US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5AF31D7-DDAD-AE10-0239-B0B639942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1966452"/>
            <a:ext cx="11137692" cy="4359396"/>
          </a:xfrm>
        </p:spPr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  <a:lvl2pPr>
              <a:defRPr>
                <a:solidFill>
                  <a:srgbClr val="3C3C3B"/>
                </a:solidFill>
              </a:defRPr>
            </a:lvl2pPr>
            <a:lvl3pPr>
              <a:defRPr>
                <a:solidFill>
                  <a:srgbClr val="3C3C3B"/>
                </a:solidFill>
              </a:defRPr>
            </a:lvl3pPr>
            <a:lvl4pPr>
              <a:defRPr>
                <a:solidFill>
                  <a:srgbClr val="3C3C3B"/>
                </a:solidFill>
              </a:defRPr>
            </a:lvl4pPr>
            <a:lvl5pPr>
              <a:defRPr>
                <a:solidFill>
                  <a:srgbClr val="3C3C3B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ambio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A8F40-9B3F-63B9-DD8C-BB01669C2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721" y="2553043"/>
            <a:ext cx="7286438" cy="1744716"/>
          </a:xfrm>
        </p:spPr>
        <p:txBody>
          <a:bodyPr anchor="ctr"/>
          <a:lstStyle/>
          <a:p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44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11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866" y="2203068"/>
            <a:ext cx="492581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9866" y="3653824"/>
            <a:ext cx="4925814" cy="1173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1" r:id="rId3"/>
    <p:sldLayoutId id="2147483663" r:id="rId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spc="-50" baseline="0">
          <a:solidFill>
            <a:schemeClr val="bg1"/>
          </a:solidFill>
          <a:latin typeface="Gotham" panose="02000603040000020004" pitchFamily="5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ipss.odilo.us/info/machine-learning-how-machines-learn-02596294" TargetMode="External"/><Relationship Id="rId3" Type="http://schemas.openxmlformats.org/officeDocument/2006/relationships/hyperlink" Target="https://ipss.odilo.us/info/ultimate-machine-learning-with-scikit-learn-unleash-the-power-of-scikit-learn-and-python-to-build-cutting-edge-predictive-modeling-applications-and-unlock-deeper-insights-into-machine-learning-english-edition-02760950" TargetMode="External"/><Relationship Id="rId7" Type="http://schemas.openxmlformats.org/officeDocument/2006/relationships/hyperlink" Target="https://ipss.odilo.us/info/machine-learning-y-deep-learning-0259699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ipss.odilo.us/info/the-machine-learning-solutions-architect-handbook-create-machine-learning-platforms-to-run-solutions-in-an-enterprise-setting-02594569" TargetMode="External"/><Relationship Id="rId5" Type="http://schemas.openxmlformats.org/officeDocument/2006/relationships/hyperlink" Target="https://ipss.odilo.us/info/machine-learning-with-pytorch-and-scikit-learn-develop-machine-learning-and-deep-learning-models-with-python-02597032" TargetMode="External"/><Relationship Id="rId4" Type="http://schemas.openxmlformats.org/officeDocument/2006/relationships/hyperlink" Target="https://ipss.odilo.us/info/the-art-of-machine-learning-0259641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B412-0761-08C0-91B5-7D184FD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054" y="3429458"/>
            <a:ext cx="10335946" cy="758791"/>
          </a:xfrm>
        </p:spPr>
        <p:txBody>
          <a:bodyPr>
            <a:normAutofit/>
          </a:bodyPr>
          <a:lstStyle/>
          <a:p>
            <a:r>
              <a:rPr lang="es-MX" dirty="0">
                <a:latin typeface="Gotham"/>
              </a:rPr>
              <a:t>INTELIGENCIA ARTIFICIAL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70C8-A12B-436B-AB8E-9FC2932E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054" y="4475650"/>
            <a:ext cx="5113194" cy="6356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s-MX" dirty="0">
                <a:latin typeface="Gotham"/>
              </a:rPr>
              <a:t>PRESENTACIÓN DE LA ASIGNATURA</a:t>
            </a:r>
          </a:p>
        </p:txBody>
      </p:sp>
    </p:spTree>
    <p:extLst>
      <p:ext uri="{BB962C8B-B14F-4D97-AF65-F5344CB8AC3E}">
        <p14:creationId xmlns:p14="http://schemas.microsoft.com/office/powerpoint/2010/main" val="3167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828FA-B684-3CCF-2BD2-0EB756FA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586" y="231083"/>
            <a:ext cx="10113461" cy="602137"/>
          </a:xfrm>
        </p:spPr>
        <p:txBody>
          <a:bodyPr/>
          <a:lstStyle/>
          <a:p>
            <a:r>
              <a:rPr lang="es-ES" dirty="0"/>
              <a:t>CONOCIENDO LA ASIGNATURA</a:t>
            </a:r>
            <a:endParaRPr lang="es-CL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9DC1524-23E7-11B8-763E-8BEEE75EA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543339"/>
              </p:ext>
            </p:extLst>
          </p:nvPr>
        </p:nvGraphicFramePr>
        <p:xfrm>
          <a:off x="882650" y="1910144"/>
          <a:ext cx="10217150" cy="1277556"/>
        </p:xfrm>
        <a:graphic>
          <a:graphicData uri="http://schemas.openxmlformats.org/drawingml/2006/table">
            <a:tbl>
              <a:tblPr/>
              <a:tblGrid>
                <a:gridCol w="102171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Competencia(s)</a:t>
                      </a:r>
                      <a:endParaRPr lang="es-CL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 datos a través de su recolección, análisis y entrenamiento de algoritmos permitiendo identificar problemas y proponer posibles soluciones.</a:t>
                      </a:r>
                      <a:r>
                        <a:rPr lang="es-CL" dirty="0">
                          <a:effectLst/>
                        </a:rPr>
                        <a:t> </a:t>
                      </a:r>
                      <a:endParaRPr lang="es-CL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7472E75-A45E-CDD4-F458-2238C49D7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357528"/>
              </p:ext>
            </p:extLst>
          </p:nvPr>
        </p:nvGraphicFramePr>
        <p:xfrm>
          <a:off x="882650" y="3626035"/>
          <a:ext cx="10217150" cy="610488"/>
        </p:xfrm>
        <a:graphic>
          <a:graphicData uri="http://schemas.openxmlformats.org/drawingml/2006/table">
            <a:tbl>
              <a:tblPr/>
              <a:tblGrid>
                <a:gridCol w="10217150">
                  <a:extLst>
                    <a:ext uri="{9D8B030D-6E8A-4147-A177-3AD203B41FA5}">
                      <a16:colId xmlns:a16="http://schemas.microsoft.com/office/drawing/2014/main" val="2758071133"/>
                    </a:ext>
                  </a:extLst>
                </a:gridCol>
              </a:tblGrid>
              <a:tr h="2920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Unidades de competencia</a:t>
                      </a:r>
                      <a:endParaRPr lang="es-CL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6839" marR="56839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767544"/>
                  </a:ext>
                </a:extLst>
              </a:tr>
              <a:tr h="31840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Desarrolla algoritmos de machine </a:t>
                      </a:r>
                      <a:r>
                        <a:rPr lang="es-CL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</a:t>
                      </a:r>
                      <a:r>
                        <a:rPr lang="es-CL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utilizando librerías del lenguaje a programación Python.</a:t>
                      </a:r>
                      <a:r>
                        <a:rPr lang="es-CL" dirty="0">
                          <a:effectLst/>
                        </a:rPr>
                        <a:t> </a:t>
                      </a:r>
                      <a:endParaRPr lang="es-CL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6839" marR="56839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366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254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FAD0-DE2E-5669-AACA-5E77BF091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D98E0-92DD-A67A-281D-BF99C25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586" y="231083"/>
            <a:ext cx="10113461" cy="602137"/>
          </a:xfrm>
        </p:spPr>
        <p:txBody>
          <a:bodyPr/>
          <a:lstStyle/>
          <a:p>
            <a:r>
              <a:rPr lang="es-ES" dirty="0"/>
              <a:t>CONOCIENDO LA ASIGNATURA</a:t>
            </a:r>
            <a:endParaRPr lang="es-CL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923CE66-4634-219D-1E23-23D6895A4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515935"/>
              </p:ext>
            </p:extLst>
          </p:nvPr>
        </p:nvGraphicFramePr>
        <p:xfrm>
          <a:off x="895350" y="2075244"/>
          <a:ext cx="6775450" cy="2243971"/>
        </p:xfrm>
        <a:graphic>
          <a:graphicData uri="http://schemas.openxmlformats.org/drawingml/2006/table">
            <a:tbl>
              <a:tblPr/>
              <a:tblGrid>
                <a:gridCol w="67754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Unidades de Aprendizaje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endParaRPr lang="es-CL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es-MX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FUNDAMENTOS Y ÉTICA DE LA IA</a:t>
                      </a:r>
                      <a:r>
                        <a:rPr lang="es-CL" dirty="0">
                          <a:effectLst/>
                        </a:rPr>
                        <a:t> 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s-CL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s-CL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s-MX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PREPARACIÓN Y PROCESAMIENTO DE DATOS PARA IA</a:t>
                      </a:r>
                      <a:r>
                        <a:rPr lang="es-CL" dirty="0">
                          <a:effectLst/>
                        </a:rPr>
                        <a:t> </a:t>
                      </a:r>
                      <a:endParaRPr lang="es-CL" sz="2000" dirty="0">
                        <a:effectLst/>
                      </a:endParaRPr>
                    </a:p>
                    <a:p>
                      <a:endParaRPr lang="es-CL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s-CL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MODELOS DE ML Y APLICACIONES</a:t>
                      </a:r>
                      <a:r>
                        <a:rPr lang="es-CL" dirty="0">
                          <a:effectLst/>
                        </a:rPr>
                        <a:t> </a:t>
                      </a:r>
                      <a:endParaRPr lang="es-CL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</a:tbl>
          </a:graphicData>
        </a:graphic>
      </p:graphicFrame>
      <p:pic>
        <p:nvPicPr>
          <p:cNvPr id="1026" name="Picture 2" descr="Art Document Icon Illustration — Stock Photo, Image">
            <a:extLst>
              <a:ext uri="{FF2B5EF4-FFF2-40B4-BE49-F238E27FC236}">
                <a16:creationId xmlns:a16="http://schemas.microsoft.com/office/drawing/2014/main" id="{CF839027-BAAB-2D8C-ECAF-4CDA8F094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100" y="2190087"/>
            <a:ext cx="2477825" cy="24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68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055" y="2841723"/>
            <a:ext cx="7795490" cy="1744716"/>
          </a:xfrm>
        </p:spPr>
        <p:txBody>
          <a:bodyPr/>
          <a:lstStyle/>
          <a:p>
            <a:pPr algn="ctr"/>
            <a:r>
              <a:rPr lang="es-MX" dirty="0"/>
              <a:t>CONTENIDOS CONCEPTUALES</a:t>
            </a:r>
          </a:p>
        </p:txBody>
      </p:sp>
      <p:pic>
        <p:nvPicPr>
          <p:cNvPr id="3074" name="Picture 2" descr="Agreement Blue Red Four Color Minimal Icon Set — Stock Vector">
            <a:extLst>
              <a:ext uri="{FF2B5EF4-FFF2-40B4-BE49-F238E27FC236}">
                <a16:creationId xmlns:a16="http://schemas.microsoft.com/office/drawing/2014/main" id="{8D5EF3FA-E033-E1BE-9A41-5F3F0D108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45" y="2841723"/>
            <a:ext cx="1913758" cy="191375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32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F03CE-9AC4-AB6C-7F83-5D2457F24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B31553F-CF06-C976-7FA5-5CC40227B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18362"/>
              </p:ext>
            </p:extLst>
          </p:nvPr>
        </p:nvGraphicFramePr>
        <p:xfrm>
          <a:off x="619125" y="1021144"/>
          <a:ext cx="10953750" cy="5535811"/>
        </p:xfrm>
        <a:graphic>
          <a:graphicData uri="http://schemas.openxmlformats.org/drawingml/2006/table">
            <a:tbl>
              <a:tblPr/>
              <a:tblGrid>
                <a:gridCol w="109537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Contenidos conceptuales unidad 1</a:t>
                      </a:r>
                      <a:endParaRPr lang="es-CL" sz="180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b="0" dirty="0"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- Conceptos básicos:</a:t>
                      </a:r>
                      <a:endParaRPr lang="es-CL" sz="1800" b="0" dirty="0">
                        <a:effectLst/>
                        <a:latin typeface="+mn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Calibri" panose="020F0502020204030204" pitchFamily="34" charset="0"/>
                        <a:buChar char="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Inteligencia Artificial.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Calibri" panose="020F0502020204030204" pitchFamily="34" charset="0"/>
                        <a:buChar char="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Machine </a:t>
                      </a:r>
                      <a:r>
                        <a:rPr lang="es-ES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learning</a:t>
                      </a: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Calibri" panose="020F0502020204030204" pitchFamily="34" charset="0"/>
                        <a:buChar char="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Deep </a:t>
                      </a:r>
                      <a:r>
                        <a:rPr lang="es-ES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learning</a:t>
                      </a: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Calibri" panose="020F0502020204030204" pitchFamily="34" charset="0"/>
                        <a:buChar char="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Ciencia de datos.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Aprendizaje supervisado.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Aprendizaje no supervisado.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Redes neuronales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Aprendizaje por refuerzo.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Ramas y aplicaciones de la IA.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Campos.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Visión por computadora.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Procesamientos de lenguaje natural.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Sistemas expertos.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Python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Sesgos 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Privacidad 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Impacto laboral responsabilidad.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826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399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A36B8-ABE0-CC46-C895-4C5697D9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19565B8-1F9A-D7EF-B3E8-D6FC630A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419595"/>
              </p:ext>
            </p:extLst>
          </p:nvPr>
        </p:nvGraphicFramePr>
        <p:xfrm>
          <a:off x="527050" y="1186244"/>
          <a:ext cx="10953750" cy="1695331"/>
        </p:xfrm>
        <a:graphic>
          <a:graphicData uri="http://schemas.openxmlformats.org/drawingml/2006/table">
            <a:tbl>
              <a:tblPr/>
              <a:tblGrid>
                <a:gridCol w="109537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Contenidos conceptuales unidad 2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 lvl="0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Tipos de algoritmos de machine </a:t>
                      </a:r>
                      <a:r>
                        <a:rPr lang="es-E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</a:t>
                      </a:r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CL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Modelos de regresión: lineal, árboles de decisión, SVMR, KNNR.</a:t>
                      </a:r>
                      <a:endParaRPr lang="es-CL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Modelos de clasificación: logística, </a:t>
                      </a:r>
                      <a:r>
                        <a:rPr lang="es-E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Naive</a:t>
                      </a:r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Bayes, árboles de decisión, SVMC, K-NNC.</a:t>
                      </a:r>
                      <a:endParaRPr lang="es-CL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Modelos y métricas.</a:t>
                      </a:r>
                      <a:endParaRPr lang="es-CL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98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DEDA-8D23-1127-B608-B503B484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8364F96-0124-DC2A-2BBF-33FD1024D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570865"/>
              </p:ext>
            </p:extLst>
          </p:nvPr>
        </p:nvGraphicFramePr>
        <p:xfrm>
          <a:off x="527050" y="1186244"/>
          <a:ext cx="10953750" cy="4164211"/>
        </p:xfrm>
        <a:graphic>
          <a:graphicData uri="http://schemas.openxmlformats.org/drawingml/2006/table">
            <a:tbl>
              <a:tblPr/>
              <a:tblGrid>
                <a:gridCol w="109537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Contenidos conceptuales unidad 3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8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Calibri" panose="020F0502020204030204" pitchFamily="34" charset="0"/>
                        </a:rPr>
                        <a:t>Técnicas de:  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742950" lvl="1" indent="-28575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Calibri" panose="020F0502020204030204" pitchFamily="34" charset="0"/>
                        </a:rPr>
                        <a:t>Limpieza de datos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742950" lvl="1" indent="-28575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Calibri" panose="020F0502020204030204" pitchFamily="34" charset="0"/>
                        </a:rPr>
                        <a:t>Transformación de datos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742950" lvl="1" indent="-285750" algn="just">
                        <a:buFont typeface="Arial" panose="020B0604020202020204" pitchFamily="34" charset="0"/>
                        <a:buChar char="-"/>
                      </a:pPr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Calibri" panose="020F0502020204030204" pitchFamily="34" charset="0"/>
                        </a:rPr>
                        <a:t>Métodos de selección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s-CL" sz="18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Calibri" panose="020F0502020204030204" pitchFamily="34" charset="0"/>
                        </a:rPr>
                        <a:t> 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- Algoritmos de machine </a:t>
                      </a:r>
                      <a:r>
                        <a:rPr lang="es-CL" sz="1800" dirty="0" err="1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learning</a:t>
                      </a: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 (ML) 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- Librerías de Python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s-CL" sz="1800" dirty="0" err="1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TensorFlow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s-CL" sz="1800" dirty="0" err="1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Keras</a:t>
                      </a: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 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s-CL" sz="1800" dirty="0" err="1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Scikit-learn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- Procesamiento de lenguaje natural (PLN) 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- Librería NLTK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s-CL" sz="18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Calibri" panose="020F0502020204030204" pitchFamily="34" charset="0"/>
                        </a:rPr>
                        <a:t>- H</a:t>
                      </a:r>
                      <a:r>
                        <a:rPr lang="es-CL" sz="1800" dirty="0">
                          <a:solidFill>
                            <a:srgbClr val="0D0D0D"/>
                          </a:solidFill>
                          <a:effectLst/>
                          <a:latin typeface="Calibri" panose="020F0502020204030204" pitchFamily="34" charset="0"/>
                          <a:ea typeface="ui-sans-serif"/>
                          <a:cs typeface="Calibri" panose="020F0502020204030204" pitchFamily="34" charset="0"/>
                        </a:rPr>
                        <a:t>erramientas de Python</a:t>
                      </a:r>
                      <a:endParaRPr lang="es-CL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371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88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299" y="2858164"/>
            <a:ext cx="5282045" cy="1744716"/>
          </a:xfrm>
        </p:spPr>
        <p:txBody>
          <a:bodyPr/>
          <a:lstStyle/>
          <a:p>
            <a:pPr algn="ctr"/>
            <a:r>
              <a:rPr lang="es-MX" dirty="0"/>
              <a:t>EVALUACIONES</a:t>
            </a:r>
          </a:p>
        </p:txBody>
      </p:sp>
      <p:pic>
        <p:nvPicPr>
          <p:cNvPr id="2050" name="Picture 2" descr="Excellent Customer Service Evaluation — Stock Photo, Image">
            <a:extLst>
              <a:ext uri="{FF2B5EF4-FFF2-40B4-BE49-F238E27FC236}">
                <a16:creationId xmlns:a16="http://schemas.microsoft.com/office/drawing/2014/main" id="{ADD72038-CD96-C6D0-5781-B464C01E4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495" y="2893277"/>
            <a:ext cx="2501900" cy="166793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436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4D8F1-A0E6-95DC-5417-3743DDA4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1C33C-BAE9-5FB9-AE38-4EC9C6870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586" y="231083"/>
            <a:ext cx="10113461" cy="602137"/>
          </a:xfrm>
        </p:spPr>
        <p:txBody>
          <a:bodyPr/>
          <a:lstStyle/>
          <a:p>
            <a:r>
              <a:rPr lang="es-ES" dirty="0"/>
              <a:t>CONOCIENDO LA ASIGNATURA</a:t>
            </a:r>
            <a:endParaRPr lang="es-CL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F4EC8B9-440D-B09B-14D4-52A80F4DF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623680"/>
              </p:ext>
            </p:extLst>
          </p:nvPr>
        </p:nvGraphicFramePr>
        <p:xfrm>
          <a:off x="791661" y="1643444"/>
          <a:ext cx="10217150" cy="1277556"/>
        </p:xfrm>
        <a:graphic>
          <a:graphicData uri="http://schemas.openxmlformats.org/drawingml/2006/table">
            <a:tbl>
              <a:tblPr/>
              <a:tblGrid>
                <a:gridCol w="102171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Evaluaciones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endParaRPr lang="es-CL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s-CL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UNIDAD 1</a:t>
                      </a:r>
                    </a:p>
                  </a:txBody>
                  <a:tcPr marL="56748" marR="56748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5C5DEBF-61AD-CF95-CFD1-6C9ADC995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372958"/>
              </p:ext>
            </p:extLst>
          </p:nvPr>
        </p:nvGraphicFramePr>
        <p:xfrm>
          <a:off x="791661" y="3316140"/>
          <a:ext cx="10217149" cy="1001859"/>
        </p:xfrm>
        <a:graphic>
          <a:graphicData uri="http://schemas.openxmlformats.org/drawingml/2006/table">
            <a:tbl>
              <a:tblPr firstRow="1" firstCol="1" bandRow="1"/>
              <a:tblGrid>
                <a:gridCol w="3273007">
                  <a:extLst>
                    <a:ext uri="{9D8B030D-6E8A-4147-A177-3AD203B41FA5}">
                      <a16:colId xmlns:a16="http://schemas.microsoft.com/office/drawing/2014/main" val="1898713612"/>
                    </a:ext>
                  </a:extLst>
                </a:gridCol>
                <a:gridCol w="2811567">
                  <a:extLst>
                    <a:ext uri="{9D8B030D-6E8A-4147-A177-3AD203B41FA5}">
                      <a16:colId xmlns:a16="http://schemas.microsoft.com/office/drawing/2014/main" val="2422534659"/>
                    </a:ext>
                  </a:extLst>
                </a:gridCol>
                <a:gridCol w="2404857">
                  <a:extLst>
                    <a:ext uri="{9D8B030D-6E8A-4147-A177-3AD203B41FA5}">
                      <a16:colId xmlns:a16="http://schemas.microsoft.com/office/drawing/2014/main" val="589744630"/>
                    </a:ext>
                  </a:extLst>
                </a:gridCol>
                <a:gridCol w="1727718">
                  <a:extLst>
                    <a:ext uri="{9D8B030D-6E8A-4147-A177-3AD203B41FA5}">
                      <a16:colId xmlns:a16="http://schemas.microsoft.com/office/drawing/2014/main" val="2667803249"/>
                    </a:ext>
                  </a:extLst>
                </a:gridCol>
              </a:tblGrid>
              <a:tr h="601115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Tipo de Evidencia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Situación Evaluativa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Instrumento de Evaluación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Porcentaje Ponderación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015340"/>
                  </a:ext>
                </a:extLst>
              </a:tr>
              <a:tr h="400744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800" b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PRODUCTO</a:t>
                      </a:r>
                      <a:endParaRPr lang="es-CL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800" b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ENTREGA DE ENCARGO</a:t>
                      </a:r>
                      <a:endParaRPr lang="es-CL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800" b="1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RÚBRICA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 dirty="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10%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12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7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0486-B4F4-AFE5-571F-860D9EF7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375B81C-BA96-5069-438B-29DB0F16D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85457"/>
              </p:ext>
            </p:extLst>
          </p:nvPr>
        </p:nvGraphicFramePr>
        <p:xfrm>
          <a:off x="791661" y="1643444"/>
          <a:ext cx="10217150" cy="1277556"/>
        </p:xfrm>
        <a:graphic>
          <a:graphicData uri="http://schemas.openxmlformats.org/drawingml/2006/table">
            <a:tbl>
              <a:tblPr/>
              <a:tblGrid>
                <a:gridCol w="102171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Evaluaciones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endParaRPr lang="es-CL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s-CL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UNIDAD 2</a:t>
                      </a:r>
                    </a:p>
                  </a:txBody>
                  <a:tcPr marL="56748" marR="56748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F12C280-6512-0592-5162-3D114D911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370476"/>
              </p:ext>
            </p:extLst>
          </p:nvPr>
        </p:nvGraphicFramePr>
        <p:xfrm>
          <a:off x="791661" y="3316140"/>
          <a:ext cx="10217149" cy="1088795"/>
        </p:xfrm>
        <a:graphic>
          <a:graphicData uri="http://schemas.openxmlformats.org/drawingml/2006/table">
            <a:tbl>
              <a:tblPr firstRow="1" firstCol="1" bandRow="1"/>
              <a:tblGrid>
                <a:gridCol w="3273007">
                  <a:extLst>
                    <a:ext uri="{9D8B030D-6E8A-4147-A177-3AD203B41FA5}">
                      <a16:colId xmlns:a16="http://schemas.microsoft.com/office/drawing/2014/main" val="1898713612"/>
                    </a:ext>
                  </a:extLst>
                </a:gridCol>
                <a:gridCol w="2811567">
                  <a:extLst>
                    <a:ext uri="{9D8B030D-6E8A-4147-A177-3AD203B41FA5}">
                      <a16:colId xmlns:a16="http://schemas.microsoft.com/office/drawing/2014/main" val="2422534659"/>
                    </a:ext>
                  </a:extLst>
                </a:gridCol>
                <a:gridCol w="2404857">
                  <a:extLst>
                    <a:ext uri="{9D8B030D-6E8A-4147-A177-3AD203B41FA5}">
                      <a16:colId xmlns:a16="http://schemas.microsoft.com/office/drawing/2014/main" val="589744630"/>
                    </a:ext>
                  </a:extLst>
                </a:gridCol>
                <a:gridCol w="1727718">
                  <a:extLst>
                    <a:ext uri="{9D8B030D-6E8A-4147-A177-3AD203B41FA5}">
                      <a16:colId xmlns:a16="http://schemas.microsoft.com/office/drawing/2014/main" val="2667803249"/>
                    </a:ext>
                  </a:extLst>
                </a:gridCol>
              </a:tblGrid>
              <a:tr h="601115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Tipo de Evidencia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Situación Evaluativa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Instrumento de Evaluación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Porcentaje Ponderación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015340"/>
                  </a:ext>
                </a:extLst>
              </a:tr>
              <a:tr h="400744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PRODUCTO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 dirty="0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s-ES" sz="1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ENTREGA DE ENCARGO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1600" b="1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RÚBRICA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 dirty="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20%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12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84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96D2-3FA1-7C93-178B-B9AED2CF8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283749F-C46C-9BB8-8F4B-93EC9CC42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079432"/>
              </p:ext>
            </p:extLst>
          </p:nvPr>
        </p:nvGraphicFramePr>
        <p:xfrm>
          <a:off x="791661" y="1643444"/>
          <a:ext cx="10217150" cy="1277556"/>
        </p:xfrm>
        <a:graphic>
          <a:graphicData uri="http://schemas.openxmlformats.org/drawingml/2006/table">
            <a:tbl>
              <a:tblPr/>
              <a:tblGrid>
                <a:gridCol w="102171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Evaluaciones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endParaRPr lang="es-CL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s-CL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UNIDAD 3</a:t>
                      </a:r>
                    </a:p>
                  </a:txBody>
                  <a:tcPr marL="56748" marR="56748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D48E33A-C293-7333-B0DB-BF27057D0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666024"/>
              </p:ext>
            </p:extLst>
          </p:nvPr>
        </p:nvGraphicFramePr>
        <p:xfrm>
          <a:off x="791661" y="3316140"/>
          <a:ext cx="10217149" cy="1088795"/>
        </p:xfrm>
        <a:graphic>
          <a:graphicData uri="http://schemas.openxmlformats.org/drawingml/2006/table">
            <a:tbl>
              <a:tblPr firstRow="1" firstCol="1" bandRow="1"/>
              <a:tblGrid>
                <a:gridCol w="3273007">
                  <a:extLst>
                    <a:ext uri="{9D8B030D-6E8A-4147-A177-3AD203B41FA5}">
                      <a16:colId xmlns:a16="http://schemas.microsoft.com/office/drawing/2014/main" val="1898713612"/>
                    </a:ext>
                  </a:extLst>
                </a:gridCol>
                <a:gridCol w="2811567">
                  <a:extLst>
                    <a:ext uri="{9D8B030D-6E8A-4147-A177-3AD203B41FA5}">
                      <a16:colId xmlns:a16="http://schemas.microsoft.com/office/drawing/2014/main" val="2422534659"/>
                    </a:ext>
                  </a:extLst>
                </a:gridCol>
                <a:gridCol w="2404857">
                  <a:extLst>
                    <a:ext uri="{9D8B030D-6E8A-4147-A177-3AD203B41FA5}">
                      <a16:colId xmlns:a16="http://schemas.microsoft.com/office/drawing/2014/main" val="589744630"/>
                    </a:ext>
                  </a:extLst>
                </a:gridCol>
                <a:gridCol w="1727718">
                  <a:extLst>
                    <a:ext uri="{9D8B030D-6E8A-4147-A177-3AD203B41FA5}">
                      <a16:colId xmlns:a16="http://schemas.microsoft.com/office/drawing/2014/main" val="2667803249"/>
                    </a:ext>
                  </a:extLst>
                </a:gridCol>
              </a:tblGrid>
              <a:tr h="601115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Tipo de Evidencia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Situación Evaluativa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Instrumento de Evaluación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Porcentaje Ponderación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015340"/>
                  </a:ext>
                </a:extLst>
              </a:tr>
              <a:tr h="400744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PRODUCTO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 dirty="0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s-ES" sz="1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ENTREGA DE ENCARGO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1600" b="1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RÚBRICA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 dirty="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30%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12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163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60B-7368-17B9-6352-91C7A4AC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DAC4A08-0C2E-D85D-4BBC-EEA14A3B3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258764"/>
              </p:ext>
            </p:extLst>
          </p:nvPr>
        </p:nvGraphicFramePr>
        <p:xfrm>
          <a:off x="791661" y="1643444"/>
          <a:ext cx="10217150" cy="1277556"/>
        </p:xfrm>
        <a:graphic>
          <a:graphicData uri="http://schemas.openxmlformats.org/drawingml/2006/table">
            <a:tbl>
              <a:tblPr/>
              <a:tblGrid>
                <a:gridCol w="102171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Evaluaciones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endParaRPr lang="es-CL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s-CL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EVALUACIÓN FINAL</a:t>
                      </a:r>
                    </a:p>
                  </a:txBody>
                  <a:tcPr marL="56748" marR="56748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7F66945-43EE-E44C-699B-DB5E86315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22283"/>
              </p:ext>
            </p:extLst>
          </p:nvPr>
        </p:nvGraphicFramePr>
        <p:xfrm>
          <a:off x="791661" y="3316140"/>
          <a:ext cx="10217149" cy="1088795"/>
        </p:xfrm>
        <a:graphic>
          <a:graphicData uri="http://schemas.openxmlformats.org/drawingml/2006/table">
            <a:tbl>
              <a:tblPr firstRow="1" firstCol="1" bandRow="1"/>
              <a:tblGrid>
                <a:gridCol w="3273007">
                  <a:extLst>
                    <a:ext uri="{9D8B030D-6E8A-4147-A177-3AD203B41FA5}">
                      <a16:colId xmlns:a16="http://schemas.microsoft.com/office/drawing/2014/main" val="1898713612"/>
                    </a:ext>
                  </a:extLst>
                </a:gridCol>
                <a:gridCol w="2811567">
                  <a:extLst>
                    <a:ext uri="{9D8B030D-6E8A-4147-A177-3AD203B41FA5}">
                      <a16:colId xmlns:a16="http://schemas.microsoft.com/office/drawing/2014/main" val="2422534659"/>
                    </a:ext>
                  </a:extLst>
                </a:gridCol>
                <a:gridCol w="2404857">
                  <a:extLst>
                    <a:ext uri="{9D8B030D-6E8A-4147-A177-3AD203B41FA5}">
                      <a16:colId xmlns:a16="http://schemas.microsoft.com/office/drawing/2014/main" val="589744630"/>
                    </a:ext>
                  </a:extLst>
                </a:gridCol>
                <a:gridCol w="1727718">
                  <a:extLst>
                    <a:ext uri="{9D8B030D-6E8A-4147-A177-3AD203B41FA5}">
                      <a16:colId xmlns:a16="http://schemas.microsoft.com/office/drawing/2014/main" val="2667803249"/>
                    </a:ext>
                  </a:extLst>
                </a:gridCol>
              </a:tblGrid>
              <a:tr h="601115"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Tipo de Evidencia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Situación Evaluativa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Instrumento de Evaluación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Porcentaje Ponderación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5877" marR="55877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015340"/>
                  </a:ext>
                </a:extLst>
              </a:tr>
              <a:tr h="400744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PROCESO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 dirty="0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s-ES" sz="1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ENTREGA DE ENCARGO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1600" b="1">
                          <a:effectLst/>
                          <a:latin typeface="Calibri" panose="020F0502020204030204" pitchFamily="34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RÚBRICA</a:t>
                      </a:r>
                      <a:endParaRPr lang="es-CL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CL" sz="1600" b="1" dirty="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40%</a:t>
                      </a:r>
                      <a:endParaRPr lang="es-C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12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01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C4143-F9F6-D871-6A88-08158829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C64F6-0F91-FBC1-5656-70A76D13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55" y="2829023"/>
            <a:ext cx="7795490" cy="1744716"/>
          </a:xfrm>
        </p:spPr>
        <p:txBody>
          <a:bodyPr/>
          <a:lstStyle/>
          <a:p>
            <a:pPr algn="ctr"/>
            <a:r>
              <a:rPr lang="es-MX" dirty="0"/>
              <a:t>BIBLIOGRAFÍA</a:t>
            </a:r>
          </a:p>
        </p:txBody>
      </p:sp>
      <p:pic>
        <p:nvPicPr>
          <p:cNvPr id="4098" name="Picture 2" descr="Education text book with magnifying glass — Stock Vector">
            <a:extLst>
              <a:ext uri="{FF2B5EF4-FFF2-40B4-BE49-F238E27FC236}">
                <a16:creationId xmlns:a16="http://schemas.microsoft.com/office/drawing/2014/main" id="{F3B3D123-4577-88A4-02F2-13E8216BB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676623"/>
            <a:ext cx="2133600" cy="21336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71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CAF59-9FD6-D98D-CEDE-FE012B6D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C0506D4-4D73-C578-0248-C2352417E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030460"/>
              </p:ext>
            </p:extLst>
          </p:nvPr>
        </p:nvGraphicFramePr>
        <p:xfrm>
          <a:off x="527050" y="1249744"/>
          <a:ext cx="10953750" cy="4561776"/>
        </p:xfrm>
        <a:graphic>
          <a:graphicData uri="http://schemas.openxmlformats.org/drawingml/2006/table">
            <a:tbl>
              <a:tblPr/>
              <a:tblGrid>
                <a:gridCol w="61023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  <a:gridCol w="4851400">
                  <a:extLst>
                    <a:ext uri="{9D8B030D-6E8A-4147-A177-3AD203B41FA5}">
                      <a16:colId xmlns:a16="http://schemas.microsoft.com/office/drawing/2014/main" val="71030006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RECURSOS BIBLIOGRÁFICOS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s-CL" sz="20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3366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6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Obligatorios</a:t>
                      </a:r>
                      <a:endParaRPr lang="es-CL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6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Complementarios</a:t>
                      </a:r>
                      <a:endParaRPr lang="es-CL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 algn="just">
                        <a:spcBef>
                          <a:spcPts val="85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Saxena, P. (2024). </a:t>
                      </a:r>
                      <a:r>
                        <a:rPr lang="en-US" sz="1400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Ultimate machine learning with Scikit-Learn: Unleash the power of Scikit-Learn and Python to build cutting-edge predictive modeling applications and unlock deeper insights into machine learning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(English Edition). Orange Education Pvt Ltd. </a:t>
                      </a:r>
                      <a:r>
                        <a:rPr lang="en-US" sz="1400" u="sng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hlinkClick r:id="rId3"/>
                        </a:rPr>
                        <a:t>https://ipss.odilo.us/info/ultimate-machine-learning-with-scikit-learn-unleash-the-power-of-scikit-learn-and-python-to-build-cutting-edge-predictive-modeling-applications-and-unlock-deeper-insights-into-machine-learning-english-edition-02760950</a:t>
                      </a:r>
                      <a:endParaRPr lang="es-CL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Curso</a:t>
                      </a:r>
                      <a:r>
                        <a:rPr lang="en-US" sz="1400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Art of Machine Learning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s-CL" sz="1400" u="sng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hlinkClick r:id="rId4"/>
                        </a:rPr>
                        <a:t>https://ipss.odilo.us/info/the-art-of-machine-learning-02596413</a:t>
                      </a:r>
                      <a:endParaRPr lang="es-CL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201386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Raschka, S. (2023). </a:t>
                      </a:r>
                      <a:r>
                        <a:rPr lang="en-US" sz="14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Machine learning with PyTorch and Scikit-Learn: Develop machine learning and deep learning models with Python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 Packt Publishing. </a:t>
                      </a:r>
                      <a:r>
                        <a:rPr lang="en-US" sz="14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hlinkClick r:id="rId5"/>
                        </a:rPr>
                        <a:t>https://ipss.odilo.us/info/machine-learning-with-pytorch-and-scikit-learn-develop-machine-learning-and-deep-learning-models-with-python-02597032</a:t>
                      </a:r>
                      <a:endParaRPr lang="es-CL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i="1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Curso</a:t>
                      </a:r>
                      <a:r>
                        <a:rPr lang="en-US" sz="1400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: The Machine Learning Solutions Architect Handbook: Create machine learning platforms to run solutions in an enterprise setting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s-CL" sz="1400" u="sng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hlinkClick r:id="rId6"/>
                        </a:rPr>
                        <a:t>https://ipss.odilo.us/info/the-machine-learning-solutions-architect-handbook-create-machine-learning-platforms-to-run-solutions-in-an-enterprise-setting-02594569</a:t>
                      </a:r>
                      <a:endParaRPr lang="es-CL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649602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 marR="164465" algn="just">
                        <a:lnSpc>
                          <a:spcPct val="106000"/>
                        </a:lnSpc>
                        <a:spcBef>
                          <a:spcPts val="85"/>
                        </a:spcBef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Bobadilla Sancho, J. (2020). </a:t>
                      </a:r>
                      <a:r>
                        <a:rPr lang="en-US" sz="14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Machine learning y deep learning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RA-MA Editorial. </a:t>
                      </a:r>
                      <a:r>
                        <a:rPr lang="es-CL" sz="1400" u="sng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hlinkClick r:id="rId7"/>
                        </a:rPr>
                        <a:t>https://ipss.odilo.us/info/machine-learning-y-deep-learning-02596995</a:t>
                      </a:r>
                      <a:endParaRPr lang="es-CL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Müller, A. C., &amp; Guido, S. (2023). </a:t>
                      </a:r>
                      <a:r>
                        <a:rPr lang="es-CL" sz="1400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Introducción al machine </a:t>
                      </a:r>
                      <a:r>
                        <a:rPr lang="es-CL" sz="1400" i="1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learning</a:t>
                      </a:r>
                      <a:r>
                        <a:rPr lang="es-CL" sz="1400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con Python: Una guía para científicos de datos</a:t>
                      </a:r>
                      <a:r>
                        <a:rPr lang="es-CL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O'Reilly Media. </a:t>
                      </a:r>
                      <a:r>
                        <a:rPr lang="en-US" sz="1400" i="1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Curso</a:t>
                      </a:r>
                      <a:r>
                        <a:rPr lang="en-US" sz="1400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: Machine learning: How machines learn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sz="1400" u="sng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hlinkClick r:id="rId8"/>
                        </a:rPr>
                        <a:t>https://ipss.odilo.us/info/machine-learning-how-machines-learn-02596294</a:t>
                      </a:r>
                      <a:endParaRPr lang="es-CL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575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020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24E74-D2C6-1AEA-E864-9EFA4DA3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79DE2-E2CC-670A-47E0-896690CD4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2871448"/>
            <a:ext cx="7795490" cy="1744716"/>
          </a:xfrm>
        </p:spPr>
        <p:txBody>
          <a:bodyPr/>
          <a:lstStyle/>
          <a:p>
            <a:pPr algn="ctr"/>
            <a:r>
              <a:rPr lang="es-MX" dirty="0"/>
              <a:t>RECURSOS EN AULA </a:t>
            </a:r>
            <a:br>
              <a:rPr lang="es-MX" dirty="0"/>
            </a:br>
            <a:r>
              <a:rPr lang="es-MX" dirty="0"/>
              <a:t>POR UNIDAD</a:t>
            </a:r>
          </a:p>
        </p:txBody>
      </p:sp>
      <p:pic>
        <p:nvPicPr>
          <p:cNvPr id="5122" name="Picture 2" descr="Ebooks with cursor arrow line and fill style icon vector design — Stock Vector">
            <a:extLst>
              <a:ext uri="{FF2B5EF4-FFF2-40B4-BE49-F238E27FC236}">
                <a16:creationId xmlns:a16="http://schemas.microsoft.com/office/drawing/2014/main" id="{4AC42224-8CDD-657D-F403-0240A749B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091" y="2739351"/>
            <a:ext cx="2008910" cy="200891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643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C1B82-825C-CB45-529C-59364843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C3B042F-1A36-2EA0-FA58-0EA13D825B80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1249744"/>
          <a:ext cx="10953750" cy="3341251"/>
        </p:xfrm>
        <a:graphic>
          <a:graphicData uri="http://schemas.openxmlformats.org/drawingml/2006/table">
            <a:tbl>
              <a:tblPr/>
              <a:tblGrid>
                <a:gridCol w="10953750">
                  <a:extLst>
                    <a:ext uri="{9D8B030D-6E8A-4147-A177-3AD203B41FA5}">
                      <a16:colId xmlns:a16="http://schemas.microsoft.com/office/drawing/2014/main" val="2259869617"/>
                    </a:ext>
                  </a:extLst>
                </a:gridCol>
              </a:tblGrid>
              <a:tr h="5980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Recursos por unidad</a:t>
                      </a:r>
                      <a:endParaRPr lang="es-CL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748" marR="56748" marT="0" marB="0" anchor="ctr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6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49255"/>
                  </a:ext>
                </a:extLst>
              </a:tr>
              <a:tr h="679505">
                <a:tc>
                  <a:txBody>
                    <a:bodyPr/>
                    <a:lstStyle/>
                    <a:p>
                      <a:pPr lvl="0"/>
                      <a:endParaRPr lang="es-CL" dirty="0">
                        <a:effectLst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effectLst/>
                        </a:rPr>
                        <a:t>Apunte activador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effectLst/>
                        </a:rPr>
                        <a:t>Foro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effectLst/>
                        </a:rPr>
                        <a:t>Cuaderno de Ejercitación (practica tu aprendizaje)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effectLst/>
                        </a:rPr>
                        <a:t>URL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effectLst/>
                        </a:rPr>
                        <a:t>Video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effectLst/>
                        </a:rPr>
                        <a:t>Cuestionario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effectLst/>
                        </a:rPr>
                        <a:t>Infografía resumen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es-CL" dirty="0">
                        <a:effectLst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>
                          <a:effectLst/>
                        </a:rPr>
                        <a:t>Evaluación</a:t>
                      </a:r>
                    </a:p>
                  </a:txBody>
                  <a:tcPr marL="56748" marR="56748" marT="0" marB="0">
                    <a:lnL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01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574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65E07-D3CF-6780-5E9F-8416C20B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665E3-CD1C-9935-0C0F-D7B425DCB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054" y="3429458"/>
            <a:ext cx="10335946" cy="758791"/>
          </a:xfrm>
        </p:spPr>
        <p:txBody>
          <a:bodyPr>
            <a:normAutofit/>
          </a:bodyPr>
          <a:lstStyle/>
          <a:p>
            <a:r>
              <a:rPr lang="es-MX" dirty="0">
                <a:latin typeface="Gotham"/>
              </a:rPr>
              <a:t>INTELIGENCIA ARTIFICIAL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7BD40D-D79C-813D-693A-FC0A20475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054" y="4475650"/>
            <a:ext cx="5113194" cy="6356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s-MX" dirty="0">
                <a:latin typeface="Gotham"/>
              </a:rPr>
              <a:t>PRESENTACIÓN DE LA ASIGNATURA</a:t>
            </a:r>
          </a:p>
        </p:txBody>
      </p:sp>
    </p:spTree>
    <p:extLst>
      <p:ext uri="{BB962C8B-B14F-4D97-AF65-F5344CB8AC3E}">
        <p14:creationId xmlns:p14="http://schemas.microsoft.com/office/powerpoint/2010/main" val="243643947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Institucional CIISA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Institucional-2021" id="{D6758B44-4591-4742-9426-1DF69164099C}" vid="{2BD42133-B291-4B97-8F0A-E5C885E715A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D8E051C034CD4AB7AA71D698AE8B30" ma:contentTypeVersion="14" ma:contentTypeDescription="Crear nuevo documento." ma:contentTypeScope="" ma:versionID="ba84be2a6c96e4e44c55bd7316411ed7">
  <xsd:schema xmlns:xsd="http://www.w3.org/2001/XMLSchema" xmlns:xs="http://www.w3.org/2001/XMLSchema" xmlns:p="http://schemas.microsoft.com/office/2006/metadata/properties" xmlns:ns2="bda1ad10-d4bb-41ec-a603-c5fb97d92d9b" xmlns:ns3="a78bb83c-f79f-4baf-ae30-fdf209467eca" targetNamespace="http://schemas.microsoft.com/office/2006/metadata/properties" ma:root="true" ma:fieldsID="41ef44b21c7357b5eadf57dcc10076a1" ns2:_="" ns3:_="">
    <xsd:import namespace="bda1ad10-d4bb-41ec-a603-c5fb97d92d9b"/>
    <xsd:import namespace="a78bb83c-f79f-4baf-ae30-fdf209467ec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1ad10-d4bb-41ec-a603-c5fb97d92d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06eb44f-0cc1-4f80-a712-3bf3176deb3c}" ma:internalName="TaxCatchAll" ma:showField="CatchAllData" ma:web="bda1ad10-d4bb-41ec-a603-c5fb97d92d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bb83c-f79f-4baf-ae30-fdf209467e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5d370a8b-1d73-4c2e-b75a-e5292e92d2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a1ad10-d4bb-41ec-a603-c5fb97d92d9b" xsi:nil="true"/>
    <lcf76f155ced4ddcb4097134ff3c332f xmlns="a78bb83c-f79f-4baf-ae30-fdf209467eca">
      <Terms xmlns="http://schemas.microsoft.com/office/infopath/2007/PartnerControls"/>
    </lcf76f155ced4ddcb4097134ff3c332f>
    <SharedWithUsers xmlns="bda1ad10-d4bb-41ec-a603-c5fb97d92d9b">
      <UserInfo>
        <DisplayName/>
        <AccountId xsi:nil="true"/>
        <AccountType/>
      </UserInfo>
    </SharedWithUsers>
    <MediaLengthInSeconds xmlns="a78bb83c-f79f-4baf-ae30-fdf209467eca" xsi:nil="true"/>
  </documentManagement>
</p:properties>
</file>

<file path=customXml/itemProps1.xml><?xml version="1.0" encoding="utf-8"?>
<ds:datastoreItem xmlns:ds="http://schemas.openxmlformats.org/officeDocument/2006/customXml" ds:itemID="{4661082E-0D03-494C-9BAA-97B6381D5E43}">
  <ds:schemaRefs>
    <ds:schemaRef ds:uri="a78bb83c-f79f-4baf-ae30-fdf209467eca"/>
    <ds:schemaRef ds:uri="bda1ad10-d4bb-41ec-a603-c5fb97d92d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7F4E0E8-DCD7-4FED-941D-0AB556AD80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D21582-FC00-409E-B0FE-B85F4A2AD932}">
  <ds:schemaRefs>
    <ds:schemaRef ds:uri="http://purl.org/dc/elements/1.1/"/>
    <ds:schemaRef ds:uri="a78bb83c-f79f-4baf-ae30-fdf209467eca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bda1ad10-d4bb-41ec-a603-c5fb97d92d9b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Plantilla_Institucional-2021_A</Template>
  <TotalTime>181</TotalTime>
  <Words>604</Words>
  <Application>Microsoft Macintosh PowerPoint</Application>
  <PresentationFormat>Panorámica</PresentationFormat>
  <Paragraphs>144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Gotham</vt:lpstr>
      <vt:lpstr>Arial</vt:lpstr>
      <vt:lpstr>Calibri</vt:lpstr>
      <vt:lpstr>Times New Roman</vt:lpstr>
      <vt:lpstr>Plantilla Institucional CIISA</vt:lpstr>
      <vt:lpstr>INTELIGENCIA ARTIFICIAL</vt:lpstr>
      <vt:lpstr>CONOCIENDO LA ASIGNATURA</vt:lpstr>
      <vt:lpstr>CONOCIENDO LA ASIGNATURA</vt:lpstr>
      <vt:lpstr>CONTENIDOS CONCEPTUALES</vt:lpstr>
      <vt:lpstr>Presentación de PowerPoint</vt:lpstr>
      <vt:lpstr>Presentación de PowerPoint</vt:lpstr>
      <vt:lpstr>Presentación de PowerPoint</vt:lpstr>
      <vt:lpstr>EVALUACIONES</vt:lpstr>
      <vt:lpstr>CONOCIENDO LA ASIGNATURA</vt:lpstr>
      <vt:lpstr>Presentación de PowerPoint</vt:lpstr>
      <vt:lpstr>Presentación de PowerPoint</vt:lpstr>
      <vt:lpstr>Presentación de PowerPoint</vt:lpstr>
      <vt:lpstr>BIBLIOGRAFÍA</vt:lpstr>
      <vt:lpstr>Presentación de PowerPoint</vt:lpstr>
      <vt:lpstr>RECURSOS EN AULA  POR UNIDAD</vt:lpstr>
      <vt:lpstr>Presentación de PowerPoint</vt:lpstr>
      <vt:lpstr>INTELIGENCIA ARTIFICIAL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creator>César Díaz</dc:creator>
  <cp:lastModifiedBy>Maria Cecilia Godoy Morales</cp:lastModifiedBy>
  <cp:revision>300</cp:revision>
  <dcterms:created xsi:type="dcterms:W3CDTF">2023-07-19T16:06:31Z</dcterms:created>
  <dcterms:modified xsi:type="dcterms:W3CDTF">2025-06-16T18:19:46Z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0x0101009CD8E051C034CD4AB7AA71D698AE8B30</vt:lpwstr>
  </property>
  <property fmtid="{D5CDD505-2E9C-101B-9397-08002B2CF9AE}" pid="3" name="MediaServiceImageTags">
    <vt:lpwstr/>
  </property>
  <property fmtid="{D5CDD505-2E9C-101B-9397-08002B2CF9AE}" pid="4" name="Order">
    <vt:r8>217300</vt:r8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