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21" roundtripDataSignature="AMtx7mgj0+aTp0OdiV24gJQ6SrN3Ep8e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4C5B27-2F50-4A3E-9CBC-65ADFA7E7654}">
  <a:tblStyle styleId="{AE4C5B27-2F50-4A3E-9CBC-65ADFA7E765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 name="Google Shape;1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g11e722cc032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 name="Google Shape;25;g11e722cc032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g11e722cc032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HTML, es una sigla en inglés de HyperText Markup Language (lenguaje de marcas de hipertexto) hace referencia al lenguaje de marcado para la elaboración de páginas web.</a:t>
            </a:r>
            <a:endParaRPr/>
          </a:p>
          <a:p>
            <a:pPr indent="0" lvl="0" marL="0" rtl="0" algn="l">
              <a:lnSpc>
                <a:spcPct val="100000"/>
              </a:lnSpc>
              <a:spcBef>
                <a:spcPts val="0"/>
              </a:spcBef>
              <a:spcAft>
                <a:spcPts val="0"/>
              </a:spcAft>
              <a:buSzPts val="1100"/>
              <a:buNone/>
            </a:pPr>
            <a:r>
              <a:rPr lang="es-CL"/>
              <a:t>Esto es un estándar que sirve de referencia del software que conecta con la elaboración de páginas web en sus diferentes versiones, define una estructura básica y un código (denominado código HTML) para la definición de contenido de una página web, como texto, imágenes, videos, juegos, entre otros</a:t>
            </a:r>
            <a:endParaRPr/>
          </a:p>
          <a:p>
            <a:pPr indent="0" lvl="0" marL="0" rtl="0" algn="l">
              <a:lnSpc>
                <a:spcPct val="100000"/>
              </a:lnSpc>
              <a:spcBef>
                <a:spcPts val="0"/>
              </a:spcBef>
              <a:spcAft>
                <a:spcPts val="0"/>
              </a:spcAft>
              <a:buSzPts val="1100"/>
              <a:buNone/>
            </a:pPr>
            <a:r>
              <a:rPr lang="es-CL"/>
              <a:t>Las páginas web pueden estar almacenadas en un equipo local o en un servidor web remoto. El acceso a las páginas web es realizado mediante una transferencia desde servidores, utilizando el protocolo de transferencia de hipertexto HTTP</a:t>
            </a:r>
            <a:endParaRPr/>
          </a:p>
        </p:txBody>
      </p:sp>
      <p:sp>
        <p:nvSpPr>
          <p:cNvPr id="32" name="Google Shape;32;g11e722cc032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g11da12fab08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 name="Google Shape;38;g11da12fab08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11da12fab08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 name="Google Shape;44;g11da12fab08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11da12fab08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AutoNum type="arabicPeriod"/>
            </a:pPr>
            <a:r>
              <a:rPr lang="es-CL"/>
              <a:t>&lt;!DOCTYPE html&gt; — el tipo de documento. Es un preámbulo requerido. Anteriormente, cuando HTML era joven (cerca de 1991/2), los tipos de documento actuaban como vínculos a un conjunto de reglas que el código HTML de la página debía seguir para ser considerado bueno, lo que podía significar la verificación automática de errores y algunas otras cosas de utilidad. Sin embargo, hoy día es simplemente un artefacto antiguo que a nadie le importa, pero que debe ser incluido para que todo funcione correctamente. Por ahora, eso es todo lo que necesitas saber.</a:t>
            </a:r>
            <a:endParaRPr/>
          </a:p>
          <a:p>
            <a:pPr indent="-298450" lvl="0" marL="457200" rtl="0" algn="l">
              <a:lnSpc>
                <a:spcPct val="100000"/>
              </a:lnSpc>
              <a:spcBef>
                <a:spcPts val="0"/>
              </a:spcBef>
              <a:spcAft>
                <a:spcPts val="0"/>
              </a:spcAft>
              <a:buSzPts val="1100"/>
              <a:buAutoNum type="arabicPeriod"/>
            </a:pPr>
            <a:r>
              <a:rPr lang="es-CL"/>
              <a:t>&lt;html&gt;&lt;/html&gt; — el elemento &lt;html&gt;. Este elemento encierra todo el contenido de la página entera y, a veces, se le conoce como el elemento raíz (root element).</a:t>
            </a:r>
            <a:endParaRPr/>
          </a:p>
          <a:p>
            <a:pPr indent="-298450" lvl="0" marL="457200" rtl="0" algn="l">
              <a:lnSpc>
                <a:spcPct val="100000"/>
              </a:lnSpc>
              <a:spcBef>
                <a:spcPts val="0"/>
              </a:spcBef>
              <a:spcAft>
                <a:spcPts val="0"/>
              </a:spcAft>
              <a:buSzPts val="1100"/>
              <a:buAutoNum type="arabicPeriod"/>
            </a:pPr>
            <a:r>
              <a:rPr lang="es-CL"/>
              <a:t>&lt;head&gt;&lt;/head&gt; — el elemento &lt;head&gt;. Este elemento actúa como un contenedor de todo aquello que quieres incluir en la página HTML que no es contenido visible por los visitantes de la página. Incluye cosas como palabras clave (keywords), una descripción de la página que quieres que aparezca en resultados de búsquedas, código CSS para dar estilo al contenido, declaraciones del juego de caracteres, etc.</a:t>
            </a:r>
            <a:endParaRPr/>
          </a:p>
          <a:p>
            <a:pPr indent="-298450" lvl="0" marL="457200" rtl="0" algn="l">
              <a:lnSpc>
                <a:spcPct val="100000"/>
              </a:lnSpc>
              <a:spcBef>
                <a:spcPts val="0"/>
              </a:spcBef>
              <a:spcAft>
                <a:spcPts val="0"/>
              </a:spcAft>
              <a:buSzPts val="1100"/>
              <a:buAutoNum type="arabicPeriod"/>
            </a:pPr>
            <a:r>
              <a:rPr lang="es-CL"/>
              <a:t>&lt;meta charset="utf-8"&gt; — &lt;meta&gt;. Este elemento establece el juego de caracteres que tu documento usará en utf-8, que incluye casi todos los caracteres de todos los idiomas humanos. Básicamente, puede manejar cualquier contenido de texto que puedas incluir. No hay razón para no establecerlo, y puede evitar problemas en el futuro.</a:t>
            </a:r>
            <a:endParaRPr/>
          </a:p>
          <a:p>
            <a:pPr indent="-298450" lvl="0" marL="457200" rtl="0" algn="l">
              <a:lnSpc>
                <a:spcPct val="100000"/>
              </a:lnSpc>
              <a:spcBef>
                <a:spcPts val="0"/>
              </a:spcBef>
              <a:spcAft>
                <a:spcPts val="0"/>
              </a:spcAft>
              <a:buSzPts val="1100"/>
              <a:buAutoNum type="arabicPeriod"/>
            </a:pPr>
            <a:r>
              <a:rPr lang="es-CL"/>
              <a:t>&lt;title&gt;&lt;/title&gt; — el elemento &lt;title&gt; establece el título de tu página, que es el título que aparece en la pestaña o en la barra de título del navegador cuando la página es cargada, y se usa para describir la página cuando es añadida a los marcadores o como favorita.</a:t>
            </a:r>
            <a:endParaRPr/>
          </a:p>
          <a:p>
            <a:pPr indent="-298450" lvl="0" marL="457200" rtl="0" algn="l">
              <a:lnSpc>
                <a:spcPct val="100000"/>
              </a:lnSpc>
              <a:spcBef>
                <a:spcPts val="0"/>
              </a:spcBef>
              <a:spcAft>
                <a:spcPts val="0"/>
              </a:spcAft>
              <a:buSzPts val="1100"/>
              <a:buAutoNum type="arabicPeriod"/>
            </a:pPr>
            <a:r>
              <a:rPr lang="es-CL"/>
              <a:t>&lt;body&gt;&lt;/body&gt; — el elemento &lt;body&gt;. Encierra todo el contenido que deseas mostrar a los usuarios web que visiten tu página, ya sea texto, imágenes, videos, juegos, pistas de audio reproducibles, y demás.</a:t>
            </a:r>
            <a:endParaRPr/>
          </a:p>
          <a:p>
            <a:pPr indent="0" lvl="0" marL="0" rtl="0" algn="l">
              <a:lnSpc>
                <a:spcPct val="100000"/>
              </a:lnSpc>
              <a:spcBef>
                <a:spcPts val="0"/>
              </a:spcBef>
              <a:spcAft>
                <a:spcPts val="0"/>
              </a:spcAft>
              <a:buSzPts val="1100"/>
              <a:buNone/>
            </a:pPr>
            <a:r>
              <a:t/>
            </a:r>
            <a:endParaRPr/>
          </a:p>
        </p:txBody>
      </p:sp>
      <p:sp>
        <p:nvSpPr>
          <p:cNvPr id="50" name="Google Shape;50;g11da12fab08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1da12fab08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AutoNum type="arabicPeriod"/>
            </a:pPr>
            <a:r>
              <a:rPr lang="es-CL"/>
              <a:t>&lt;nav&gt;	El elemento HTML &lt;nav&gt; representa una sección de una página cuyo propósito es proporcionar enlaces de navegación, ya sea dentro del documento actual o a otros documentos. Ejemplos comunes de secciones de navegación son menús, tablas de contenido e índices.</a:t>
            </a:r>
            <a:endParaRPr/>
          </a:p>
          <a:p>
            <a:pPr indent="-298450" lvl="0" marL="457200" rtl="0" algn="l">
              <a:lnSpc>
                <a:spcPct val="100000"/>
              </a:lnSpc>
              <a:spcBef>
                <a:spcPts val="0"/>
              </a:spcBef>
              <a:spcAft>
                <a:spcPts val="0"/>
              </a:spcAft>
              <a:buSzPts val="1100"/>
              <a:buAutoNum type="arabicPeriod"/>
            </a:pPr>
            <a:r>
              <a:rPr lang="es-CL"/>
              <a:t>&lt;article&gt; El Elemento article de HTML (&lt;article&gt;) representa una composición auto-contenida en un documento, página, una aplicación o en el sitio, que se destina a distribuir de forma independiente o reutilizable, por ejemplo, en la indicación. Podría ser un mensaje en un foro, un artículo de una revista o un periódico, una entrada de blog, un comentario de un usuario, un widget interactivo o gadget, o cualquier otro elemento independiente del contenido.</a:t>
            </a:r>
            <a:endParaRPr/>
          </a:p>
          <a:p>
            <a:pPr indent="-298450" lvl="0" marL="457200" rtl="0" algn="l">
              <a:lnSpc>
                <a:spcPct val="100000"/>
              </a:lnSpc>
              <a:spcBef>
                <a:spcPts val="0"/>
              </a:spcBef>
              <a:spcAft>
                <a:spcPts val="0"/>
              </a:spcAft>
              <a:buSzPts val="1100"/>
              <a:buAutoNum type="arabicPeriod"/>
            </a:pPr>
            <a:r>
              <a:rPr lang="es-CL"/>
              <a:t>&lt;section&gt;	El elemento de HTML section (&lt;section&gt;) representa una sección genérica de un documento. Sirve para determinar qué contenido corresponde a qué parte de un esquema. Piensa en el esquema como en el índice de contenido de un libro; un tema común y subsecciones relacionadas.  Es, por lo tanto, una etiquéta semántica. Su funcionalidad principal es estructurar semánticamente un documento a la hora de ser representado por parte de un agente usuario. Por ejemplo, un agente de usuario que represente el documento en voz, podría exponer al usuario el índice de contenido por niveles para navegar rápidamente por las distintas partes.</a:t>
            </a:r>
            <a:endParaRPr/>
          </a:p>
          <a:p>
            <a:pPr indent="-298450" lvl="0" marL="457200" rtl="0" algn="l">
              <a:lnSpc>
                <a:spcPct val="100000"/>
              </a:lnSpc>
              <a:spcBef>
                <a:spcPts val="0"/>
              </a:spcBef>
              <a:spcAft>
                <a:spcPts val="0"/>
              </a:spcAft>
              <a:buSzPts val="1100"/>
              <a:buAutoNum type="arabicPeriod"/>
            </a:pPr>
            <a:r>
              <a:rPr lang="es-CL"/>
              <a:t>&lt;aside&gt;	El elemento HTML &lt;aside&gt; representa una sección de una página que consiste en contenido que está indirectamente relacionado con el contenido principal del documento. Estas secciones son a menudo representadas como barras laterales o como inserciones y contienen una explicación al margen como una definición de glosario, elementos relacionados indirectamente, como publicidad, la biografía del autor, o en aplicaciones web, la información de perfil o enlaces a blogs relacionados.</a:t>
            </a:r>
            <a:endParaRPr/>
          </a:p>
          <a:p>
            <a:pPr indent="-298450" lvl="0" marL="457200" rtl="0" algn="l">
              <a:lnSpc>
                <a:spcPct val="100000"/>
              </a:lnSpc>
              <a:spcBef>
                <a:spcPts val="0"/>
              </a:spcBef>
              <a:spcAft>
                <a:spcPts val="0"/>
              </a:spcAft>
              <a:buSzPts val="1100"/>
              <a:buAutoNum type="arabicPeriod"/>
            </a:pPr>
            <a:r>
              <a:rPr lang="es-CL"/>
              <a:t>&lt;footer&gt;	El Elemento HTML Footer (&lt;footer&gt;) representa un pie de página para el contenido de sección más cercano o el elemento  raíz de sección (p.e, su ancestro mas cercano &lt;article&gt;, &lt;aside&gt;, &lt;nav&gt;, &lt;section&gt;,&lt;blockquote&gt;, &lt;body&gt;, &lt;details&gt;, &lt;fieldset&gt;, &lt;figure&gt;, &lt;td&gt;). Un pie de página típicamente contiene información acerca de el autor de la sección, datos de derechos de autor o enlaces a documentos relacionados.</a:t>
            </a:r>
            <a:endParaRPr/>
          </a:p>
          <a:p>
            <a:pPr indent="-298450" lvl="0" marL="457200" rtl="0" algn="l">
              <a:lnSpc>
                <a:spcPct val="100000"/>
              </a:lnSpc>
              <a:spcBef>
                <a:spcPts val="0"/>
              </a:spcBef>
              <a:spcAft>
                <a:spcPts val="0"/>
              </a:spcAft>
              <a:buSzPts val="1100"/>
              <a:buAutoNum type="arabicPeriod"/>
            </a:pPr>
            <a:r>
              <a:rPr lang="es-CL"/>
              <a:t>El elemento HTML &lt;input&gt; se usa para crear controles interactivos para formularios basados en la web con el fin de recibir datos del usuario.Hay disponible una amplia variedad de tipos de datos de entrada y widgets de control, que dependen del dispositivo y el agente de usuario (user agent).El elemento &lt;input&gt; es uno de los más potentes y complejos en todo HTML debido a la gran cantidad de combinaciones de tipos y atributos de entrada.</a:t>
            </a:r>
            <a:endParaRPr/>
          </a:p>
          <a:p>
            <a:pPr indent="0" lvl="0" marL="0" rtl="0" algn="l">
              <a:lnSpc>
                <a:spcPct val="100000"/>
              </a:lnSpc>
              <a:spcBef>
                <a:spcPts val="0"/>
              </a:spcBef>
              <a:spcAft>
                <a:spcPts val="0"/>
              </a:spcAft>
              <a:buSzPts val="1100"/>
              <a:buNone/>
            </a:pPr>
            <a:r>
              <a:t/>
            </a:r>
            <a:endParaRPr/>
          </a:p>
        </p:txBody>
      </p:sp>
      <p:sp>
        <p:nvSpPr>
          <p:cNvPr id="56" name="Google Shape;56;g11da12fab08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1da12fab08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AutoNum type="arabicPeriod"/>
            </a:pPr>
            <a:r>
              <a:rPr lang="es-CL"/>
              <a:t>&lt;nav&gt;	El elemento HTML &lt;nav&gt; representa una sección de una página cuyo propósito es proporcionar enlaces de navegación, ya sea dentro del documento actual o a otros documentos. Ejemplos comunes de secciones de navegación son menús, tablas de contenido e índices.</a:t>
            </a:r>
            <a:endParaRPr/>
          </a:p>
          <a:p>
            <a:pPr indent="-298450" lvl="0" marL="457200" rtl="0" algn="l">
              <a:lnSpc>
                <a:spcPct val="100000"/>
              </a:lnSpc>
              <a:spcBef>
                <a:spcPts val="0"/>
              </a:spcBef>
              <a:spcAft>
                <a:spcPts val="0"/>
              </a:spcAft>
              <a:buSzPts val="1100"/>
              <a:buAutoNum type="arabicPeriod"/>
            </a:pPr>
            <a:r>
              <a:rPr lang="es-CL"/>
              <a:t>&lt;article&gt; El Elemento article de HTML (&lt;article&gt;) representa una composición auto-contenida en un documento, página, una aplicación o en el sitio, que se destina a distribuir de forma independiente o reutilizable, por ejemplo, en la indicación. Podría ser un mensaje en un foro, un artículo de una revista o un periódico, una entrada de blog, un comentario de un usuario, un widget interactivo o gadget, o cualquier otro elemento independiente del contenido.</a:t>
            </a:r>
            <a:endParaRPr/>
          </a:p>
          <a:p>
            <a:pPr indent="-298450" lvl="0" marL="457200" rtl="0" algn="l">
              <a:lnSpc>
                <a:spcPct val="100000"/>
              </a:lnSpc>
              <a:spcBef>
                <a:spcPts val="0"/>
              </a:spcBef>
              <a:spcAft>
                <a:spcPts val="0"/>
              </a:spcAft>
              <a:buSzPts val="1100"/>
              <a:buAutoNum type="arabicPeriod"/>
            </a:pPr>
            <a:r>
              <a:rPr lang="es-CL"/>
              <a:t>&lt;section&gt;	El elemento de HTML section (&lt;section&gt;) representa una sección genérica de un documento. Sirve para determinar qué contenido corresponde a qué parte de un esquema. Piensa en el esquema como en el índice de contenido de un libro; un tema común y subsecciones relacionadas.  Es, por lo tanto, una etiquéta semántica. Su funcionalidad principal es estructurar semánticamente un documento a la hora de ser representado por parte de un agente usuario. Por ejemplo, un agente de usuario que represente el documento en voz, podría exponer al usuario el índice de contenido por niveles para navegar rápidamente por las distintas partes.</a:t>
            </a:r>
            <a:endParaRPr/>
          </a:p>
          <a:p>
            <a:pPr indent="-298450" lvl="0" marL="457200" rtl="0" algn="l">
              <a:lnSpc>
                <a:spcPct val="100000"/>
              </a:lnSpc>
              <a:spcBef>
                <a:spcPts val="0"/>
              </a:spcBef>
              <a:spcAft>
                <a:spcPts val="0"/>
              </a:spcAft>
              <a:buSzPts val="1100"/>
              <a:buAutoNum type="arabicPeriod"/>
            </a:pPr>
            <a:r>
              <a:rPr lang="es-CL"/>
              <a:t>&lt;aside&gt;	El elemento HTML &lt;aside&gt; representa una sección de una página que consiste en contenido que está indirectamente relacionado con el contenido principal del documento. Estas secciones son a menudo representadas como barras laterales o como inserciones y contienen una explicación al margen como una definición de glosario, elementos relacionados indirectamente, como publicidad, la biografía del autor, o en aplicaciones web, la información de perfil o enlaces a blogs relacionados.</a:t>
            </a:r>
            <a:endParaRPr/>
          </a:p>
          <a:p>
            <a:pPr indent="-298450" lvl="0" marL="457200" rtl="0" algn="l">
              <a:lnSpc>
                <a:spcPct val="100000"/>
              </a:lnSpc>
              <a:spcBef>
                <a:spcPts val="0"/>
              </a:spcBef>
              <a:spcAft>
                <a:spcPts val="0"/>
              </a:spcAft>
              <a:buSzPts val="1100"/>
              <a:buAutoNum type="arabicPeriod"/>
            </a:pPr>
            <a:r>
              <a:rPr lang="es-CL"/>
              <a:t>&lt;footer&gt;	El Elemento HTML Footer (&lt;footer&gt;) representa un pie de página para el contenido de sección más cercano o el elemento  raíz de sección (p.e, su ancestro mas cercano &lt;article&gt;, &lt;aside&gt;, &lt;nav&gt;, &lt;section&gt;,&lt;blockquote&gt;, &lt;body&gt;, &lt;details&gt;, &lt;fieldset&gt;, &lt;figure&gt;, &lt;td&gt;). Un pie de página típicamente contiene información acerca de el autor de la sección, datos de derechos de autor o enlaces a documentos relacionados.</a:t>
            </a:r>
            <a:endParaRPr/>
          </a:p>
          <a:p>
            <a:pPr indent="-298450" lvl="0" marL="457200" rtl="0" algn="l">
              <a:lnSpc>
                <a:spcPct val="100000"/>
              </a:lnSpc>
              <a:spcBef>
                <a:spcPts val="0"/>
              </a:spcBef>
              <a:spcAft>
                <a:spcPts val="0"/>
              </a:spcAft>
              <a:buSzPts val="1100"/>
              <a:buAutoNum type="arabicPeriod"/>
            </a:pPr>
            <a:r>
              <a:rPr lang="es-CL"/>
              <a:t>El elemento HTML &lt;input&gt; se usa para crear controles interactivos para formularios basados en la web con el fin de recibir datos del usuario.Hay disponible una amplia variedad de tipos de datos de entrada y widgets de control, que dependen del dispositivo y el agente de usuario (user agent).El elemento &lt;input&gt; es uno de los más potentes y complejos en todo HTML debido a la gran cantidad de combinaciones de tipos y atributos de entrada.</a:t>
            </a:r>
            <a:endParaRPr/>
          </a:p>
          <a:p>
            <a:pPr indent="0" lvl="0" marL="0" rtl="0" algn="l">
              <a:lnSpc>
                <a:spcPct val="100000"/>
              </a:lnSpc>
              <a:spcBef>
                <a:spcPts val="0"/>
              </a:spcBef>
              <a:spcAft>
                <a:spcPts val="0"/>
              </a:spcAft>
              <a:buSzPts val="1100"/>
              <a:buNone/>
            </a:pPr>
            <a:r>
              <a:t/>
            </a:r>
            <a:endParaRPr/>
          </a:p>
        </p:txBody>
      </p:sp>
      <p:sp>
        <p:nvSpPr>
          <p:cNvPr id="62" name="Google Shape;62;g11da12fab08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1da12fab08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AutoNum type="arabicPeriod"/>
            </a:pPr>
            <a:r>
              <a:rPr lang="es-CL"/>
              <a:t>&lt;nav&gt;	El elemento HTML &lt;nav&gt; representa una sección de una página cuyo propósito es proporcionar enlaces de navegación, ya sea dentro del documento actual o a otros documentos. Ejemplos comunes de secciones de navegación son menús, tablas de contenido e índices.</a:t>
            </a:r>
            <a:endParaRPr/>
          </a:p>
          <a:p>
            <a:pPr indent="-298450" lvl="0" marL="457200" rtl="0" algn="l">
              <a:lnSpc>
                <a:spcPct val="100000"/>
              </a:lnSpc>
              <a:spcBef>
                <a:spcPts val="0"/>
              </a:spcBef>
              <a:spcAft>
                <a:spcPts val="0"/>
              </a:spcAft>
              <a:buSzPts val="1100"/>
              <a:buAutoNum type="arabicPeriod"/>
            </a:pPr>
            <a:r>
              <a:rPr lang="es-CL"/>
              <a:t>&lt;article&gt; El Elemento article de HTML (&lt;article&gt;) representa una composición auto-contenida en un documento, página, una aplicación o en el sitio, que se destina a distribuir de forma independiente o reutilizable, por ejemplo, en la indicación. Podría ser un mensaje en un foro, un artículo de una revista o un periódico, una entrada de blog, un comentario de un usuario, un widget interactivo o gadget, o cualquier otro elemento independiente del contenido.</a:t>
            </a:r>
            <a:endParaRPr/>
          </a:p>
          <a:p>
            <a:pPr indent="-298450" lvl="0" marL="457200" rtl="0" algn="l">
              <a:lnSpc>
                <a:spcPct val="100000"/>
              </a:lnSpc>
              <a:spcBef>
                <a:spcPts val="0"/>
              </a:spcBef>
              <a:spcAft>
                <a:spcPts val="0"/>
              </a:spcAft>
              <a:buSzPts val="1100"/>
              <a:buAutoNum type="arabicPeriod"/>
            </a:pPr>
            <a:r>
              <a:rPr lang="es-CL"/>
              <a:t>&lt;section&gt;	El elemento de HTML section (&lt;section&gt;) representa una sección genérica de un documento. Sirve para determinar qué contenido corresponde a qué parte de un esquema. Piensa en el esquema como en el índice de contenido de un libro; un tema común y subsecciones relacionadas.  Es, por lo tanto, una etiquéta semántica. Su funcionalidad principal es estructurar semánticamente un documento a la hora de ser representado por parte de un agente usuario. Por ejemplo, un agente de usuario que represente el documento en voz, podría exponer al usuario el índice de contenido por niveles para navegar rápidamente por las distintas partes.</a:t>
            </a:r>
            <a:endParaRPr/>
          </a:p>
          <a:p>
            <a:pPr indent="-298450" lvl="0" marL="457200" rtl="0" algn="l">
              <a:lnSpc>
                <a:spcPct val="100000"/>
              </a:lnSpc>
              <a:spcBef>
                <a:spcPts val="0"/>
              </a:spcBef>
              <a:spcAft>
                <a:spcPts val="0"/>
              </a:spcAft>
              <a:buSzPts val="1100"/>
              <a:buAutoNum type="arabicPeriod"/>
            </a:pPr>
            <a:r>
              <a:rPr lang="es-CL"/>
              <a:t>&lt;aside&gt;	El elemento HTML &lt;aside&gt; representa una sección de una página que consiste en contenido que está indirectamente relacionado con el contenido principal del documento. Estas secciones son a menudo representadas como barras laterales o como inserciones y contienen una explicación al margen como una definición de glosario, elementos relacionados indirectamente, como publicidad, la biografía del autor, o en aplicaciones web, la información de perfil o enlaces a blogs relacionados.</a:t>
            </a:r>
            <a:endParaRPr/>
          </a:p>
          <a:p>
            <a:pPr indent="-298450" lvl="0" marL="457200" rtl="0" algn="l">
              <a:lnSpc>
                <a:spcPct val="100000"/>
              </a:lnSpc>
              <a:spcBef>
                <a:spcPts val="0"/>
              </a:spcBef>
              <a:spcAft>
                <a:spcPts val="0"/>
              </a:spcAft>
              <a:buSzPts val="1100"/>
              <a:buAutoNum type="arabicPeriod"/>
            </a:pPr>
            <a:r>
              <a:rPr lang="es-CL"/>
              <a:t>&lt;footer&gt;	El Elemento HTML Footer (&lt;footer&gt;) representa un pie de página para el contenido de sección más cercano o el elemento  raíz de sección (p.e, su ancestro mas cercano &lt;article&gt;, &lt;aside&gt;, &lt;nav&gt;, &lt;section&gt;,&lt;blockquote&gt;, &lt;body&gt;, &lt;details&gt;, &lt;fieldset&gt;, &lt;figure&gt;, &lt;td&gt;). Un pie de página típicamente contiene información acerca de el autor de la sección, datos de derechos de autor o enlaces a documentos relacionados.</a:t>
            </a:r>
            <a:endParaRPr/>
          </a:p>
          <a:p>
            <a:pPr indent="-298450" lvl="0" marL="457200" rtl="0" algn="l">
              <a:lnSpc>
                <a:spcPct val="100000"/>
              </a:lnSpc>
              <a:spcBef>
                <a:spcPts val="0"/>
              </a:spcBef>
              <a:spcAft>
                <a:spcPts val="0"/>
              </a:spcAft>
              <a:buSzPts val="1100"/>
              <a:buAutoNum type="arabicPeriod"/>
            </a:pPr>
            <a:r>
              <a:rPr lang="es-CL"/>
              <a:t>El elemento HTML &lt;input&gt; se usa para crear controles interactivos para formularios basados en la web con el fin de recibir datos del usuario.Hay disponible una amplia variedad de tipos de datos de entrada y widgets de control, que dependen del dispositivo y el agente de usuario (user agent).El elemento &lt;input&gt; es uno de los más potentes y complejos en todo HTML debido a la gran cantidad de combinaciones de tipos y atributos de entrada.</a:t>
            </a:r>
            <a:endParaRPr/>
          </a:p>
          <a:p>
            <a:pPr indent="0" lvl="0" marL="0" rtl="0" algn="l">
              <a:lnSpc>
                <a:spcPct val="100000"/>
              </a:lnSpc>
              <a:spcBef>
                <a:spcPts val="0"/>
              </a:spcBef>
              <a:spcAft>
                <a:spcPts val="0"/>
              </a:spcAft>
              <a:buSzPts val="1100"/>
              <a:buNone/>
            </a:pPr>
            <a:r>
              <a:t/>
            </a:r>
            <a:endParaRPr/>
          </a:p>
        </p:txBody>
      </p:sp>
      <p:sp>
        <p:nvSpPr>
          <p:cNvPr id="71" name="Google Shape;71;g11da12fab08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1da12fab08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11da12fab08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1da12fab08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g11da12fab08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1da12fab08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g11da12fab08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1e722cc032_0_2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g11e722cc032_0_2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e722cc032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CL"/>
              <a:t>W3Schools es un sitio web para aprender tecnologías web en línea. ​ Contiene tutoriales de HTML, CSS, JavaScript, SQL, PHP, XML y otras tecnologías.​​ Fue lanzado en 1999 por la empresa noruega Refsnes Data, y su nombre proviene de la World Wide Web.​W3Schools presenta cientos de ejemplos de código.</a:t>
            </a:r>
            <a:endParaRPr/>
          </a:p>
        </p:txBody>
      </p:sp>
      <p:sp>
        <p:nvSpPr>
          <p:cNvPr id="112" name="Google Shape;112;g11e722cc032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8" name="Shape 8"/>
        <p:cNvGrpSpPr/>
        <p:nvPr/>
      </p:nvGrpSpPr>
      <p:grpSpPr>
        <a:xfrm>
          <a:off x="0" y="0"/>
          <a:ext cx="0" cy="0"/>
          <a:chOff x="0" y="0"/>
          <a:chExt cx="0" cy="0"/>
        </a:xfrm>
      </p:grpSpPr>
      <p:sp>
        <p:nvSpPr>
          <p:cNvPr id="9" name="Google Shape;9;p5"/>
          <p:cNvSpPr txBox="1"/>
          <p:nvPr>
            <p:ph type="title"/>
          </p:nvPr>
        </p:nvSpPr>
        <p:spPr>
          <a:xfrm>
            <a:off x="6190938" y="1999053"/>
            <a:ext cx="5162862"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A3838"/>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 name="Google Shape;10;p5"/>
          <p:cNvSpPr txBox="1"/>
          <p:nvPr>
            <p:ph idx="1" type="body"/>
          </p:nvPr>
        </p:nvSpPr>
        <p:spPr>
          <a:xfrm>
            <a:off x="6190938" y="3538330"/>
            <a:ext cx="5162862" cy="14312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6"/>
          <p:cNvSpPr txBox="1"/>
          <p:nvPr>
            <p:ph type="ctrTitle"/>
          </p:nvPr>
        </p:nvSpPr>
        <p:spPr>
          <a:xfrm>
            <a:off x="2293495" y="477786"/>
            <a:ext cx="8374505" cy="94628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3A3838"/>
              </a:buClr>
              <a:buSzPts val="4400"/>
              <a:buFont typeface="Calibri"/>
              <a:buNone/>
              <a:defRPr sz="4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6"/>
          <p:cNvSpPr txBox="1"/>
          <p:nvPr>
            <p:ph idx="1" type="body"/>
          </p:nvPr>
        </p:nvSpPr>
        <p:spPr>
          <a:xfrm>
            <a:off x="553047" y="1815526"/>
            <a:ext cx="11064329" cy="442038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7"/>
          <p:cNvSpPr txBox="1"/>
          <p:nvPr>
            <p:ph type="title"/>
          </p:nvPr>
        </p:nvSpPr>
        <p:spPr>
          <a:xfrm>
            <a:off x="2278505" y="530017"/>
            <a:ext cx="9075295" cy="7141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A3838"/>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7"/>
          <p:cNvSpPr txBox="1"/>
          <p:nvPr>
            <p:ph idx="1" type="body"/>
          </p:nvPr>
        </p:nvSpPr>
        <p:spPr>
          <a:xfrm>
            <a:off x="509666" y="1708879"/>
            <a:ext cx="11167672" cy="419724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4"/>
          <p:cNvSpPr txBox="1"/>
          <p:nvPr>
            <p:ph type="title"/>
          </p:nvPr>
        </p:nvSpPr>
        <p:spPr>
          <a:xfrm>
            <a:off x="6190938" y="1999053"/>
            <a:ext cx="5162862"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A3838"/>
              </a:buClr>
              <a:buSzPts val="4400"/>
              <a:buFont typeface="Calibri"/>
              <a:buNone/>
              <a:defRPr b="1" i="0" sz="4400" u="none" cap="none" strike="noStrike">
                <a:solidFill>
                  <a:srgbClr val="3A383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
          <p:cNvSpPr txBox="1"/>
          <p:nvPr>
            <p:ph idx="1" type="body"/>
          </p:nvPr>
        </p:nvSpPr>
        <p:spPr>
          <a:xfrm>
            <a:off x="6190938" y="3459553"/>
            <a:ext cx="5162862" cy="1502191"/>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hyperlink" Target="https://developer.mozilla.org/es/docs/Web/HTML/Element/inpu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24.png"/><Relationship Id="rId11" Type="http://schemas.openxmlformats.org/officeDocument/2006/relationships/image" Target="../media/image22.png"/><Relationship Id="rId10" Type="http://schemas.openxmlformats.org/officeDocument/2006/relationships/image" Target="../media/image7.png"/><Relationship Id="rId12" Type="http://schemas.openxmlformats.org/officeDocument/2006/relationships/image" Target="../media/image4.png"/><Relationship Id="rId9" Type="http://schemas.openxmlformats.org/officeDocument/2006/relationships/image" Target="../media/image8.png"/><Relationship Id="rId5" Type="http://schemas.openxmlformats.org/officeDocument/2006/relationships/image" Target="../media/image2.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hyperlink" Target="https://code.visualstudio.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w3schools.com/" TargetMode="Externa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1"/>
          <p:cNvSpPr txBox="1"/>
          <p:nvPr>
            <p:ph type="title"/>
          </p:nvPr>
        </p:nvSpPr>
        <p:spPr>
          <a:xfrm>
            <a:off x="6190938" y="2175920"/>
            <a:ext cx="5162862" cy="13255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Font typeface="Calibri"/>
              <a:buNone/>
            </a:pPr>
            <a:r>
              <a:rPr lang="es-CL" sz="3200">
                <a:solidFill>
                  <a:schemeClr val="dk1"/>
                </a:solidFill>
              </a:rPr>
              <a:t>TALLER DE TECNOLOGÍAS WEB</a:t>
            </a:r>
            <a:endParaRPr/>
          </a:p>
        </p:txBody>
      </p:sp>
      <p:sp>
        <p:nvSpPr>
          <p:cNvPr id="22" name="Google Shape;22;p1"/>
          <p:cNvSpPr txBox="1"/>
          <p:nvPr/>
        </p:nvSpPr>
        <p:spPr>
          <a:xfrm>
            <a:off x="6190938" y="3533385"/>
            <a:ext cx="5162862"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3A3838"/>
              </a:buClr>
              <a:buSzPts val="2000"/>
              <a:buFont typeface="Calibri"/>
              <a:buNone/>
            </a:pPr>
            <a:r>
              <a:rPr b="1" i="0" lang="es-CL" sz="2000" u="none" cap="none" strike="noStrike">
                <a:solidFill>
                  <a:srgbClr val="3A3838"/>
                </a:solidFill>
                <a:latin typeface="Calibri"/>
                <a:ea typeface="Calibri"/>
                <a:cs typeface="Calibri"/>
                <a:sym typeface="Calibri"/>
              </a:rPr>
              <a:t>Vicente Zapata.</a:t>
            </a:r>
            <a:endParaRPr b="1" i="0" sz="2000" u="none" cap="none" strike="noStrike">
              <a:solidFill>
                <a:srgbClr val="3A3838"/>
              </a:solidFill>
              <a:latin typeface="Calibri"/>
              <a:ea typeface="Calibri"/>
              <a:cs typeface="Calibri"/>
              <a:sym typeface="Calibri"/>
            </a:endParaRPr>
          </a:p>
          <a:p>
            <a:pPr indent="0" lvl="0" marL="0" marR="0" rtl="0" algn="l">
              <a:lnSpc>
                <a:spcPct val="90000"/>
              </a:lnSpc>
              <a:spcBef>
                <a:spcPts val="0"/>
              </a:spcBef>
              <a:spcAft>
                <a:spcPts val="0"/>
              </a:spcAft>
              <a:buClr>
                <a:srgbClr val="3A3838"/>
              </a:buClr>
              <a:buSzPts val="2000"/>
              <a:buFont typeface="Calibri"/>
              <a:buNone/>
            </a:pPr>
            <a:r>
              <a:rPr b="1" i="0" lang="es-CL" sz="2000" u="none" cap="none" strike="noStrike">
                <a:solidFill>
                  <a:srgbClr val="3A3838"/>
                </a:solidFill>
                <a:latin typeface="Calibri"/>
                <a:ea typeface="Calibri"/>
                <a:cs typeface="Calibri"/>
                <a:sym typeface="Calibri"/>
              </a:rPr>
              <a:t>S1 2022</a:t>
            </a:r>
            <a:endParaRPr b="1" i="0" sz="2000" u="none" cap="none" strike="noStrike">
              <a:solidFill>
                <a:srgbClr val="3A383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 name="Shape 26"/>
        <p:cNvGrpSpPr/>
        <p:nvPr/>
      </p:nvGrpSpPr>
      <p:grpSpPr>
        <a:xfrm>
          <a:off x="0" y="0"/>
          <a:ext cx="0" cy="0"/>
          <a:chOff x="0" y="0"/>
          <a:chExt cx="0" cy="0"/>
        </a:xfrm>
      </p:grpSpPr>
      <p:sp>
        <p:nvSpPr>
          <p:cNvPr id="27" name="Google Shape;27;g11e722cc032_0_29"/>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Programa de la asignatura</a:t>
            </a:r>
            <a:endParaRPr/>
          </a:p>
        </p:txBody>
      </p:sp>
      <p:graphicFrame>
        <p:nvGraphicFramePr>
          <p:cNvPr id="28" name="Google Shape;28;g11e722cc032_0_29"/>
          <p:cNvGraphicFramePr/>
          <p:nvPr/>
        </p:nvGraphicFramePr>
        <p:xfrm>
          <a:off x="3200575" y="1245300"/>
          <a:ext cx="3000000" cy="3000000"/>
        </p:xfrm>
        <a:graphic>
          <a:graphicData uri="http://schemas.openxmlformats.org/drawingml/2006/table">
            <a:tbl>
              <a:tblPr>
                <a:noFill/>
                <a:tableStyleId>{AE4C5B27-2F50-4A3E-9CBC-65ADFA7E7654}</a:tableStyleId>
              </a:tblPr>
              <a:tblGrid>
                <a:gridCol w="5143500"/>
                <a:gridCol w="3338500"/>
              </a:tblGrid>
              <a:tr h="4890850">
                <a:tc>
                  <a:txBody>
                    <a:bodyPr/>
                    <a:lstStyle/>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Definición de HTML.</a:t>
                      </a:r>
                      <a:endParaRPr sz="1600" u="none" cap="none" strike="noStrike"/>
                    </a:p>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Definición de etiquetas HTML básicas del documento.</a:t>
                      </a:r>
                      <a:endParaRPr sz="1600" u="none" cap="none" strike="noStrike"/>
                    </a:p>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Formatos de página.</a:t>
                      </a:r>
                      <a:endParaRPr sz="1600" u="none" cap="none" strike="noStrike"/>
                    </a:p>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Formato de texto.</a:t>
                      </a:r>
                      <a:endParaRPr sz="1600" u="none" cap="none" strike="noStrike"/>
                    </a:p>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Descripción del ambiente de desarrollo.</a:t>
                      </a:r>
                      <a:endParaRPr sz="1600" u="none" cap="none" strike="noStrike"/>
                    </a:p>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Creación y visualización de un documento HTML.</a:t>
                      </a:r>
                      <a:endParaRPr sz="1600" u="none" cap="none" strike="noStrike"/>
                    </a:p>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Inserción y dimensionamiento de una imagen.</a:t>
                      </a:r>
                      <a:endParaRPr sz="1600" u="none" cap="none" strike="noStrike"/>
                    </a:p>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Creación de hipervínculos.</a:t>
                      </a:r>
                      <a:endParaRPr sz="1600" u="none" cap="none" strike="noStrike"/>
                    </a:p>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Creación de tablas aplicando estructuras y atributos.</a:t>
                      </a:r>
                      <a:endParaRPr sz="1600" u="none" cap="none" strike="noStrike"/>
                    </a:p>
                    <a:p>
                      <a:pPr indent="-330200" lvl="0" marL="457200" marR="0" rtl="0" algn="l">
                        <a:lnSpc>
                          <a:spcPct val="100000"/>
                        </a:lnSpc>
                        <a:spcBef>
                          <a:spcPts val="0"/>
                        </a:spcBef>
                        <a:spcAft>
                          <a:spcPts val="0"/>
                        </a:spcAft>
                        <a:buClr>
                          <a:srgbClr val="000000"/>
                        </a:buClr>
                        <a:buSzPts val="1600"/>
                        <a:buFont typeface="Arial"/>
                        <a:buAutoNum type="arabicPeriod"/>
                      </a:pPr>
                      <a:r>
                        <a:rPr lang="es-CL" sz="1600" u="none" cap="none" strike="noStrike"/>
                        <a:t>Entradas de texto en formularios:</a:t>
                      </a:r>
                      <a:endParaRPr sz="1600" u="none" cap="none" strike="noStrike"/>
                    </a:p>
                    <a:p>
                      <a:pPr indent="-330200" lvl="1" marL="914400" marR="0" rtl="0" algn="l">
                        <a:lnSpc>
                          <a:spcPct val="100000"/>
                        </a:lnSpc>
                        <a:spcBef>
                          <a:spcPts val="0"/>
                        </a:spcBef>
                        <a:spcAft>
                          <a:spcPts val="0"/>
                        </a:spcAft>
                        <a:buClr>
                          <a:srgbClr val="000000"/>
                        </a:buClr>
                        <a:buSzPts val="1600"/>
                        <a:buFont typeface="Arial"/>
                        <a:buAutoNum type="alphaLcPeriod"/>
                      </a:pPr>
                      <a:r>
                        <a:rPr lang="es-CL" sz="1600" u="none" cap="none" strike="noStrike"/>
                        <a:t>-  Entradas de selección en formularios.</a:t>
                      </a:r>
                      <a:endParaRPr sz="1600" u="none" cap="none" strike="noStrike"/>
                    </a:p>
                    <a:p>
                      <a:pPr indent="-330200" lvl="1" marL="914400" marR="0" rtl="0" algn="l">
                        <a:lnSpc>
                          <a:spcPct val="100000"/>
                        </a:lnSpc>
                        <a:spcBef>
                          <a:spcPts val="0"/>
                        </a:spcBef>
                        <a:spcAft>
                          <a:spcPts val="0"/>
                        </a:spcAft>
                        <a:buClr>
                          <a:srgbClr val="000000"/>
                        </a:buClr>
                        <a:buSzPts val="1600"/>
                        <a:buFont typeface="Arial"/>
                        <a:buAutoNum type="alphaLcPeriod"/>
                      </a:pPr>
                      <a:r>
                        <a:rPr lang="es-CL" sz="1600" u="none" cap="none" strike="noStrike"/>
                        <a:t>-  Atributos </a:t>
                      </a:r>
                      <a:endParaRPr sz="1600" u="none" cap="none" strike="noStrike"/>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tc>
                <a:tc>
                  <a:txBody>
                    <a:bodyPr/>
                    <a:lstStyle/>
                    <a:p>
                      <a:pPr indent="-311150" lvl="0" marL="457200" marR="0" rtl="0" algn="l">
                        <a:lnSpc>
                          <a:spcPct val="100000"/>
                        </a:lnSpc>
                        <a:spcBef>
                          <a:spcPts val="0"/>
                        </a:spcBef>
                        <a:spcAft>
                          <a:spcPts val="0"/>
                        </a:spcAft>
                        <a:buClr>
                          <a:srgbClr val="000000"/>
                        </a:buClr>
                        <a:buSzPts val="1300"/>
                        <a:buFont typeface="Arial"/>
                        <a:buChar char="●"/>
                      </a:pPr>
                      <a:r>
                        <a:rPr lang="es-CL" sz="1300" u="none" cap="none" strike="noStrike"/>
                        <a:t>Reconoce conceptos básicos relacionados con Tecnologías Web.</a:t>
                      </a:r>
                      <a:endParaRPr sz="1300" u="none" cap="none" strike="noStrike"/>
                    </a:p>
                    <a:p>
                      <a:pPr indent="-311150" lvl="0" marL="457200" marR="0" rtl="0" algn="l">
                        <a:lnSpc>
                          <a:spcPct val="100000"/>
                        </a:lnSpc>
                        <a:spcBef>
                          <a:spcPts val="0"/>
                        </a:spcBef>
                        <a:spcAft>
                          <a:spcPts val="0"/>
                        </a:spcAft>
                        <a:buClr>
                          <a:srgbClr val="000000"/>
                        </a:buClr>
                        <a:buSzPts val="1300"/>
                        <a:buFont typeface="Arial"/>
                        <a:buChar char="●"/>
                      </a:pPr>
                      <a:r>
                        <a:rPr lang="es-CL" sz="1300" u="none" cap="none" strike="noStrike"/>
                        <a:t>Reconoce etiquetas básicas y ambiente de desarrollo para trabajar.</a:t>
                      </a:r>
                      <a:endParaRPr sz="1300" u="none" cap="none" strike="noStrike"/>
                    </a:p>
                    <a:p>
                      <a:pPr indent="-311150" lvl="0" marL="457200" marR="0" rtl="0" algn="l">
                        <a:lnSpc>
                          <a:spcPct val="100000"/>
                        </a:lnSpc>
                        <a:spcBef>
                          <a:spcPts val="0"/>
                        </a:spcBef>
                        <a:spcAft>
                          <a:spcPts val="0"/>
                        </a:spcAft>
                        <a:buClr>
                          <a:srgbClr val="000000"/>
                        </a:buClr>
                        <a:buSzPts val="1300"/>
                        <a:buFont typeface="Arial"/>
                        <a:buChar char="●"/>
                      </a:pPr>
                      <a:r>
                        <a:rPr lang="es-CL" sz="1300" u="none" cap="none" strike="noStrike"/>
                        <a:t>Determina componentes necesarios para dar respuesta a requerimiento.</a:t>
                      </a:r>
                      <a:endParaRPr sz="1300" u="none" cap="none" strike="noStrike"/>
                    </a:p>
                    <a:p>
                      <a:pPr indent="-311150" lvl="0" marL="457200" marR="0" rtl="0" algn="l">
                        <a:lnSpc>
                          <a:spcPct val="100000"/>
                        </a:lnSpc>
                        <a:spcBef>
                          <a:spcPts val="0"/>
                        </a:spcBef>
                        <a:spcAft>
                          <a:spcPts val="0"/>
                        </a:spcAft>
                        <a:buClr>
                          <a:srgbClr val="000000"/>
                        </a:buClr>
                        <a:buSzPts val="1300"/>
                        <a:buFont typeface="Arial"/>
                        <a:buChar char="●"/>
                      </a:pPr>
                      <a:r>
                        <a:rPr lang="es-CL" sz="1300" u="none" cap="none" strike="noStrike"/>
                        <a:t>Identifica componentes relacionados con el trabajo en imágenes, tablas e hipervínculos para la confección de proyecto en HTML según requerimientos.</a:t>
                      </a:r>
                      <a:endParaRPr sz="1300" u="none" cap="none" strike="noStrike"/>
                    </a:p>
                    <a:p>
                      <a:pPr indent="-311150" lvl="0" marL="457200" marR="0" rtl="0" algn="l">
                        <a:lnSpc>
                          <a:spcPct val="100000"/>
                        </a:lnSpc>
                        <a:spcBef>
                          <a:spcPts val="0"/>
                        </a:spcBef>
                        <a:spcAft>
                          <a:spcPts val="0"/>
                        </a:spcAft>
                        <a:buClr>
                          <a:srgbClr val="000000"/>
                        </a:buClr>
                        <a:buSzPts val="1300"/>
                        <a:buFont typeface="Arial"/>
                        <a:buChar char="●"/>
                      </a:pPr>
                      <a:r>
                        <a:rPr lang="es-CL" sz="1300" u="none" cap="none" strike="noStrike"/>
                        <a:t>Reconoce etiquetas HTML para los requerimientos solicitados.</a:t>
                      </a:r>
                      <a:endParaRPr sz="1300" u="none" cap="none" strike="noStrike"/>
                    </a:p>
                    <a:p>
                      <a:pPr indent="-311150" lvl="0" marL="457200" marR="0" rtl="0" algn="l">
                        <a:lnSpc>
                          <a:spcPct val="100000"/>
                        </a:lnSpc>
                        <a:spcBef>
                          <a:spcPts val="0"/>
                        </a:spcBef>
                        <a:spcAft>
                          <a:spcPts val="0"/>
                        </a:spcAft>
                        <a:buClr>
                          <a:srgbClr val="000000"/>
                        </a:buClr>
                        <a:buSzPts val="1300"/>
                        <a:buFont typeface="Arial"/>
                        <a:buChar char="●"/>
                      </a:pPr>
                      <a:r>
                        <a:rPr lang="es-CL" sz="1300" u="none" cap="none" strike="noStrike"/>
                        <a:t>Identifica componentes relacionados con la entrada de formularios para la confección de proyecto en HTML según requerimientos.</a:t>
                      </a:r>
                      <a:endParaRPr sz="1300" u="none" cap="none" strike="noStrike"/>
                    </a:p>
                    <a:p>
                      <a:pPr indent="-311150" lvl="0" marL="457200" marR="0" rtl="0" algn="l">
                        <a:lnSpc>
                          <a:spcPct val="100000"/>
                        </a:lnSpc>
                        <a:spcBef>
                          <a:spcPts val="0"/>
                        </a:spcBef>
                        <a:spcAft>
                          <a:spcPts val="0"/>
                        </a:spcAft>
                        <a:buClr>
                          <a:srgbClr val="000000"/>
                        </a:buClr>
                        <a:buSzPts val="1300"/>
                        <a:buFont typeface="Arial"/>
                        <a:buChar char="●"/>
                      </a:pPr>
                      <a:r>
                        <a:rPr lang="es-CL" sz="1300" u="none" cap="none" strike="noStrike"/>
                        <a:t>Reconoce entradas de formularios en un documento HTML basado en requerimientos solicitados.</a:t>
                      </a:r>
                      <a:endParaRPr sz="1300" u="none" cap="none" strike="noStrike"/>
                    </a:p>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CL" sz="1400" u="none" cap="none" strike="noStrike"/>
                        <a:t>16 Horas - 20% Ponderación </a:t>
                      </a:r>
                      <a:endParaRPr sz="1400" u="none" cap="none" strike="noStrike"/>
                    </a:p>
                  </a:txBody>
                  <a:tcPr marT="91425" marB="91425" marR="91425" marL="91425"/>
                </a:tc>
              </a:tr>
            </a:tbl>
          </a:graphicData>
        </a:graphic>
      </p:graphicFrame>
      <p:pic>
        <p:nvPicPr>
          <p:cNvPr id="29" name="Google Shape;29;g11e722cc032_0_29"/>
          <p:cNvPicPr preferRelativeResize="0"/>
          <p:nvPr/>
        </p:nvPicPr>
        <p:blipFill rotWithShape="1">
          <a:blip r:embed="rId3">
            <a:alphaModFix/>
          </a:blip>
          <a:srcRect b="0" l="0" r="0" t="0"/>
          <a:stretch/>
        </p:blipFill>
        <p:spPr>
          <a:xfrm>
            <a:off x="510525" y="2197364"/>
            <a:ext cx="2463276" cy="24632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g11e722cc032_0_96"/>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HTML</a:t>
            </a:r>
            <a:endParaRPr/>
          </a:p>
        </p:txBody>
      </p:sp>
      <p:pic>
        <p:nvPicPr>
          <p:cNvPr id="35" name="Google Shape;35;g11e722cc032_0_96"/>
          <p:cNvPicPr preferRelativeResize="0"/>
          <p:nvPr/>
        </p:nvPicPr>
        <p:blipFill rotWithShape="1">
          <a:blip r:embed="rId3">
            <a:alphaModFix/>
          </a:blip>
          <a:srcRect b="0" l="0" r="0" t="0"/>
          <a:stretch/>
        </p:blipFill>
        <p:spPr>
          <a:xfrm>
            <a:off x="3233738" y="1519235"/>
            <a:ext cx="5724525" cy="3819525"/>
          </a:xfrm>
          <a:prstGeom prst="rect">
            <a:avLst/>
          </a:prstGeom>
          <a:noFill/>
          <a:ln>
            <a:noFill/>
          </a:ln>
          <a:effectLst>
            <a:outerShdw blurRad="57150" rotWithShape="0" algn="bl" dir="5400000" dist="19050">
              <a:srgbClr val="000000">
                <a:alpha val="49411"/>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g11da12fab08_0_2"/>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Tags HTML</a:t>
            </a:r>
            <a:endParaRPr/>
          </a:p>
        </p:txBody>
      </p:sp>
      <p:pic>
        <p:nvPicPr>
          <p:cNvPr id="41" name="Google Shape;41;g11da12fab08_0_2"/>
          <p:cNvPicPr preferRelativeResize="0"/>
          <p:nvPr/>
        </p:nvPicPr>
        <p:blipFill rotWithShape="1">
          <a:blip r:embed="rId3">
            <a:alphaModFix/>
          </a:blip>
          <a:srcRect b="0" l="0" r="0" t="0"/>
          <a:stretch/>
        </p:blipFill>
        <p:spPr>
          <a:xfrm>
            <a:off x="740250" y="1661901"/>
            <a:ext cx="10711501" cy="3438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g11da12fab08_0_9"/>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Tags HTML</a:t>
            </a:r>
            <a:endParaRPr/>
          </a:p>
        </p:txBody>
      </p:sp>
      <p:pic>
        <p:nvPicPr>
          <p:cNvPr id="47" name="Google Shape;47;g11da12fab08_0_9"/>
          <p:cNvPicPr preferRelativeResize="0"/>
          <p:nvPr/>
        </p:nvPicPr>
        <p:blipFill rotWithShape="1">
          <a:blip r:embed="rId3">
            <a:alphaModFix/>
          </a:blip>
          <a:srcRect b="0" l="0" r="0" t="0"/>
          <a:stretch/>
        </p:blipFill>
        <p:spPr>
          <a:xfrm>
            <a:off x="3333750" y="1619260"/>
            <a:ext cx="5524500" cy="3619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g11da12fab08_0_22"/>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Tags usualmente usadas en HTML</a:t>
            </a:r>
            <a:endParaRPr/>
          </a:p>
        </p:txBody>
      </p:sp>
      <p:sp>
        <p:nvSpPr>
          <p:cNvPr id="53" name="Google Shape;53;g11da12fab08_0_22"/>
          <p:cNvSpPr txBox="1"/>
          <p:nvPr>
            <p:ph idx="1" type="body"/>
          </p:nvPr>
        </p:nvSpPr>
        <p:spPr>
          <a:xfrm>
            <a:off x="553047" y="1815526"/>
            <a:ext cx="11064300" cy="4420500"/>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1000"/>
              </a:spcBef>
              <a:spcAft>
                <a:spcPts val="0"/>
              </a:spcAft>
              <a:buSzPts val="1800"/>
              <a:buChar char="•"/>
            </a:pPr>
            <a:r>
              <a:rPr lang="es-CL"/>
              <a:t>&lt;!DOCTYPE html&gt;</a:t>
            </a:r>
            <a:endParaRPr/>
          </a:p>
          <a:p>
            <a:pPr indent="-342900" lvl="0" marL="457200" rtl="0" algn="l">
              <a:lnSpc>
                <a:spcPct val="150000"/>
              </a:lnSpc>
              <a:spcBef>
                <a:spcPts val="0"/>
              </a:spcBef>
              <a:spcAft>
                <a:spcPts val="0"/>
              </a:spcAft>
              <a:buSzPts val="1800"/>
              <a:buChar char="•"/>
            </a:pPr>
            <a:r>
              <a:rPr lang="es-CL"/>
              <a:t>&lt;html&gt;&lt;/html&gt;</a:t>
            </a:r>
            <a:endParaRPr/>
          </a:p>
          <a:p>
            <a:pPr indent="-342900" lvl="0" marL="457200" rtl="0" algn="l">
              <a:lnSpc>
                <a:spcPct val="150000"/>
              </a:lnSpc>
              <a:spcBef>
                <a:spcPts val="0"/>
              </a:spcBef>
              <a:spcAft>
                <a:spcPts val="0"/>
              </a:spcAft>
              <a:buSzPts val="1800"/>
              <a:buChar char="•"/>
            </a:pPr>
            <a:r>
              <a:rPr lang="es-CL"/>
              <a:t>&lt;head&gt;&lt;/head&gt;</a:t>
            </a:r>
            <a:endParaRPr/>
          </a:p>
          <a:p>
            <a:pPr indent="-342900" lvl="0" marL="457200" rtl="0" algn="l">
              <a:lnSpc>
                <a:spcPct val="150000"/>
              </a:lnSpc>
              <a:spcBef>
                <a:spcPts val="0"/>
              </a:spcBef>
              <a:spcAft>
                <a:spcPts val="0"/>
              </a:spcAft>
              <a:buSzPts val="1800"/>
              <a:buChar char="•"/>
            </a:pPr>
            <a:r>
              <a:rPr lang="es-CL"/>
              <a:t>&lt;meta charset="utf-8"&gt;</a:t>
            </a:r>
            <a:endParaRPr/>
          </a:p>
          <a:p>
            <a:pPr indent="-342900" lvl="0" marL="457200" rtl="0" algn="l">
              <a:lnSpc>
                <a:spcPct val="150000"/>
              </a:lnSpc>
              <a:spcBef>
                <a:spcPts val="0"/>
              </a:spcBef>
              <a:spcAft>
                <a:spcPts val="0"/>
              </a:spcAft>
              <a:buSzPts val="1800"/>
              <a:buChar char="•"/>
            </a:pPr>
            <a:r>
              <a:rPr lang="es-CL"/>
              <a:t>&lt;title&gt;&lt;/title&gt;</a:t>
            </a:r>
            <a:endParaRPr/>
          </a:p>
          <a:p>
            <a:pPr indent="-342900" lvl="0" marL="457200" rtl="0" algn="l">
              <a:lnSpc>
                <a:spcPct val="150000"/>
              </a:lnSpc>
              <a:spcBef>
                <a:spcPts val="0"/>
              </a:spcBef>
              <a:spcAft>
                <a:spcPts val="0"/>
              </a:spcAft>
              <a:buSzPts val="1800"/>
              <a:buChar char="•"/>
            </a:pPr>
            <a:r>
              <a:rPr lang="es-CL"/>
              <a:t>&lt;body&gt;&lt;/body&gt;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g11da12fab08_0_50"/>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Tags usualmente usadas en HTML</a:t>
            </a:r>
            <a:endParaRPr/>
          </a:p>
        </p:txBody>
      </p:sp>
      <p:sp>
        <p:nvSpPr>
          <p:cNvPr id="59" name="Google Shape;59;g11da12fab08_0_50"/>
          <p:cNvSpPr txBox="1"/>
          <p:nvPr>
            <p:ph idx="1" type="body"/>
          </p:nvPr>
        </p:nvSpPr>
        <p:spPr>
          <a:xfrm>
            <a:off x="553047" y="1815526"/>
            <a:ext cx="11064300" cy="4420500"/>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1000"/>
              </a:spcBef>
              <a:spcAft>
                <a:spcPts val="0"/>
              </a:spcAft>
              <a:buSzPts val="1800"/>
              <a:buChar char="•"/>
            </a:pPr>
            <a:r>
              <a:rPr lang="es-CL"/>
              <a:t>&lt;nav&gt;</a:t>
            </a:r>
            <a:endParaRPr/>
          </a:p>
          <a:p>
            <a:pPr indent="-342900" lvl="0" marL="457200" rtl="0" algn="l">
              <a:lnSpc>
                <a:spcPct val="150000"/>
              </a:lnSpc>
              <a:spcBef>
                <a:spcPts val="0"/>
              </a:spcBef>
              <a:spcAft>
                <a:spcPts val="0"/>
              </a:spcAft>
              <a:buSzPts val="1800"/>
              <a:buChar char="•"/>
            </a:pPr>
            <a:r>
              <a:rPr lang="es-CL"/>
              <a:t>&lt;article&gt;</a:t>
            </a:r>
            <a:endParaRPr/>
          </a:p>
          <a:p>
            <a:pPr indent="-342900" lvl="0" marL="457200" rtl="0" algn="l">
              <a:lnSpc>
                <a:spcPct val="150000"/>
              </a:lnSpc>
              <a:spcBef>
                <a:spcPts val="0"/>
              </a:spcBef>
              <a:spcAft>
                <a:spcPts val="0"/>
              </a:spcAft>
              <a:buSzPts val="1800"/>
              <a:buChar char="•"/>
            </a:pPr>
            <a:r>
              <a:rPr lang="es-CL"/>
              <a:t>&lt;section&gt;</a:t>
            </a:r>
            <a:endParaRPr/>
          </a:p>
          <a:p>
            <a:pPr indent="-342900" lvl="0" marL="457200" rtl="0" algn="l">
              <a:lnSpc>
                <a:spcPct val="150000"/>
              </a:lnSpc>
              <a:spcBef>
                <a:spcPts val="0"/>
              </a:spcBef>
              <a:spcAft>
                <a:spcPts val="0"/>
              </a:spcAft>
              <a:buSzPts val="1800"/>
              <a:buChar char="•"/>
            </a:pPr>
            <a:r>
              <a:rPr lang="es-CL"/>
              <a:t>&lt;aside&gt;</a:t>
            </a:r>
            <a:endParaRPr/>
          </a:p>
          <a:p>
            <a:pPr indent="-342900" lvl="0" marL="457200" rtl="0" algn="l">
              <a:lnSpc>
                <a:spcPct val="150000"/>
              </a:lnSpc>
              <a:spcBef>
                <a:spcPts val="0"/>
              </a:spcBef>
              <a:spcAft>
                <a:spcPts val="0"/>
              </a:spcAft>
              <a:buSzPts val="1800"/>
              <a:buChar char="•"/>
            </a:pPr>
            <a:r>
              <a:rPr lang="es-CL"/>
              <a:t>&lt;footer&gt;</a:t>
            </a:r>
            <a:endParaRPr/>
          </a:p>
          <a:p>
            <a:pPr indent="-342900" lvl="0" marL="457200" rtl="0" algn="l">
              <a:lnSpc>
                <a:spcPct val="150000"/>
              </a:lnSpc>
              <a:spcBef>
                <a:spcPts val="0"/>
              </a:spcBef>
              <a:spcAft>
                <a:spcPts val="0"/>
              </a:spcAft>
              <a:buSzPts val="1800"/>
              <a:buChar char="•"/>
            </a:pPr>
            <a:r>
              <a:rPr lang="es-CL"/>
              <a:t>&lt;input&gt;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11da12fab08_0_69"/>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Tags usualmente usadas en HTML</a:t>
            </a:r>
            <a:endParaRPr/>
          </a:p>
        </p:txBody>
      </p:sp>
      <p:pic>
        <p:nvPicPr>
          <p:cNvPr id="65" name="Google Shape;65;g11da12fab08_0_69"/>
          <p:cNvPicPr preferRelativeResize="0"/>
          <p:nvPr/>
        </p:nvPicPr>
        <p:blipFill rotWithShape="1">
          <a:blip r:embed="rId3">
            <a:alphaModFix/>
          </a:blip>
          <a:srcRect b="0" l="0" r="0" t="2666"/>
          <a:stretch/>
        </p:blipFill>
        <p:spPr>
          <a:xfrm>
            <a:off x="610450" y="1815525"/>
            <a:ext cx="6378625" cy="2818475"/>
          </a:xfrm>
          <a:prstGeom prst="rect">
            <a:avLst/>
          </a:prstGeom>
          <a:noFill/>
          <a:ln>
            <a:noFill/>
          </a:ln>
        </p:spPr>
      </p:pic>
      <p:pic>
        <p:nvPicPr>
          <p:cNvPr id="66" name="Google Shape;66;g11da12fab08_0_69"/>
          <p:cNvPicPr preferRelativeResize="0"/>
          <p:nvPr/>
        </p:nvPicPr>
        <p:blipFill rotWithShape="1">
          <a:blip r:embed="rId4">
            <a:alphaModFix/>
          </a:blip>
          <a:srcRect b="0" l="0" r="0" t="0"/>
          <a:stretch/>
        </p:blipFill>
        <p:spPr>
          <a:xfrm>
            <a:off x="553050" y="4634000"/>
            <a:ext cx="5348100" cy="1769870"/>
          </a:xfrm>
          <a:prstGeom prst="rect">
            <a:avLst/>
          </a:prstGeom>
          <a:noFill/>
          <a:ln>
            <a:noFill/>
          </a:ln>
        </p:spPr>
      </p:pic>
      <p:pic>
        <p:nvPicPr>
          <p:cNvPr id="67" name="Google Shape;67;g11da12fab08_0_69"/>
          <p:cNvPicPr preferRelativeResize="0"/>
          <p:nvPr/>
        </p:nvPicPr>
        <p:blipFill rotWithShape="1">
          <a:blip r:embed="rId5">
            <a:alphaModFix/>
          </a:blip>
          <a:srcRect b="0" l="0" r="0" t="0"/>
          <a:stretch/>
        </p:blipFill>
        <p:spPr>
          <a:xfrm>
            <a:off x="7196500" y="1398313"/>
            <a:ext cx="4085249" cy="4586399"/>
          </a:xfrm>
          <a:prstGeom prst="rect">
            <a:avLst/>
          </a:prstGeom>
          <a:noFill/>
          <a:ln>
            <a:noFill/>
          </a:ln>
          <a:effectLst>
            <a:outerShdw blurRad="57150" rotWithShape="0" algn="bl" dir="5400000" dist="19050">
              <a:srgbClr val="000000">
                <a:alpha val="49803"/>
              </a:srgbClr>
            </a:outerShdw>
          </a:effectLst>
        </p:spPr>
      </p:pic>
      <p:sp>
        <p:nvSpPr>
          <p:cNvPr id="68" name="Google Shape;68;g11da12fab08_0_69"/>
          <p:cNvSpPr txBox="1"/>
          <p:nvPr/>
        </p:nvSpPr>
        <p:spPr>
          <a:xfrm>
            <a:off x="8253925" y="5984700"/>
            <a:ext cx="19704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900"/>
              <a:buFont typeface="Arial"/>
              <a:buNone/>
            </a:pPr>
            <a:r>
              <a:rPr b="1" i="0" lang="es-CL" sz="1900" u="sng" cap="none" strike="noStrike">
                <a:solidFill>
                  <a:schemeClr val="hlink"/>
                </a:solidFill>
                <a:latin typeface="Calibri"/>
                <a:ea typeface="Calibri"/>
                <a:cs typeface="Calibri"/>
                <a:sym typeface="Calibri"/>
                <a:hlinkClick r:id="rId6"/>
              </a:rPr>
              <a:t>Referencia</a:t>
            </a:r>
            <a:endParaRPr b="1" i="0" sz="19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g11da12fab08_0_77"/>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Tags usualmente usadas en HTML</a:t>
            </a:r>
            <a:endParaRPr/>
          </a:p>
        </p:txBody>
      </p:sp>
      <p:pic>
        <p:nvPicPr>
          <p:cNvPr id="74" name="Google Shape;74;g11da12fab08_0_77"/>
          <p:cNvPicPr preferRelativeResize="0"/>
          <p:nvPr/>
        </p:nvPicPr>
        <p:blipFill rotWithShape="1">
          <a:blip r:embed="rId3">
            <a:alphaModFix/>
          </a:blip>
          <a:srcRect b="0" l="0" r="0" t="0"/>
          <a:stretch/>
        </p:blipFill>
        <p:spPr>
          <a:xfrm>
            <a:off x="372550" y="1476047"/>
            <a:ext cx="3714750" cy="1057275"/>
          </a:xfrm>
          <a:prstGeom prst="rect">
            <a:avLst/>
          </a:prstGeom>
          <a:noFill/>
          <a:ln>
            <a:noFill/>
          </a:ln>
          <a:effectLst>
            <a:outerShdw blurRad="57150" rotWithShape="0" algn="bl" dir="5400000" dist="19050">
              <a:srgbClr val="000000">
                <a:alpha val="49803"/>
              </a:srgbClr>
            </a:outerShdw>
          </a:effectLst>
        </p:spPr>
      </p:pic>
      <p:pic>
        <p:nvPicPr>
          <p:cNvPr id="75" name="Google Shape;75;g11da12fab08_0_77"/>
          <p:cNvPicPr preferRelativeResize="0"/>
          <p:nvPr/>
        </p:nvPicPr>
        <p:blipFill rotWithShape="1">
          <a:blip r:embed="rId4">
            <a:alphaModFix/>
          </a:blip>
          <a:srcRect b="0" l="0" r="0" t="0"/>
          <a:stretch/>
        </p:blipFill>
        <p:spPr>
          <a:xfrm>
            <a:off x="4288575" y="1612860"/>
            <a:ext cx="3429000" cy="1314450"/>
          </a:xfrm>
          <a:prstGeom prst="rect">
            <a:avLst/>
          </a:prstGeom>
          <a:noFill/>
          <a:ln>
            <a:noFill/>
          </a:ln>
          <a:effectLst>
            <a:outerShdw blurRad="57150" rotWithShape="0" algn="bl" dir="5400000" dist="19050">
              <a:srgbClr val="000000">
                <a:alpha val="49803"/>
              </a:srgbClr>
            </a:outerShdw>
          </a:effectLst>
        </p:spPr>
      </p:pic>
      <p:pic>
        <p:nvPicPr>
          <p:cNvPr id="76" name="Google Shape;76;g11da12fab08_0_77"/>
          <p:cNvPicPr preferRelativeResize="0"/>
          <p:nvPr/>
        </p:nvPicPr>
        <p:blipFill rotWithShape="1">
          <a:blip r:embed="rId5">
            <a:alphaModFix/>
          </a:blip>
          <a:srcRect b="0" l="3603" r="7190" t="6270"/>
          <a:stretch/>
        </p:blipFill>
        <p:spPr>
          <a:xfrm>
            <a:off x="453225" y="2627200"/>
            <a:ext cx="3288475" cy="2205175"/>
          </a:xfrm>
          <a:prstGeom prst="rect">
            <a:avLst/>
          </a:prstGeom>
          <a:noFill/>
          <a:ln>
            <a:noFill/>
          </a:ln>
          <a:effectLst>
            <a:outerShdw blurRad="57150" rotWithShape="0" algn="bl" dir="5400000" dist="19050">
              <a:srgbClr val="000000">
                <a:alpha val="49803"/>
              </a:srgbClr>
            </a:outerShdw>
          </a:effectLst>
        </p:spPr>
      </p:pic>
      <p:pic>
        <p:nvPicPr>
          <p:cNvPr id="77" name="Google Shape;77;g11da12fab08_0_77"/>
          <p:cNvPicPr preferRelativeResize="0"/>
          <p:nvPr/>
        </p:nvPicPr>
        <p:blipFill rotWithShape="1">
          <a:blip r:embed="rId6">
            <a:alphaModFix/>
          </a:blip>
          <a:srcRect b="0" l="6017" r="8387" t="0"/>
          <a:stretch/>
        </p:blipFill>
        <p:spPr>
          <a:xfrm>
            <a:off x="3850150" y="3082825"/>
            <a:ext cx="2245850" cy="1687900"/>
          </a:xfrm>
          <a:prstGeom prst="rect">
            <a:avLst/>
          </a:prstGeom>
          <a:noFill/>
          <a:ln>
            <a:noFill/>
          </a:ln>
          <a:effectLst>
            <a:outerShdw blurRad="57150" rotWithShape="0" algn="bl" dir="5400000" dist="19050">
              <a:srgbClr val="000000">
                <a:alpha val="49803"/>
              </a:srgbClr>
            </a:outerShdw>
          </a:effectLst>
        </p:spPr>
      </p:pic>
      <p:pic>
        <p:nvPicPr>
          <p:cNvPr id="78" name="Google Shape;78;g11da12fab08_0_77"/>
          <p:cNvPicPr preferRelativeResize="0"/>
          <p:nvPr/>
        </p:nvPicPr>
        <p:blipFill rotWithShape="1">
          <a:blip r:embed="rId7">
            <a:alphaModFix/>
          </a:blip>
          <a:srcRect b="0" l="0" r="0" t="0"/>
          <a:stretch/>
        </p:blipFill>
        <p:spPr>
          <a:xfrm>
            <a:off x="7918850" y="1747050"/>
            <a:ext cx="3553400" cy="1046051"/>
          </a:xfrm>
          <a:prstGeom prst="rect">
            <a:avLst/>
          </a:prstGeom>
          <a:noFill/>
          <a:ln>
            <a:noFill/>
          </a:ln>
          <a:effectLst>
            <a:outerShdw blurRad="57150" rotWithShape="0" algn="bl" dir="5400000" dist="19050">
              <a:srgbClr val="000000">
                <a:alpha val="49803"/>
              </a:srgbClr>
            </a:outerShdw>
          </a:effectLst>
        </p:spPr>
      </p:pic>
      <p:pic>
        <p:nvPicPr>
          <p:cNvPr id="79" name="Google Shape;79;g11da12fab08_0_77"/>
          <p:cNvPicPr preferRelativeResize="0"/>
          <p:nvPr/>
        </p:nvPicPr>
        <p:blipFill rotWithShape="1">
          <a:blip r:embed="rId8">
            <a:alphaModFix/>
          </a:blip>
          <a:srcRect b="0" l="0" r="11894" t="0"/>
          <a:stretch/>
        </p:blipFill>
        <p:spPr>
          <a:xfrm>
            <a:off x="9263575" y="3082825"/>
            <a:ext cx="2428825" cy="2285175"/>
          </a:xfrm>
          <a:prstGeom prst="rect">
            <a:avLst/>
          </a:prstGeom>
          <a:noFill/>
          <a:ln>
            <a:noFill/>
          </a:ln>
          <a:effectLst>
            <a:outerShdw blurRad="57150" rotWithShape="0" algn="bl" dir="5400000" dist="19050">
              <a:srgbClr val="000000">
                <a:alpha val="49803"/>
              </a:srgbClr>
            </a:outerShdw>
          </a:effectLst>
        </p:spPr>
      </p:pic>
      <p:pic>
        <p:nvPicPr>
          <p:cNvPr id="80" name="Google Shape;80;g11da12fab08_0_77"/>
          <p:cNvPicPr preferRelativeResize="0"/>
          <p:nvPr/>
        </p:nvPicPr>
        <p:blipFill rotWithShape="1">
          <a:blip r:embed="rId9">
            <a:alphaModFix/>
          </a:blip>
          <a:srcRect b="0" l="0" r="0" t="12256"/>
          <a:stretch/>
        </p:blipFill>
        <p:spPr>
          <a:xfrm>
            <a:off x="537675" y="4926250"/>
            <a:ext cx="1234456" cy="491325"/>
          </a:xfrm>
          <a:prstGeom prst="rect">
            <a:avLst/>
          </a:prstGeom>
          <a:noFill/>
          <a:ln>
            <a:noFill/>
          </a:ln>
          <a:effectLst>
            <a:outerShdw blurRad="57150" rotWithShape="0" algn="bl" dir="5400000" dist="19050">
              <a:srgbClr val="000000">
                <a:alpha val="49803"/>
              </a:srgbClr>
            </a:outerShdw>
          </a:effectLst>
        </p:spPr>
      </p:pic>
      <p:pic>
        <p:nvPicPr>
          <p:cNvPr id="81" name="Google Shape;81;g11da12fab08_0_77"/>
          <p:cNvPicPr preferRelativeResize="0"/>
          <p:nvPr/>
        </p:nvPicPr>
        <p:blipFill rotWithShape="1">
          <a:blip r:embed="rId10">
            <a:alphaModFix/>
          </a:blip>
          <a:srcRect b="0" l="0" r="0" t="0"/>
          <a:stretch/>
        </p:blipFill>
        <p:spPr>
          <a:xfrm>
            <a:off x="666575" y="5641785"/>
            <a:ext cx="1840598" cy="491315"/>
          </a:xfrm>
          <a:prstGeom prst="rect">
            <a:avLst/>
          </a:prstGeom>
          <a:noFill/>
          <a:ln>
            <a:noFill/>
          </a:ln>
          <a:effectLst>
            <a:outerShdw blurRad="57150" rotWithShape="0" algn="bl" dir="5400000" dist="19050">
              <a:srgbClr val="000000">
                <a:alpha val="49803"/>
              </a:srgbClr>
            </a:outerShdw>
          </a:effectLst>
        </p:spPr>
      </p:pic>
      <p:pic>
        <p:nvPicPr>
          <p:cNvPr id="82" name="Google Shape;82;g11da12fab08_0_77"/>
          <p:cNvPicPr preferRelativeResize="0"/>
          <p:nvPr/>
        </p:nvPicPr>
        <p:blipFill rotWithShape="1">
          <a:blip r:embed="rId11">
            <a:alphaModFix/>
          </a:blip>
          <a:srcRect b="8127" l="10188" r="7376" t="3038"/>
          <a:stretch/>
        </p:blipFill>
        <p:spPr>
          <a:xfrm>
            <a:off x="6276250" y="3294850"/>
            <a:ext cx="2807075" cy="1882225"/>
          </a:xfrm>
          <a:prstGeom prst="rect">
            <a:avLst/>
          </a:prstGeom>
          <a:noFill/>
          <a:ln>
            <a:noFill/>
          </a:ln>
          <a:effectLst>
            <a:outerShdw blurRad="57150" rotWithShape="0" algn="bl" dir="5400000" dist="19050">
              <a:srgbClr val="000000">
                <a:alpha val="49803"/>
              </a:srgbClr>
            </a:outerShdw>
          </a:effectLst>
        </p:spPr>
      </p:pic>
      <p:pic>
        <p:nvPicPr>
          <p:cNvPr id="83" name="Google Shape;83;g11da12fab08_0_77"/>
          <p:cNvPicPr preferRelativeResize="0"/>
          <p:nvPr/>
        </p:nvPicPr>
        <p:blipFill rotWithShape="1">
          <a:blip r:embed="rId12">
            <a:alphaModFix/>
          </a:blip>
          <a:srcRect b="9033" l="0" r="0" t="24098"/>
          <a:stretch/>
        </p:blipFill>
        <p:spPr>
          <a:xfrm>
            <a:off x="3153338" y="4978675"/>
            <a:ext cx="2548309" cy="909525"/>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11da12fab08_0_15"/>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Estructura Tags HTML</a:t>
            </a:r>
            <a:endParaRPr/>
          </a:p>
        </p:txBody>
      </p:sp>
      <p:pic>
        <p:nvPicPr>
          <p:cNvPr id="89" name="Google Shape;89;g11da12fab08_0_15"/>
          <p:cNvPicPr preferRelativeResize="0"/>
          <p:nvPr/>
        </p:nvPicPr>
        <p:blipFill rotWithShape="1">
          <a:blip r:embed="rId3">
            <a:alphaModFix/>
          </a:blip>
          <a:srcRect b="0" l="7452" r="7648" t="0"/>
          <a:stretch/>
        </p:blipFill>
        <p:spPr>
          <a:xfrm>
            <a:off x="6956050" y="1289350"/>
            <a:ext cx="4636125" cy="5078425"/>
          </a:xfrm>
          <a:prstGeom prst="rect">
            <a:avLst/>
          </a:prstGeom>
          <a:noFill/>
          <a:ln>
            <a:noFill/>
          </a:ln>
          <a:effectLst>
            <a:outerShdw blurRad="57150" rotWithShape="0" algn="bl" dir="5400000" dist="19050">
              <a:srgbClr val="000000">
                <a:alpha val="49803"/>
              </a:srgbClr>
            </a:outerShdw>
          </a:effectLst>
        </p:spPr>
      </p:pic>
      <p:pic>
        <p:nvPicPr>
          <p:cNvPr id="90" name="Google Shape;90;g11da12fab08_0_15"/>
          <p:cNvPicPr preferRelativeResize="0"/>
          <p:nvPr/>
        </p:nvPicPr>
        <p:blipFill rotWithShape="1">
          <a:blip r:embed="rId4">
            <a:alphaModFix/>
          </a:blip>
          <a:srcRect b="0" l="0" r="0" t="0"/>
          <a:stretch/>
        </p:blipFill>
        <p:spPr>
          <a:xfrm>
            <a:off x="438650" y="1526575"/>
            <a:ext cx="6385326" cy="4603975"/>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11da12fab08_0_94"/>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HTML</a:t>
            </a:r>
            <a:endParaRPr/>
          </a:p>
        </p:txBody>
      </p:sp>
      <p:pic>
        <p:nvPicPr>
          <p:cNvPr id="96" name="Google Shape;96;g11da12fab08_0_94"/>
          <p:cNvPicPr preferRelativeResize="0"/>
          <p:nvPr/>
        </p:nvPicPr>
        <p:blipFill rotWithShape="1">
          <a:blip r:embed="rId3">
            <a:alphaModFix/>
          </a:blip>
          <a:srcRect b="51205" l="0" r="0" t="0"/>
          <a:stretch/>
        </p:blipFill>
        <p:spPr>
          <a:xfrm>
            <a:off x="324725" y="1385450"/>
            <a:ext cx="11542548" cy="3863901"/>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11da12fab08_0_99"/>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HTML</a:t>
            </a:r>
            <a:endParaRPr/>
          </a:p>
        </p:txBody>
      </p:sp>
      <p:pic>
        <p:nvPicPr>
          <p:cNvPr id="102" name="Google Shape;102;g11da12fab08_0_99"/>
          <p:cNvPicPr preferRelativeResize="0"/>
          <p:nvPr/>
        </p:nvPicPr>
        <p:blipFill rotWithShape="1">
          <a:blip r:embed="rId3">
            <a:alphaModFix/>
          </a:blip>
          <a:srcRect b="0" l="0" r="0" t="47965"/>
          <a:stretch/>
        </p:blipFill>
        <p:spPr>
          <a:xfrm>
            <a:off x="499113" y="1656850"/>
            <a:ext cx="11193774" cy="3995925"/>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11e722cc032_0_254"/>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Manos a la obra</a:t>
            </a:r>
            <a:endParaRPr/>
          </a:p>
        </p:txBody>
      </p:sp>
      <p:pic>
        <p:nvPicPr>
          <p:cNvPr id="108" name="Google Shape;108;g11e722cc032_0_254"/>
          <p:cNvPicPr preferRelativeResize="0"/>
          <p:nvPr/>
        </p:nvPicPr>
        <p:blipFill rotWithShape="1">
          <a:blip r:embed="rId3">
            <a:alphaModFix/>
          </a:blip>
          <a:srcRect b="0" l="0" r="0" t="0"/>
          <a:stretch/>
        </p:blipFill>
        <p:spPr>
          <a:xfrm>
            <a:off x="2305050" y="1428760"/>
            <a:ext cx="7581900" cy="4000500"/>
          </a:xfrm>
          <a:prstGeom prst="rect">
            <a:avLst/>
          </a:prstGeom>
          <a:noFill/>
          <a:ln>
            <a:noFill/>
          </a:ln>
          <a:effectLst>
            <a:outerShdw blurRad="57150" rotWithShape="0" algn="bl" dir="5400000" dist="19050">
              <a:srgbClr val="000000">
                <a:alpha val="49411"/>
              </a:srgbClr>
            </a:outerShdw>
          </a:effectLst>
        </p:spPr>
      </p:pic>
      <p:sp>
        <p:nvSpPr>
          <p:cNvPr id="109" name="Google Shape;109;g11e722cc032_0_254"/>
          <p:cNvSpPr txBox="1"/>
          <p:nvPr/>
        </p:nvSpPr>
        <p:spPr>
          <a:xfrm>
            <a:off x="3987100" y="5612700"/>
            <a:ext cx="4937700" cy="492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b="0" i="0" lang="es-CL" sz="2000" u="sng" cap="none" strike="noStrike">
                <a:solidFill>
                  <a:schemeClr val="hlink"/>
                </a:solidFill>
                <a:latin typeface="Calibri"/>
                <a:ea typeface="Calibri"/>
                <a:cs typeface="Calibri"/>
                <a:sym typeface="Calibri"/>
                <a:hlinkClick r:id="rId4"/>
              </a:rPr>
              <a:t>https://code.visualstudio.com/</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11e722cc032_0_104"/>
          <p:cNvSpPr txBox="1"/>
          <p:nvPr>
            <p:ph type="ctrTitle"/>
          </p:nvPr>
        </p:nvSpPr>
        <p:spPr>
          <a:xfrm>
            <a:off x="2268710" y="299110"/>
            <a:ext cx="8374500" cy="9462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A3838"/>
              </a:buClr>
              <a:buSzPts val="4400"/>
              <a:buFont typeface="Calibri"/>
              <a:buNone/>
            </a:pPr>
            <a:r>
              <a:rPr lang="es-CL"/>
              <a:t>Recurso didáctico</a:t>
            </a:r>
            <a:endParaRPr/>
          </a:p>
        </p:txBody>
      </p:sp>
      <p:sp>
        <p:nvSpPr>
          <p:cNvPr id="115" name="Google Shape;115;g11e722cc032_0_104"/>
          <p:cNvSpPr txBox="1"/>
          <p:nvPr/>
        </p:nvSpPr>
        <p:spPr>
          <a:xfrm>
            <a:off x="3987100" y="5285075"/>
            <a:ext cx="4937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CL" sz="2800" u="sng" cap="none" strike="noStrike">
                <a:solidFill>
                  <a:schemeClr val="hlink"/>
                </a:solidFill>
                <a:latin typeface="Calibri"/>
                <a:ea typeface="Calibri"/>
                <a:cs typeface="Calibri"/>
                <a:sym typeface="Calibri"/>
                <a:hlinkClick r:id="rId3"/>
              </a:rPr>
              <a:t>https://www.w3schools.com/</a:t>
            </a:r>
            <a:endParaRPr b="0" i="0" sz="2800" u="none" cap="none" strike="noStrike">
              <a:solidFill>
                <a:srgbClr val="000000"/>
              </a:solidFill>
              <a:latin typeface="Calibri"/>
              <a:ea typeface="Calibri"/>
              <a:cs typeface="Calibri"/>
              <a:sym typeface="Calibri"/>
            </a:endParaRPr>
          </a:p>
        </p:txBody>
      </p:sp>
      <p:pic>
        <p:nvPicPr>
          <p:cNvPr id="116" name="Google Shape;116;g11e722cc032_0_104"/>
          <p:cNvPicPr preferRelativeResize="0"/>
          <p:nvPr/>
        </p:nvPicPr>
        <p:blipFill rotWithShape="1">
          <a:blip r:embed="rId4">
            <a:alphaModFix/>
          </a:blip>
          <a:srcRect b="0" l="0" r="0" t="0"/>
          <a:stretch/>
        </p:blipFill>
        <p:spPr>
          <a:xfrm>
            <a:off x="4232800" y="1457710"/>
            <a:ext cx="3726389" cy="372638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2021-05-08T00:28:52Z</dcterms:created>
  <dc:creator>Usuario de Windows</dc:creator>
</cp:coreProperties>
</file>