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8229600" cx="14630400"/>
  <p:notesSz cx="8229600" cy="14630400"/>
  <p:embeddedFontLst>
    <p:embeddedFont>
      <p:font typeface="Cabin"/>
      <p:regular r:id="rId45"/>
      <p:bold r:id="rId46"/>
      <p:italic r:id="rId47"/>
      <p:boldItalic r:id="rId48"/>
    </p:embeddedFont>
    <p:embeddedFont>
      <p:font typeface="Unbounded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Cabin-bold.fntdata"/><Relationship Id="rId45" Type="http://schemas.openxmlformats.org/officeDocument/2006/relationships/font" Target="fonts/Cabin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Cabin-boldItalic.fntdata"/><Relationship Id="rId47" Type="http://schemas.openxmlformats.org/officeDocument/2006/relationships/font" Target="fonts/Cabin-italic.fntdata"/><Relationship Id="rId49" Type="http://schemas.openxmlformats.org/officeDocument/2006/relationships/font" Target="fonts/Unbounde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font" Target="fonts/Unbounde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" name="Google Shape;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7" name="Google Shape;7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7 master">
  <p:cSld name="Slide 27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8 master">
  <p:cSld name="Slide 28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9 master">
  <p:cSld name="Slide 29 master"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0 master">
  <p:cSld name="Slide 30 master"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1 master">
  <p:cSld name="Slide 31 master"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2 master">
  <p:cSld name="Slide 32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3 master">
  <p:cSld name="Slide 33 master"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4 master">
  <p:cSld name="Slide 34 master"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5 master">
  <p:cSld name="Slide 35 master"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6 master">
  <p:cSld name="Slide 36 master"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7 master">
  <p:cSld name="Slide 37 master"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8 master">
  <p:cSld name="Slide 38 master"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9 master">
  <p:cSld name="Slide 39 master"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0 master">
  <p:cSld name="Slide 40 master"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8" name="Google Shape;12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Relationship Id="rId6" Type="http://schemas.openxmlformats.org/officeDocument/2006/relationships/image" Target="../media/image5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42.png"/><Relationship Id="rId6" Type="http://schemas.openxmlformats.org/officeDocument/2006/relationships/image" Target="../media/image41.png"/><Relationship Id="rId7" Type="http://schemas.openxmlformats.org/officeDocument/2006/relationships/image" Target="../media/image44.png"/><Relationship Id="rId8" Type="http://schemas.openxmlformats.org/officeDocument/2006/relationships/image" Target="../media/image6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54.png"/><Relationship Id="rId6" Type="http://schemas.openxmlformats.org/officeDocument/2006/relationships/image" Target="../media/image6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1.png"/><Relationship Id="rId4" Type="http://schemas.openxmlformats.org/officeDocument/2006/relationships/image" Target="../media/image80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8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71.png"/><Relationship Id="rId6" Type="http://schemas.openxmlformats.org/officeDocument/2006/relationships/image" Target="../media/image7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png"/><Relationship Id="rId4" Type="http://schemas.openxmlformats.org/officeDocument/2006/relationships/image" Target="../media/image100.png"/><Relationship Id="rId5" Type="http://schemas.openxmlformats.org/officeDocument/2006/relationships/image" Target="../media/image45.png"/><Relationship Id="rId6" Type="http://schemas.openxmlformats.org/officeDocument/2006/relationships/image" Target="../media/image70.png"/><Relationship Id="rId7" Type="http://schemas.openxmlformats.org/officeDocument/2006/relationships/image" Target="../media/image62.png"/><Relationship Id="rId8" Type="http://schemas.openxmlformats.org/officeDocument/2006/relationships/image" Target="../media/image7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7.png"/><Relationship Id="rId4" Type="http://schemas.openxmlformats.org/officeDocument/2006/relationships/image" Target="../media/image90.png"/><Relationship Id="rId9" Type="http://schemas.openxmlformats.org/officeDocument/2006/relationships/image" Target="../media/image81.png"/><Relationship Id="rId5" Type="http://schemas.openxmlformats.org/officeDocument/2006/relationships/image" Target="../media/image73.png"/><Relationship Id="rId6" Type="http://schemas.openxmlformats.org/officeDocument/2006/relationships/image" Target="../media/image89.png"/><Relationship Id="rId7" Type="http://schemas.openxmlformats.org/officeDocument/2006/relationships/image" Target="../media/image79.png"/><Relationship Id="rId8" Type="http://schemas.openxmlformats.org/officeDocument/2006/relationships/image" Target="../media/image104.png"/><Relationship Id="rId10" Type="http://schemas.openxmlformats.org/officeDocument/2006/relationships/image" Target="../media/image9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5.png"/><Relationship Id="rId4" Type="http://schemas.openxmlformats.org/officeDocument/2006/relationships/image" Target="../media/image113.png"/><Relationship Id="rId5" Type="http://schemas.openxmlformats.org/officeDocument/2006/relationships/image" Target="../media/image8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5.png"/><Relationship Id="rId4" Type="http://schemas.openxmlformats.org/officeDocument/2006/relationships/image" Target="../media/image82.png"/><Relationship Id="rId5" Type="http://schemas.openxmlformats.org/officeDocument/2006/relationships/image" Target="../media/image84.png"/><Relationship Id="rId6" Type="http://schemas.openxmlformats.org/officeDocument/2006/relationships/image" Target="../media/image8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8.png"/><Relationship Id="rId4" Type="http://schemas.openxmlformats.org/officeDocument/2006/relationships/image" Target="../media/image87.png"/><Relationship Id="rId5" Type="http://schemas.openxmlformats.org/officeDocument/2006/relationships/image" Target="../media/image9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4.png"/><Relationship Id="rId4" Type="http://schemas.openxmlformats.org/officeDocument/2006/relationships/image" Target="../media/image92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3.png"/><Relationship Id="rId4" Type="http://schemas.openxmlformats.org/officeDocument/2006/relationships/image" Target="../media/image105.png"/><Relationship Id="rId5" Type="http://schemas.openxmlformats.org/officeDocument/2006/relationships/image" Target="../media/image109.png"/><Relationship Id="rId6" Type="http://schemas.openxmlformats.org/officeDocument/2006/relationships/image" Target="../media/image107.png"/><Relationship Id="rId7" Type="http://schemas.openxmlformats.org/officeDocument/2006/relationships/image" Target="../media/image1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1.png"/><Relationship Id="rId4" Type="http://schemas.openxmlformats.org/officeDocument/2006/relationships/image" Target="../media/image111.png"/><Relationship Id="rId5" Type="http://schemas.openxmlformats.org/officeDocument/2006/relationships/image" Target="../media/image45.png"/><Relationship Id="rId6" Type="http://schemas.openxmlformats.org/officeDocument/2006/relationships/image" Target="../media/image62.png"/><Relationship Id="rId7" Type="http://schemas.openxmlformats.org/officeDocument/2006/relationships/image" Target="../media/image10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8.png"/><Relationship Id="rId4" Type="http://schemas.openxmlformats.org/officeDocument/2006/relationships/image" Target="../media/image101.png"/><Relationship Id="rId5" Type="http://schemas.openxmlformats.org/officeDocument/2006/relationships/image" Target="../media/image108.png"/><Relationship Id="rId6" Type="http://schemas.openxmlformats.org/officeDocument/2006/relationships/image" Target="../media/image1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2.png"/><Relationship Id="rId4" Type="http://schemas.openxmlformats.org/officeDocument/2006/relationships/image" Target="../media/image115.png"/><Relationship Id="rId5" Type="http://schemas.openxmlformats.org/officeDocument/2006/relationships/image" Target="../media/image117.png"/><Relationship Id="rId6" Type="http://schemas.openxmlformats.org/officeDocument/2006/relationships/image" Target="../media/image1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9.png"/><Relationship Id="rId4" Type="http://schemas.openxmlformats.org/officeDocument/2006/relationships/image" Target="../media/image128.png"/><Relationship Id="rId5" Type="http://schemas.openxmlformats.org/officeDocument/2006/relationships/image" Target="../media/image120.png"/><Relationship Id="rId6" Type="http://schemas.openxmlformats.org/officeDocument/2006/relationships/image" Target="../media/image1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1.png"/><Relationship Id="rId4" Type="http://schemas.openxmlformats.org/officeDocument/2006/relationships/image" Target="../media/image116.png"/><Relationship Id="rId9" Type="http://schemas.openxmlformats.org/officeDocument/2006/relationships/image" Target="../media/image130.png"/><Relationship Id="rId5" Type="http://schemas.openxmlformats.org/officeDocument/2006/relationships/image" Target="../media/image151.png"/><Relationship Id="rId6" Type="http://schemas.openxmlformats.org/officeDocument/2006/relationships/image" Target="../media/image146.png"/><Relationship Id="rId7" Type="http://schemas.openxmlformats.org/officeDocument/2006/relationships/image" Target="../media/image134.png"/><Relationship Id="rId8" Type="http://schemas.openxmlformats.org/officeDocument/2006/relationships/image" Target="../media/image125.png"/><Relationship Id="rId10" Type="http://schemas.openxmlformats.org/officeDocument/2006/relationships/image" Target="../media/image1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9.png"/><Relationship Id="rId4" Type="http://schemas.openxmlformats.org/officeDocument/2006/relationships/image" Target="../media/image143.png"/><Relationship Id="rId5" Type="http://schemas.openxmlformats.org/officeDocument/2006/relationships/image" Target="../media/image1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5.png"/><Relationship Id="rId4" Type="http://schemas.openxmlformats.org/officeDocument/2006/relationships/image" Target="../media/image124.png"/><Relationship Id="rId5" Type="http://schemas.openxmlformats.org/officeDocument/2006/relationships/image" Target="../media/image144.png"/><Relationship Id="rId6" Type="http://schemas.openxmlformats.org/officeDocument/2006/relationships/image" Target="../media/image141.png"/><Relationship Id="rId7" Type="http://schemas.openxmlformats.org/officeDocument/2006/relationships/image" Target="../media/image1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2.png"/><Relationship Id="rId4" Type="http://schemas.openxmlformats.org/officeDocument/2006/relationships/image" Target="../media/image147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0.png"/><Relationship Id="rId4" Type="http://schemas.openxmlformats.org/officeDocument/2006/relationships/image" Target="../media/image155.png"/><Relationship Id="rId5" Type="http://schemas.openxmlformats.org/officeDocument/2006/relationships/image" Target="../media/image149.png"/><Relationship Id="rId6" Type="http://schemas.openxmlformats.org/officeDocument/2006/relationships/image" Target="../media/image1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8.png"/><Relationship Id="rId4" Type="http://schemas.openxmlformats.org/officeDocument/2006/relationships/image" Target="../media/image1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2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3"/>
          <p:cNvSpPr/>
          <p:nvPr/>
        </p:nvSpPr>
        <p:spPr>
          <a:xfrm>
            <a:off x="6324124" y="1634609"/>
            <a:ext cx="7468553" cy="211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Desarrollo de Aplicaciones Front-End</a:t>
            </a:r>
            <a:endParaRPr b="0" i="0" sz="4400" u="none" cap="none" strike="noStrike"/>
          </a:p>
        </p:txBody>
      </p:sp>
      <p:sp>
        <p:nvSpPr>
          <p:cNvPr id="138" name="Google Shape;138;p43"/>
          <p:cNvSpPr/>
          <p:nvPr/>
        </p:nvSpPr>
        <p:spPr>
          <a:xfrm>
            <a:off x="6324124" y="4105632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Bienvenidos a este viaje por las tecnologías web modernas. Exploraremos desde los fundamentos hasta frameworks avanzados.</a:t>
            </a:r>
            <a:endParaRPr b="0" i="0" sz="1850" u="none" cap="none" strike="noStrike"/>
          </a:p>
        </p:txBody>
      </p:sp>
      <p:sp>
        <p:nvSpPr>
          <p:cNvPr id="139" name="Google Shape;139;p43"/>
          <p:cNvSpPr/>
          <p:nvPr/>
        </p:nvSpPr>
        <p:spPr>
          <a:xfrm>
            <a:off x="6324124" y="5140881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Descubriremos cómo las aplicaciones front-end interactúan con servidores. Profundizaremos en React y sus beneficios.</a:t>
            </a:r>
            <a:endParaRPr b="0" i="0" sz="1850" u="none" cap="none" strike="noStrike"/>
          </a:p>
        </p:txBody>
      </p:sp>
      <p:sp>
        <p:nvSpPr>
          <p:cNvPr id="140" name="Google Shape;140;p43"/>
          <p:cNvSpPr/>
          <p:nvPr/>
        </p:nvSpPr>
        <p:spPr>
          <a:xfrm>
            <a:off x="6324137" y="6176129"/>
            <a:ext cx="23637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29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350"/>
              <a:buFont typeface="Cabin"/>
              <a:buNone/>
            </a:pPr>
            <a:r>
              <a:rPr b="1" lang="en-US" sz="235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</a:t>
            </a:r>
            <a:r>
              <a:rPr b="1" i="0" lang="en-US" sz="23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icente zapata</a:t>
            </a:r>
            <a:endParaRPr b="0" i="0" sz="23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" name="Google Shape;14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4"/>
          <p:cNvSpPr/>
          <p:nvPr/>
        </p:nvSpPr>
        <p:spPr>
          <a:xfrm>
            <a:off x="830104" y="652820"/>
            <a:ext cx="7483792" cy="1394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Unbounded"/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Fundamentos Web: HTML</a:t>
            </a:r>
            <a:endParaRPr b="0" i="0" sz="4350" u="none" cap="none" strike="noStrike"/>
          </a:p>
        </p:txBody>
      </p:sp>
      <p:pic>
        <p:nvPicPr>
          <p:cNvPr descr="preencoded.png" id="148" name="Google Shape;14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104" y="2403515"/>
            <a:ext cx="1185863" cy="172438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4"/>
          <p:cNvSpPr/>
          <p:nvPr/>
        </p:nvSpPr>
        <p:spPr>
          <a:xfrm>
            <a:off x="2371725" y="2640687"/>
            <a:ext cx="3018711" cy="348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50"/>
              <a:buFont typeface="Unbounded"/>
              <a:buNone/>
            </a:pPr>
            <a:r>
              <a:rPr b="0" i="0" lang="en-US" sz="21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Estructura básica</a:t>
            </a:r>
            <a:endParaRPr b="0" i="0" sz="2150" u="none" cap="none" strike="noStrike"/>
          </a:p>
        </p:txBody>
      </p:sp>
      <p:sp>
        <p:nvSpPr>
          <p:cNvPr id="150" name="Google Shape;150;p44"/>
          <p:cNvSpPr/>
          <p:nvPr/>
        </p:nvSpPr>
        <p:spPr>
          <a:xfrm>
            <a:off x="2371725" y="3131820"/>
            <a:ext cx="5942171" cy="758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HTML proporciona el esqueleto de toda página web mediante etiquetas.</a:t>
            </a:r>
            <a:endParaRPr b="0" i="0" sz="1850" u="none" cap="none" strike="noStrike"/>
          </a:p>
        </p:txBody>
      </p:sp>
      <p:pic>
        <p:nvPicPr>
          <p:cNvPr descr="preencoded.png" id="151" name="Google Shape;15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104" y="4127897"/>
            <a:ext cx="1185863" cy="172438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4"/>
          <p:cNvSpPr/>
          <p:nvPr/>
        </p:nvSpPr>
        <p:spPr>
          <a:xfrm>
            <a:off x="2371725" y="4365069"/>
            <a:ext cx="4461272" cy="348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50"/>
              <a:buFont typeface="Unbounded"/>
              <a:buNone/>
            </a:pPr>
            <a:r>
              <a:rPr b="0" i="0" lang="en-US" sz="21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Organización de contenido</a:t>
            </a:r>
            <a:endParaRPr b="0" i="0" sz="2150" u="none" cap="none" strike="noStrike"/>
          </a:p>
        </p:txBody>
      </p:sp>
      <p:sp>
        <p:nvSpPr>
          <p:cNvPr id="153" name="Google Shape;153;p44"/>
          <p:cNvSpPr/>
          <p:nvPr/>
        </p:nvSpPr>
        <p:spPr>
          <a:xfrm>
            <a:off x="2371725" y="4856202"/>
            <a:ext cx="5942171" cy="758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Define jerarquías y relaciones entre elementos de información.</a:t>
            </a:r>
            <a:endParaRPr b="0" i="0" sz="1850" u="none" cap="none" strike="noStrike"/>
          </a:p>
        </p:txBody>
      </p:sp>
      <p:pic>
        <p:nvPicPr>
          <p:cNvPr descr="preencoded.png" id="154" name="Google Shape;15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104" y="5852279"/>
            <a:ext cx="1185863" cy="172438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4"/>
          <p:cNvSpPr/>
          <p:nvPr/>
        </p:nvSpPr>
        <p:spPr>
          <a:xfrm>
            <a:off x="2371725" y="6089452"/>
            <a:ext cx="3394710" cy="348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50"/>
              <a:buFont typeface="Unbounded"/>
              <a:buNone/>
            </a:pPr>
            <a:r>
              <a:rPr b="0" i="0" lang="en-US" sz="21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Evolución constante</a:t>
            </a:r>
            <a:endParaRPr b="0" i="0" sz="2150" u="none" cap="none" strike="noStrike"/>
          </a:p>
        </p:txBody>
      </p:sp>
      <p:sp>
        <p:nvSpPr>
          <p:cNvPr id="156" name="Google Shape;156;p44"/>
          <p:cNvSpPr/>
          <p:nvPr/>
        </p:nvSpPr>
        <p:spPr>
          <a:xfrm>
            <a:off x="2371725" y="6580584"/>
            <a:ext cx="5942171" cy="758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Desde HTML4 hasta HTML5 con mejoras significativas de funcionalidad.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2" name="Google Shape;16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5"/>
          <p:cNvSpPr/>
          <p:nvPr/>
        </p:nvSpPr>
        <p:spPr>
          <a:xfrm>
            <a:off x="837724" y="1038820"/>
            <a:ext cx="725590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Semántica en HTML5</a:t>
            </a:r>
            <a:endParaRPr b="0" i="0" sz="4400" u="none" cap="none" strike="noStrike"/>
          </a:p>
        </p:txBody>
      </p:sp>
      <p:sp>
        <p:nvSpPr>
          <p:cNvPr id="164" name="Google Shape;164;p45"/>
          <p:cNvSpPr/>
          <p:nvPr/>
        </p:nvSpPr>
        <p:spPr>
          <a:xfrm>
            <a:off x="837724" y="2101810"/>
            <a:ext cx="3614618" cy="3025616"/>
          </a:xfrm>
          <a:prstGeom prst="roundRect">
            <a:avLst>
              <a:gd fmla="val 118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5"/>
          <p:cNvSpPr/>
          <p:nvPr/>
        </p:nvSpPr>
        <p:spPr>
          <a:xfrm>
            <a:off x="1077039" y="2341126"/>
            <a:ext cx="3135987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Nuevas etiquetas estructurales</a:t>
            </a:r>
            <a:endParaRPr b="0" i="0" sz="2200" u="none" cap="none" strike="noStrike"/>
          </a:p>
        </p:txBody>
      </p:sp>
      <p:sp>
        <p:nvSpPr>
          <p:cNvPr id="166" name="Google Shape;166;p45"/>
          <p:cNvSpPr/>
          <p:nvPr/>
        </p:nvSpPr>
        <p:spPr>
          <a:xfrm>
            <a:off x="1077039" y="3188613"/>
            <a:ext cx="31359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Header para encabezados</a:t>
            </a:r>
            <a:endParaRPr b="0" i="0" sz="1850" u="none" cap="none" strike="noStrike"/>
          </a:p>
        </p:txBody>
      </p:sp>
      <p:sp>
        <p:nvSpPr>
          <p:cNvPr id="167" name="Google Shape;167;p45"/>
          <p:cNvSpPr/>
          <p:nvPr/>
        </p:nvSpPr>
        <p:spPr>
          <a:xfrm>
            <a:off x="1077039" y="3655338"/>
            <a:ext cx="31359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Nav para navegación</a:t>
            </a:r>
            <a:endParaRPr b="0" i="0" sz="1850" u="none" cap="none" strike="noStrike"/>
          </a:p>
        </p:txBody>
      </p:sp>
      <p:sp>
        <p:nvSpPr>
          <p:cNvPr id="168" name="Google Shape;168;p45"/>
          <p:cNvSpPr/>
          <p:nvPr/>
        </p:nvSpPr>
        <p:spPr>
          <a:xfrm>
            <a:off x="1077039" y="4122063"/>
            <a:ext cx="313598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Section para contenido temático</a:t>
            </a:r>
            <a:endParaRPr b="0" i="0" sz="1850" u="none" cap="none" strike="noStrike"/>
          </a:p>
        </p:txBody>
      </p:sp>
      <p:sp>
        <p:nvSpPr>
          <p:cNvPr id="169" name="Google Shape;169;p45"/>
          <p:cNvSpPr/>
          <p:nvPr/>
        </p:nvSpPr>
        <p:spPr>
          <a:xfrm>
            <a:off x="4691658" y="2101810"/>
            <a:ext cx="3614618" cy="3025616"/>
          </a:xfrm>
          <a:prstGeom prst="roundRect">
            <a:avLst>
              <a:gd fmla="val 118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5"/>
          <p:cNvSpPr/>
          <p:nvPr/>
        </p:nvSpPr>
        <p:spPr>
          <a:xfrm>
            <a:off x="4930973" y="2341126"/>
            <a:ext cx="3135987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Mejora de accesibilidad</a:t>
            </a:r>
            <a:endParaRPr b="0" i="0" sz="2200" u="none" cap="none" strike="noStrike"/>
          </a:p>
        </p:txBody>
      </p:sp>
      <p:sp>
        <p:nvSpPr>
          <p:cNvPr id="171" name="Google Shape;171;p45"/>
          <p:cNvSpPr/>
          <p:nvPr/>
        </p:nvSpPr>
        <p:spPr>
          <a:xfrm>
            <a:off x="4930973" y="3188613"/>
            <a:ext cx="313598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Lectores de pantalla optimizados</a:t>
            </a:r>
            <a:endParaRPr b="0" i="0" sz="1850" u="none" cap="none" strike="noStrike"/>
          </a:p>
        </p:txBody>
      </p:sp>
      <p:sp>
        <p:nvSpPr>
          <p:cNvPr id="172" name="Google Shape;172;p45"/>
          <p:cNvSpPr/>
          <p:nvPr/>
        </p:nvSpPr>
        <p:spPr>
          <a:xfrm>
            <a:off x="4930973" y="4038362"/>
            <a:ext cx="313598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Mayor compatibilidad con tecnologías asistivas</a:t>
            </a:r>
            <a:endParaRPr b="0" i="0" sz="1850" u="none" cap="none" strike="noStrike"/>
          </a:p>
        </p:txBody>
      </p:sp>
      <p:sp>
        <p:nvSpPr>
          <p:cNvPr id="173" name="Google Shape;173;p45"/>
          <p:cNvSpPr/>
          <p:nvPr/>
        </p:nvSpPr>
        <p:spPr>
          <a:xfrm>
            <a:off x="837724" y="5366742"/>
            <a:ext cx="7468553" cy="1823918"/>
          </a:xfrm>
          <a:prstGeom prst="roundRect">
            <a:avLst>
              <a:gd fmla="val 1969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5"/>
          <p:cNvSpPr/>
          <p:nvPr/>
        </p:nvSpPr>
        <p:spPr>
          <a:xfrm>
            <a:off x="1077039" y="5606058"/>
            <a:ext cx="312908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Soporte avanzado</a:t>
            </a:r>
            <a:endParaRPr b="0" i="0" sz="2200" u="none" cap="none" strike="noStrike"/>
          </a:p>
        </p:txBody>
      </p:sp>
      <p:sp>
        <p:nvSpPr>
          <p:cNvPr id="175" name="Google Shape;175;p45"/>
          <p:cNvSpPr/>
          <p:nvPr/>
        </p:nvSpPr>
        <p:spPr>
          <a:xfrm>
            <a:off x="1077039" y="6101596"/>
            <a:ext cx="6989921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Aplicaciones web complejas</a:t>
            </a:r>
            <a:endParaRPr b="0" i="0" sz="1850" u="none" cap="none" strike="noStrike"/>
          </a:p>
        </p:txBody>
      </p:sp>
      <p:sp>
        <p:nvSpPr>
          <p:cNvPr id="176" name="Google Shape;176;p45"/>
          <p:cNvSpPr/>
          <p:nvPr/>
        </p:nvSpPr>
        <p:spPr>
          <a:xfrm>
            <a:off x="1077039" y="6568321"/>
            <a:ext cx="6989921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Mejor interpretación por navegadores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6"/>
          <p:cNvSpPr/>
          <p:nvPr/>
        </p:nvSpPr>
        <p:spPr>
          <a:xfrm>
            <a:off x="837724" y="1256348"/>
            <a:ext cx="8124825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Fundamentos Web: CSS</a:t>
            </a:r>
            <a:endParaRPr b="0" i="0" sz="4400" u="none" cap="none" strike="noStrike"/>
          </a:p>
        </p:txBody>
      </p:sp>
      <p:sp>
        <p:nvSpPr>
          <p:cNvPr id="183" name="Google Shape;183;p46"/>
          <p:cNvSpPr/>
          <p:nvPr/>
        </p:nvSpPr>
        <p:spPr>
          <a:xfrm>
            <a:off x="1753195" y="3883819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Estilización</a:t>
            </a:r>
            <a:endParaRPr b="0" i="0" sz="2200" u="none" cap="none" strike="noStrike"/>
          </a:p>
        </p:txBody>
      </p:sp>
      <p:sp>
        <p:nvSpPr>
          <p:cNvPr id="184" name="Google Shape;184;p46"/>
          <p:cNvSpPr/>
          <p:nvPr/>
        </p:nvSpPr>
        <p:spPr>
          <a:xfrm>
            <a:off x="837724" y="4379357"/>
            <a:ext cx="3731657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Controla colores, tipografías y apariencia visual de elementos HTML.</a:t>
            </a:r>
            <a:endParaRPr b="0" i="0" sz="1850" u="none" cap="none" strike="noStrike"/>
          </a:p>
        </p:txBody>
      </p:sp>
      <p:pic>
        <p:nvPicPr>
          <p:cNvPr descr="preencoded.png" id="185" name="Google Shape;18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9146" y="4482346"/>
            <a:ext cx="35814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6"/>
          <p:cNvSpPr/>
          <p:nvPr/>
        </p:nvSpPr>
        <p:spPr>
          <a:xfrm>
            <a:off x="9941243" y="2852023"/>
            <a:ext cx="3117771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Responsive design</a:t>
            </a:r>
            <a:endParaRPr b="0" i="0" sz="2200" u="none" cap="none" strike="noStrike"/>
          </a:p>
        </p:txBody>
      </p:sp>
      <p:sp>
        <p:nvSpPr>
          <p:cNvPr id="188" name="Google Shape;188;p46"/>
          <p:cNvSpPr/>
          <p:nvPr/>
        </p:nvSpPr>
        <p:spPr>
          <a:xfrm>
            <a:off x="9941243" y="3347561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Flexbox y Grid permiten adaptación a diferentes dispositivos.</a:t>
            </a:r>
            <a:endParaRPr b="0" i="0" sz="1850" u="none" cap="none" strike="noStrike"/>
          </a:p>
        </p:txBody>
      </p:sp>
      <p:pic>
        <p:nvPicPr>
          <p:cNvPr descr="preencoded.png" id="189" name="Google Shape;18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9563" y="3108008"/>
            <a:ext cx="35814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46"/>
          <p:cNvSpPr/>
          <p:nvPr/>
        </p:nvSpPr>
        <p:spPr>
          <a:xfrm>
            <a:off x="9941243" y="529863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Frameworks</a:t>
            </a:r>
            <a:endParaRPr b="0" i="0" sz="2200" u="none" cap="none" strike="noStrike"/>
          </a:p>
        </p:txBody>
      </p:sp>
      <p:sp>
        <p:nvSpPr>
          <p:cNvPr id="192" name="Google Shape;192;p46"/>
          <p:cNvSpPr/>
          <p:nvPr/>
        </p:nvSpPr>
        <p:spPr>
          <a:xfrm>
            <a:off x="9941243" y="5794177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Bootstrap acelera el desarrollo con componentes predefinidos.</a:t>
            </a:r>
            <a:endParaRPr b="0" i="0" sz="1850" u="none" cap="none" strike="noStrike"/>
          </a:p>
        </p:txBody>
      </p:sp>
      <p:pic>
        <p:nvPicPr>
          <p:cNvPr descr="preencoded.png" id="193" name="Google Shape;193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29563" y="5856565"/>
            <a:ext cx="35814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7"/>
          <p:cNvSpPr/>
          <p:nvPr/>
        </p:nvSpPr>
        <p:spPr>
          <a:xfrm>
            <a:off x="6324124" y="1404818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Técnicas Avanzadas de CSS</a:t>
            </a:r>
            <a:endParaRPr b="0" i="0" sz="4400" u="none" cap="none" strike="noStrike"/>
          </a:p>
        </p:txBody>
      </p:sp>
      <p:sp>
        <p:nvSpPr>
          <p:cNvPr id="202" name="Google Shape;202;p47"/>
          <p:cNvSpPr/>
          <p:nvPr/>
        </p:nvSpPr>
        <p:spPr>
          <a:xfrm>
            <a:off x="6324124" y="3441025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4374" y="3499009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7"/>
          <p:cNvSpPr/>
          <p:nvPr/>
        </p:nvSpPr>
        <p:spPr>
          <a:xfrm>
            <a:off x="7101959" y="3441025"/>
            <a:ext cx="2836783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Animaciones y transiciones</a:t>
            </a:r>
            <a:endParaRPr b="0" i="0" sz="2200" u="none" cap="none" strike="noStrike"/>
          </a:p>
        </p:txBody>
      </p:sp>
      <p:sp>
        <p:nvSpPr>
          <p:cNvPr id="205" name="Google Shape;205;p47"/>
          <p:cNvSpPr/>
          <p:nvPr/>
        </p:nvSpPr>
        <p:spPr>
          <a:xfrm>
            <a:off x="7101959" y="4288512"/>
            <a:ext cx="283678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Movimientos fluidos y cambios de estado que mejoran la experiencia.</a:t>
            </a:r>
            <a:endParaRPr b="0" i="0" sz="1850" u="none" cap="none" strike="noStrike"/>
          </a:p>
        </p:txBody>
      </p:sp>
      <p:sp>
        <p:nvSpPr>
          <p:cNvPr id="206" name="Google Shape;206;p47"/>
          <p:cNvSpPr/>
          <p:nvPr/>
        </p:nvSpPr>
        <p:spPr>
          <a:xfrm>
            <a:off x="10178058" y="3441025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8308" y="3499009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7"/>
          <p:cNvSpPr/>
          <p:nvPr/>
        </p:nvSpPr>
        <p:spPr>
          <a:xfrm>
            <a:off x="10955893" y="344102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Variables CSS</a:t>
            </a:r>
            <a:endParaRPr b="0" i="0" sz="2200" u="none" cap="none" strike="noStrike"/>
          </a:p>
        </p:txBody>
      </p:sp>
      <p:sp>
        <p:nvSpPr>
          <p:cNvPr id="209" name="Google Shape;209;p47"/>
          <p:cNvSpPr/>
          <p:nvPr/>
        </p:nvSpPr>
        <p:spPr>
          <a:xfrm>
            <a:off x="10955893" y="3936563"/>
            <a:ext cx="283678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Custom Properties facilitan mantenimiento y tematización de sitios.</a:t>
            </a:r>
            <a:endParaRPr b="0" i="0" sz="1850" u="none" cap="none" strike="noStrike"/>
          </a:p>
        </p:txBody>
      </p:sp>
      <p:sp>
        <p:nvSpPr>
          <p:cNvPr id="210" name="Google Shape;210;p47"/>
          <p:cNvSpPr/>
          <p:nvPr/>
        </p:nvSpPr>
        <p:spPr>
          <a:xfrm>
            <a:off x="6324124" y="5946100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4374" y="6004084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7"/>
          <p:cNvSpPr/>
          <p:nvPr/>
        </p:nvSpPr>
        <p:spPr>
          <a:xfrm>
            <a:off x="7101959" y="5946100"/>
            <a:ext cx="291488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Preprocesadores</a:t>
            </a:r>
            <a:endParaRPr b="0" i="0" sz="2200" u="none" cap="none" strike="noStrike"/>
          </a:p>
        </p:txBody>
      </p:sp>
      <p:sp>
        <p:nvSpPr>
          <p:cNvPr id="213" name="Google Shape;213;p47"/>
          <p:cNvSpPr/>
          <p:nvPr/>
        </p:nvSpPr>
        <p:spPr>
          <a:xfrm>
            <a:off x="7101959" y="6441638"/>
            <a:ext cx="669071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SASS y LESS añaden funcionalidades como nesting y mixins.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8"/>
          <p:cNvSpPr/>
          <p:nvPr/>
        </p:nvSpPr>
        <p:spPr>
          <a:xfrm>
            <a:off x="837724" y="1427798"/>
            <a:ext cx="10441662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Fundamentos Web: JavaScript</a:t>
            </a:r>
            <a:endParaRPr b="0" i="0" sz="4400" u="none" cap="none" strike="noStrike"/>
          </a:p>
        </p:txBody>
      </p:sp>
      <p:pic>
        <p:nvPicPr>
          <p:cNvPr descr="preencoded.png"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7638" y="2610564"/>
            <a:ext cx="2137529" cy="135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7988" y="3246358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8"/>
          <p:cNvSpPr/>
          <p:nvPr/>
        </p:nvSpPr>
        <p:spPr>
          <a:xfrm>
            <a:off x="5384482" y="2849880"/>
            <a:ext cx="4137303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Interactividad avanzada</a:t>
            </a:r>
            <a:endParaRPr b="0" i="0" sz="2200" u="none" cap="none" strike="noStrike"/>
          </a:p>
        </p:txBody>
      </p:sp>
      <p:sp>
        <p:nvSpPr>
          <p:cNvPr id="223" name="Google Shape;223;p48"/>
          <p:cNvSpPr/>
          <p:nvPr/>
        </p:nvSpPr>
        <p:spPr>
          <a:xfrm>
            <a:off x="5384482" y="3345418"/>
            <a:ext cx="4210169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Aplicaciones web dinámicas y responsivas</a:t>
            </a:r>
            <a:endParaRPr b="0" i="0" sz="1850" u="none" cap="none" strike="noStrike"/>
          </a:p>
        </p:txBody>
      </p:sp>
      <p:sp>
        <p:nvSpPr>
          <p:cNvPr id="224" name="Google Shape;224;p48"/>
          <p:cNvSpPr/>
          <p:nvPr/>
        </p:nvSpPr>
        <p:spPr>
          <a:xfrm>
            <a:off x="5204936" y="3982402"/>
            <a:ext cx="8527971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8814" y="4027527"/>
            <a:ext cx="4275058" cy="135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7988" y="4495681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8"/>
          <p:cNvSpPr/>
          <p:nvPr/>
        </p:nvSpPr>
        <p:spPr>
          <a:xfrm>
            <a:off x="6453187" y="4266843"/>
            <a:ext cx="375951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Manipulación del DOM</a:t>
            </a:r>
            <a:endParaRPr b="0" i="0" sz="2200" u="none" cap="none" strike="noStrike"/>
          </a:p>
        </p:txBody>
      </p:sp>
      <p:sp>
        <p:nvSpPr>
          <p:cNvPr id="228" name="Google Shape;228;p48"/>
          <p:cNvSpPr/>
          <p:nvPr/>
        </p:nvSpPr>
        <p:spPr>
          <a:xfrm>
            <a:off x="6453187" y="4762381"/>
            <a:ext cx="4350306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Modificación dinámica de elementos HTML</a:t>
            </a:r>
            <a:endParaRPr b="0" i="0" sz="1850" u="none" cap="none" strike="noStrike"/>
          </a:p>
        </p:txBody>
      </p:sp>
      <p:sp>
        <p:nvSpPr>
          <p:cNvPr id="229" name="Google Shape;229;p48"/>
          <p:cNvSpPr/>
          <p:nvPr/>
        </p:nvSpPr>
        <p:spPr>
          <a:xfrm>
            <a:off x="6273641" y="5399365"/>
            <a:ext cx="7459266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0109" y="5444490"/>
            <a:ext cx="6412587" cy="135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08107" y="5912644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8"/>
          <p:cNvSpPr/>
          <p:nvPr/>
        </p:nvSpPr>
        <p:spPr>
          <a:xfrm>
            <a:off x="7522012" y="5683806"/>
            <a:ext cx="4158734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Programación asíncrona</a:t>
            </a:r>
            <a:endParaRPr b="0" i="0" sz="2200" u="none" cap="none" strike="noStrike"/>
          </a:p>
        </p:txBody>
      </p:sp>
      <p:sp>
        <p:nvSpPr>
          <p:cNvPr id="233" name="Google Shape;233;p48"/>
          <p:cNvSpPr/>
          <p:nvPr/>
        </p:nvSpPr>
        <p:spPr>
          <a:xfrm>
            <a:off x="7522012" y="6179344"/>
            <a:ext cx="5016341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Gestión de eventos y operaciones no bloqueantes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93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9"/>
          <p:cNvSpPr/>
          <p:nvPr/>
        </p:nvSpPr>
        <p:spPr>
          <a:xfrm>
            <a:off x="837724" y="3210877"/>
            <a:ext cx="10019943" cy="563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Unbounded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ECMAScript: Evolución de JavaScript</a:t>
            </a:r>
            <a:endParaRPr b="0" i="0" sz="3500" u="none" cap="none" strike="noStrike"/>
          </a:p>
        </p:txBody>
      </p:sp>
      <p:sp>
        <p:nvSpPr>
          <p:cNvPr id="241" name="Google Shape;241;p49"/>
          <p:cNvSpPr/>
          <p:nvPr/>
        </p:nvSpPr>
        <p:spPr>
          <a:xfrm>
            <a:off x="7303770" y="4061341"/>
            <a:ext cx="22860" cy="3351133"/>
          </a:xfrm>
          <a:prstGeom prst="roundRect">
            <a:avLst>
              <a:gd fmla="val 125659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9"/>
          <p:cNvSpPr/>
          <p:nvPr/>
        </p:nvSpPr>
        <p:spPr>
          <a:xfrm>
            <a:off x="6548199" y="4480679"/>
            <a:ext cx="574477" cy="22860"/>
          </a:xfrm>
          <a:prstGeom prst="roundRect">
            <a:avLst>
              <a:gd fmla="val 125659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9"/>
          <p:cNvSpPr/>
          <p:nvPr/>
        </p:nvSpPr>
        <p:spPr>
          <a:xfrm>
            <a:off x="7099816" y="4276725"/>
            <a:ext cx="430768" cy="430768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9"/>
          <p:cNvSpPr/>
          <p:nvPr/>
        </p:nvSpPr>
        <p:spPr>
          <a:xfrm>
            <a:off x="7180064" y="4323159"/>
            <a:ext cx="270272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2100" u="none" cap="none" strike="noStrike"/>
          </a:p>
        </p:txBody>
      </p:sp>
      <p:sp>
        <p:nvSpPr>
          <p:cNvPr id="245" name="Google Shape;245;p49"/>
          <p:cNvSpPr/>
          <p:nvPr/>
        </p:nvSpPr>
        <p:spPr>
          <a:xfrm>
            <a:off x="4104799" y="4252793"/>
            <a:ext cx="2252901" cy="28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Unbounded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ES6 (2015)</a:t>
            </a:r>
            <a:endParaRPr b="0" i="0" sz="1750" u="none" cap="none" strike="noStrike"/>
          </a:p>
        </p:txBody>
      </p:sp>
      <p:sp>
        <p:nvSpPr>
          <p:cNvPr id="246" name="Google Shape;246;p49"/>
          <p:cNvSpPr/>
          <p:nvPr/>
        </p:nvSpPr>
        <p:spPr>
          <a:xfrm>
            <a:off x="837724" y="4649272"/>
            <a:ext cx="5519976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00"/>
              <a:buFont typeface="Cabin"/>
              <a:buChar char="•"/>
            </a:pPr>
            <a:r>
              <a:rPr b="0" i="0" lang="en-US" sz="15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Arrow functions: () =&gt; {}</a:t>
            </a:r>
            <a:endParaRPr b="0" i="0" sz="1500" u="none" cap="none" strike="noStrike"/>
          </a:p>
        </p:txBody>
      </p:sp>
      <p:sp>
        <p:nvSpPr>
          <p:cNvPr id="247" name="Google Shape;247;p49"/>
          <p:cNvSpPr/>
          <p:nvPr/>
        </p:nvSpPr>
        <p:spPr>
          <a:xfrm>
            <a:off x="837724" y="5022413"/>
            <a:ext cx="5519976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00"/>
              <a:buFont typeface="Cabin"/>
              <a:buChar char="•"/>
            </a:pPr>
            <a:r>
              <a:rPr b="0" i="0" lang="en-US" sz="15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let/const para declaración de variables</a:t>
            </a:r>
            <a:endParaRPr b="0" i="0" sz="1500" u="none" cap="none" strike="noStrike"/>
          </a:p>
        </p:txBody>
      </p:sp>
      <p:sp>
        <p:nvSpPr>
          <p:cNvPr id="248" name="Google Shape;248;p49"/>
          <p:cNvSpPr/>
          <p:nvPr/>
        </p:nvSpPr>
        <p:spPr>
          <a:xfrm>
            <a:off x="7507724" y="5438061"/>
            <a:ext cx="574477" cy="22860"/>
          </a:xfrm>
          <a:prstGeom prst="roundRect">
            <a:avLst>
              <a:gd fmla="val 125659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9"/>
          <p:cNvSpPr/>
          <p:nvPr/>
        </p:nvSpPr>
        <p:spPr>
          <a:xfrm>
            <a:off x="7099816" y="5234107"/>
            <a:ext cx="430768" cy="430768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9"/>
          <p:cNvSpPr/>
          <p:nvPr/>
        </p:nvSpPr>
        <p:spPr>
          <a:xfrm>
            <a:off x="7180064" y="5280541"/>
            <a:ext cx="270272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2100" u="none" cap="none" strike="noStrike"/>
          </a:p>
        </p:txBody>
      </p:sp>
      <p:sp>
        <p:nvSpPr>
          <p:cNvPr id="251" name="Google Shape;251;p49"/>
          <p:cNvSpPr/>
          <p:nvPr/>
        </p:nvSpPr>
        <p:spPr>
          <a:xfrm>
            <a:off x="8272701" y="5210175"/>
            <a:ext cx="2252901" cy="28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Unbounded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ES7/ES8</a:t>
            </a:r>
            <a:endParaRPr b="0" i="0" sz="1750" u="none" cap="none" strike="noStrike"/>
          </a:p>
        </p:txBody>
      </p:sp>
      <p:sp>
        <p:nvSpPr>
          <p:cNvPr id="252" name="Google Shape;252;p49"/>
          <p:cNvSpPr/>
          <p:nvPr/>
        </p:nvSpPr>
        <p:spPr>
          <a:xfrm>
            <a:off x="8272701" y="5606653"/>
            <a:ext cx="5519976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00"/>
              <a:buFont typeface="Cabin"/>
              <a:buChar char="•"/>
            </a:pPr>
            <a:r>
              <a:rPr b="0" i="0" lang="en-US" sz="15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Async/await para código asíncrono</a:t>
            </a:r>
            <a:endParaRPr b="0" i="0" sz="1500" u="none" cap="none" strike="noStrike"/>
          </a:p>
        </p:txBody>
      </p:sp>
      <p:sp>
        <p:nvSpPr>
          <p:cNvPr id="253" name="Google Shape;253;p49"/>
          <p:cNvSpPr/>
          <p:nvPr/>
        </p:nvSpPr>
        <p:spPr>
          <a:xfrm>
            <a:off x="8272701" y="5979795"/>
            <a:ext cx="5519976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00"/>
              <a:buFont typeface="Cabin"/>
              <a:buChar char="•"/>
            </a:pPr>
            <a:r>
              <a:rPr b="0" i="0" lang="en-US" sz="15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Object.entries() y Object.values()</a:t>
            </a:r>
            <a:endParaRPr b="0" i="0" sz="1500" u="none" cap="none" strike="noStrike"/>
          </a:p>
        </p:txBody>
      </p:sp>
      <p:sp>
        <p:nvSpPr>
          <p:cNvPr id="254" name="Google Shape;254;p49"/>
          <p:cNvSpPr/>
          <p:nvPr/>
        </p:nvSpPr>
        <p:spPr>
          <a:xfrm>
            <a:off x="6548199" y="6299716"/>
            <a:ext cx="574477" cy="22860"/>
          </a:xfrm>
          <a:prstGeom prst="roundRect">
            <a:avLst>
              <a:gd fmla="val 125659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9"/>
          <p:cNvSpPr/>
          <p:nvPr/>
        </p:nvSpPr>
        <p:spPr>
          <a:xfrm>
            <a:off x="7099816" y="6095762"/>
            <a:ext cx="430768" cy="430768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9"/>
          <p:cNvSpPr/>
          <p:nvPr/>
        </p:nvSpPr>
        <p:spPr>
          <a:xfrm>
            <a:off x="7180064" y="6142196"/>
            <a:ext cx="270272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2100" u="none" cap="none" strike="noStrike"/>
          </a:p>
        </p:txBody>
      </p:sp>
      <p:sp>
        <p:nvSpPr>
          <p:cNvPr id="257" name="Google Shape;257;p49"/>
          <p:cNvSpPr/>
          <p:nvPr/>
        </p:nvSpPr>
        <p:spPr>
          <a:xfrm>
            <a:off x="4104799" y="6071830"/>
            <a:ext cx="2252901" cy="28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Unbounded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ES9/ES10</a:t>
            </a:r>
            <a:endParaRPr b="0" i="0" sz="1750" u="none" cap="none" strike="noStrike"/>
          </a:p>
        </p:txBody>
      </p:sp>
      <p:sp>
        <p:nvSpPr>
          <p:cNvPr id="258" name="Google Shape;258;p49"/>
          <p:cNvSpPr/>
          <p:nvPr/>
        </p:nvSpPr>
        <p:spPr>
          <a:xfrm>
            <a:off x="837724" y="6468308"/>
            <a:ext cx="5519976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00"/>
              <a:buFont typeface="Cabin"/>
              <a:buChar char="•"/>
            </a:pPr>
            <a:r>
              <a:rPr b="0" i="0" lang="en-US" sz="15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Rest/spread para objetos</a:t>
            </a:r>
            <a:endParaRPr b="0" i="0" sz="1500" u="none" cap="none" strike="noStrike"/>
          </a:p>
        </p:txBody>
      </p:sp>
      <p:sp>
        <p:nvSpPr>
          <p:cNvPr id="259" name="Google Shape;259;p49"/>
          <p:cNvSpPr/>
          <p:nvPr/>
        </p:nvSpPr>
        <p:spPr>
          <a:xfrm>
            <a:off x="837724" y="6841450"/>
            <a:ext cx="5519976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00"/>
              <a:buFont typeface="Cabin"/>
              <a:buChar char="•"/>
            </a:pPr>
            <a:r>
              <a:rPr b="0" i="0" lang="en-US" sz="15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Array.flat() y Array.flatMap()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0"/>
          <p:cNvSpPr/>
          <p:nvPr/>
        </p:nvSpPr>
        <p:spPr>
          <a:xfrm>
            <a:off x="837724" y="1367909"/>
            <a:ext cx="6848713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Introducción a AJAX</a:t>
            </a:r>
            <a:endParaRPr b="0" i="0" sz="4400" u="none" cap="none" strike="noStrike"/>
          </a:p>
        </p:txBody>
      </p:sp>
      <p:sp>
        <p:nvSpPr>
          <p:cNvPr id="266" name="Google Shape;266;p50"/>
          <p:cNvSpPr/>
          <p:nvPr/>
        </p:nvSpPr>
        <p:spPr>
          <a:xfrm>
            <a:off x="837724" y="2550676"/>
            <a:ext cx="2159079" cy="1357193"/>
          </a:xfrm>
          <a:prstGeom prst="roundRect">
            <a:avLst>
              <a:gd fmla="val 26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09" y="3018830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0"/>
          <p:cNvSpPr/>
          <p:nvPr/>
        </p:nvSpPr>
        <p:spPr>
          <a:xfrm>
            <a:off x="3236119" y="2789992"/>
            <a:ext cx="4176951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Comunicación asíncrona</a:t>
            </a:r>
            <a:endParaRPr b="0" i="0" sz="2200" u="none" cap="none" strike="noStrike"/>
          </a:p>
        </p:txBody>
      </p:sp>
      <p:sp>
        <p:nvSpPr>
          <p:cNvPr id="269" name="Google Shape;269;p50"/>
          <p:cNvSpPr/>
          <p:nvPr/>
        </p:nvSpPr>
        <p:spPr>
          <a:xfrm>
            <a:off x="3236119" y="3285530"/>
            <a:ext cx="4276844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Intercambio de datos sin recargar la página</a:t>
            </a:r>
            <a:endParaRPr b="0" i="0" sz="1850" u="none" cap="none" strike="noStrike"/>
          </a:p>
        </p:txBody>
      </p:sp>
      <p:sp>
        <p:nvSpPr>
          <p:cNvPr id="270" name="Google Shape;270;p50"/>
          <p:cNvSpPr/>
          <p:nvPr/>
        </p:nvSpPr>
        <p:spPr>
          <a:xfrm>
            <a:off x="3116461" y="3892629"/>
            <a:ext cx="10556558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0"/>
          <p:cNvSpPr/>
          <p:nvPr/>
        </p:nvSpPr>
        <p:spPr>
          <a:xfrm>
            <a:off x="837724" y="4027527"/>
            <a:ext cx="4318278" cy="1357193"/>
          </a:xfrm>
          <a:prstGeom prst="roundRect">
            <a:avLst>
              <a:gd fmla="val 26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568" y="4495681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0"/>
          <p:cNvSpPr/>
          <p:nvPr/>
        </p:nvSpPr>
        <p:spPr>
          <a:xfrm>
            <a:off x="5395317" y="4266843"/>
            <a:ext cx="356258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Consultas al servidor</a:t>
            </a:r>
            <a:endParaRPr b="0" i="0" sz="2200" u="none" cap="none" strike="noStrike"/>
          </a:p>
        </p:txBody>
      </p:sp>
      <p:sp>
        <p:nvSpPr>
          <p:cNvPr id="274" name="Google Shape;274;p50"/>
          <p:cNvSpPr/>
          <p:nvPr/>
        </p:nvSpPr>
        <p:spPr>
          <a:xfrm>
            <a:off x="5395317" y="4762381"/>
            <a:ext cx="5890379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Peticiones en segundo plano mientras el usuario interactúa</a:t>
            </a:r>
            <a:endParaRPr b="0" i="0" sz="1850" u="none" cap="none" strike="noStrike"/>
          </a:p>
        </p:txBody>
      </p:sp>
      <p:sp>
        <p:nvSpPr>
          <p:cNvPr id="275" name="Google Shape;275;p50"/>
          <p:cNvSpPr/>
          <p:nvPr/>
        </p:nvSpPr>
        <p:spPr>
          <a:xfrm>
            <a:off x="5275659" y="5369481"/>
            <a:ext cx="8397359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0"/>
          <p:cNvSpPr/>
          <p:nvPr/>
        </p:nvSpPr>
        <p:spPr>
          <a:xfrm>
            <a:off x="837724" y="5504378"/>
            <a:ext cx="6477476" cy="1357193"/>
          </a:xfrm>
          <a:prstGeom prst="roundRect">
            <a:avLst>
              <a:gd fmla="val 26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8107" y="5972532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0"/>
          <p:cNvSpPr/>
          <p:nvPr/>
        </p:nvSpPr>
        <p:spPr>
          <a:xfrm>
            <a:off x="7554516" y="5743694"/>
            <a:ext cx="2952631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Mejor experiencia</a:t>
            </a:r>
            <a:endParaRPr b="0" i="0" sz="2200" u="none" cap="none" strike="noStrike"/>
          </a:p>
        </p:txBody>
      </p:sp>
      <p:sp>
        <p:nvSpPr>
          <p:cNvPr id="279" name="Google Shape;279;p50"/>
          <p:cNvSpPr/>
          <p:nvPr/>
        </p:nvSpPr>
        <p:spPr>
          <a:xfrm>
            <a:off x="7554516" y="6239232"/>
            <a:ext cx="328898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Interfaces más fluidas y reactivas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5" name="Google Shape;28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4341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1"/>
          <p:cNvSpPr/>
          <p:nvPr/>
        </p:nvSpPr>
        <p:spPr>
          <a:xfrm>
            <a:off x="837724" y="3204210"/>
            <a:ext cx="4787503" cy="59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Unbounded"/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jQuery y AJAX</a:t>
            </a:r>
            <a:endParaRPr b="0" i="0" sz="3750" u="none" cap="none" strike="noStrike"/>
          </a:p>
        </p:txBody>
      </p:sp>
      <p:pic>
        <p:nvPicPr>
          <p:cNvPr descr="preencoded.png" id="287" name="Google Shape;28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724" y="4143375"/>
            <a:ext cx="508635" cy="50863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1"/>
          <p:cNvSpPr/>
          <p:nvPr/>
        </p:nvSpPr>
        <p:spPr>
          <a:xfrm>
            <a:off x="1549717" y="4107775"/>
            <a:ext cx="2950369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Sintaxis simplificada</a:t>
            </a:r>
            <a:endParaRPr b="0" i="0" sz="1850" u="none" cap="none" strike="noStrike"/>
          </a:p>
        </p:txBody>
      </p:sp>
      <p:sp>
        <p:nvSpPr>
          <p:cNvPr id="289" name="Google Shape;289;p51"/>
          <p:cNvSpPr/>
          <p:nvPr/>
        </p:nvSpPr>
        <p:spPr>
          <a:xfrm>
            <a:off x="1549717" y="4529018"/>
            <a:ext cx="12242959" cy="32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$.ajax() simplifica peticiones complejas con pocas líneas.</a:t>
            </a:r>
            <a:endParaRPr b="0" i="0" sz="1600" u="none" cap="none" strike="noStrike"/>
          </a:p>
        </p:txBody>
      </p:sp>
      <p:pic>
        <p:nvPicPr>
          <p:cNvPr descr="preencoded.png" id="290" name="Google Shape;29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724" y="5500449"/>
            <a:ext cx="508635" cy="50863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51"/>
          <p:cNvSpPr/>
          <p:nvPr/>
        </p:nvSpPr>
        <p:spPr>
          <a:xfrm>
            <a:off x="1549717" y="5464850"/>
            <a:ext cx="359699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Métodos $.get() y $.post()</a:t>
            </a:r>
            <a:endParaRPr b="0" i="0" sz="1850" u="none" cap="none" strike="noStrike"/>
          </a:p>
        </p:txBody>
      </p:sp>
      <p:sp>
        <p:nvSpPr>
          <p:cNvPr id="292" name="Google Shape;292;p51"/>
          <p:cNvSpPr/>
          <p:nvPr/>
        </p:nvSpPr>
        <p:spPr>
          <a:xfrm>
            <a:off x="1549717" y="5886093"/>
            <a:ext cx="12242959" cy="32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Atajos para los tipos más comunes de peticiones.</a:t>
            </a:r>
            <a:endParaRPr b="0" i="0" sz="1600" u="none" cap="none" strike="noStrike"/>
          </a:p>
        </p:txBody>
      </p:sp>
      <p:pic>
        <p:nvPicPr>
          <p:cNvPr descr="preencoded.png" id="293" name="Google Shape;293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724" y="6857524"/>
            <a:ext cx="508635" cy="50863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1"/>
          <p:cNvSpPr/>
          <p:nvPr/>
        </p:nvSpPr>
        <p:spPr>
          <a:xfrm>
            <a:off x="1549717" y="6821924"/>
            <a:ext cx="3179088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Manejo de respuestas</a:t>
            </a:r>
            <a:endParaRPr b="0" i="0" sz="1850" u="none" cap="none" strike="noStrike"/>
          </a:p>
        </p:txBody>
      </p:sp>
      <p:sp>
        <p:nvSpPr>
          <p:cNvPr id="295" name="Google Shape;295;p51"/>
          <p:cNvSpPr/>
          <p:nvPr/>
        </p:nvSpPr>
        <p:spPr>
          <a:xfrm>
            <a:off x="1549717" y="7243167"/>
            <a:ext cx="12242959" cy="32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Callbacks y promises para procesar datos cuando estén listos.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1" name="Google Shape;30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52"/>
          <p:cNvSpPr/>
          <p:nvPr/>
        </p:nvSpPr>
        <p:spPr>
          <a:xfrm>
            <a:off x="6324124" y="763786"/>
            <a:ext cx="7468553" cy="133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Unbounded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Protocolos de Comunicación</a:t>
            </a:r>
            <a:endParaRPr b="0" i="0" sz="4200" u="none" cap="none" strike="noStrike"/>
          </a:p>
        </p:txBody>
      </p:sp>
      <p:sp>
        <p:nvSpPr>
          <p:cNvPr id="303" name="Google Shape;303;p52"/>
          <p:cNvSpPr/>
          <p:nvPr/>
        </p:nvSpPr>
        <p:spPr>
          <a:xfrm>
            <a:off x="6324124" y="2442448"/>
            <a:ext cx="3620572" cy="2619613"/>
          </a:xfrm>
          <a:prstGeom prst="roundRect">
            <a:avLst>
              <a:gd fmla="val 130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2"/>
          <p:cNvSpPr/>
          <p:nvPr/>
        </p:nvSpPr>
        <p:spPr>
          <a:xfrm>
            <a:off x="6551533" y="2669857"/>
            <a:ext cx="2675334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HTTP/HTTPS</a:t>
            </a:r>
            <a:endParaRPr b="0" i="0" sz="2100" u="none" cap="none" strike="noStrike"/>
          </a:p>
        </p:txBody>
      </p:sp>
      <p:sp>
        <p:nvSpPr>
          <p:cNvPr id="305" name="Google Shape;305;p52"/>
          <p:cNvSpPr/>
          <p:nvPr/>
        </p:nvSpPr>
        <p:spPr>
          <a:xfrm>
            <a:off x="6551533" y="3140631"/>
            <a:ext cx="3165753" cy="727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Protocolo de transferencia de hipertexto</a:t>
            </a:r>
            <a:endParaRPr b="0" i="0" sz="1750" u="none" cap="none" strike="noStrike"/>
          </a:p>
        </p:txBody>
      </p:sp>
      <p:sp>
        <p:nvSpPr>
          <p:cNvPr id="306" name="Google Shape;306;p52"/>
          <p:cNvSpPr/>
          <p:nvPr/>
        </p:nvSpPr>
        <p:spPr>
          <a:xfrm>
            <a:off x="6551533" y="3947874"/>
            <a:ext cx="3165753" cy="727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HTTPS añade capa de seguridad (SSL/TLS)</a:t>
            </a:r>
            <a:endParaRPr b="0" i="0" sz="1750" u="none" cap="none" strike="noStrike"/>
          </a:p>
        </p:txBody>
      </p:sp>
      <p:sp>
        <p:nvSpPr>
          <p:cNvPr id="307" name="Google Shape;307;p52"/>
          <p:cNvSpPr/>
          <p:nvPr/>
        </p:nvSpPr>
        <p:spPr>
          <a:xfrm>
            <a:off x="10172105" y="2442448"/>
            <a:ext cx="3620572" cy="2619613"/>
          </a:xfrm>
          <a:prstGeom prst="roundRect">
            <a:avLst>
              <a:gd fmla="val 130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2"/>
          <p:cNvSpPr/>
          <p:nvPr/>
        </p:nvSpPr>
        <p:spPr>
          <a:xfrm>
            <a:off x="10399514" y="2669857"/>
            <a:ext cx="2675334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Métodos REST</a:t>
            </a:r>
            <a:endParaRPr b="0" i="0" sz="2100" u="none" cap="none" strike="noStrike"/>
          </a:p>
        </p:txBody>
      </p:sp>
      <p:sp>
        <p:nvSpPr>
          <p:cNvPr id="309" name="Google Shape;309;p52"/>
          <p:cNvSpPr/>
          <p:nvPr/>
        </p:nvSpPr>
        <p:spPr>
          <a:xfrm>
            <a:off x="10399514" y="3140631"/>
            <a:ext cx="3165753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GET: Solicitar datos</a:t>
            </a:r>
            <a:endParaRPr b="0" i="0" sz="1750" u="none" cap="none" strike="noStrike"/>
          </a:p>
        </p:txBody>
      </p:sp>
      <p:sp>
        <p:nvSpPr>
          <p:cNvPr id="310" name="Google Shape;310;p52"/>
          <p:cNvSpPr/>
          <p:nvPr/>
        </p:nvSpPr>
        <p:spPr>
          <a:xfrm>
            <a:off x="10399514" y="3584019"/>
            <a:ext cx="3165753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POST: Enviar datos nuevos</a:t>
            </a:r>
            <a:endParaRPr b="0" i="0" sz="1750" u="none" cap="none" strike="noStrike"/>
          </a:p>
        </p:txBody>
      </p:sp>
      <p:sp>
        <p:nvSpPr>
          <p:cNvPr id="311" name="Google Shape;311;p52"/>
          <p:cNvSpPr/>
          <p:nvPr/>
        </p:nvSpPr>
        <p:spPr>
          <a:xfrm>
            <a:off x="10399514" y="4027408"/>
            <a:ext cx="3165753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PUT/PATCH: Actualizar datos</a:t>
            </a:r>
            <a:endParaRPr b="0" i="0" sz="1750" u="none" cap="none" strike="noStrike"/>
          </a:p>
        </p:txBody>
      </p:sp>
      <p:sp>
        <p:nvSpPr>
          <p:cNvPr id="312" name="Google Shape;312;p52"/>
          <p:cNvSpPr/>
          <p:nvPr/>
        </p:nvSpPr>
        <p:spPr>
          <a:xfrm>
            <a:off x="10399514" y="4470797"/>
            <a:ext cx="3165753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DELETE: Eliminar recursos</a:t>
            </a:r>
            <a:endParaRPr b="0" i="0" sz="1750" u="none" cap="none" strike="noStrike"/>
          </a:p>
        </p:txBody>
      </p:sp>
      <p:sp>
        <p:nvSpPr>
          <p:cNvPr id="313" name="Google Shape;313;p52"/>
          <p:cNvSpPr/>
          <p:nvPr/>
        </p:nvSpPr>
        <p:spPr>
          <a:xfrm>
            <a:off x="6324124" y="5289471"/>
            <a:ext cx="7468553" cy="2176224"/>
          </a:xfrm>
          <a:prstGeom prst="roundRect">
            <a:avLst>
              <a:gd fmla="val 15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2"/>
          <p:cNvSpPr/>
          <p:nvPr/>
        </p:nvSpPr>
        <p:spPr>
          <a:xfrm>
            <a:off x="6551533" y="5516880"/>
            <a:ext cx="3014067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Códigos de estado</a:t>
            </a:r>
            <a:endParaRPr b="0" i="0" sz="2100" u="none" cap="none" strike="noStrike"/>
          </a:p>
        </p:txBody>
      </p:sp>
      <p:sp>
        <p:nvSpPr>
          <p:cNvPr id="315" name="Google Shape;315;p52"/>
          <p:cNvSpPr/>
          <p:nvPr/>
        </p:nvSpPr>
        <p:spPr>
          <a:xfrm>
            <a:off x="6551533" y="5987653"/>
            <a:ext cx="7013734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200: Éxito</a:t>
            </a:r>
            <a:endParaRPr b="0" i="0" sz="1750" u="none" cap="none" strike="noStrike"/>
          </a:p>
        </p:txBody>
      </p:sp>
      <p:sp>
        <p:nvSpPr>
          <p:cNvPr id="316" name="Google Shape;316;p52"/>
          <p:cNvSpPr/>
          <p:nvPr/>
        </p:nvSpPr>
        <p:spPr>
          <a:xfrm>
            <a:off x="6551533" y="6431042"/>
            <a:ext cx="7013734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404: No encontrado</a:t>
            </a:r>
            <a:endParaRPr b="0" i="0" sz="1750" u="none" cap="none" strike="noStrike"/>
          </a:p>
        </p:txBody>
      </p:sp>
      <p:sp>
        <p:nvSpPr>
          <p:cNvPr id="317" name="Google Shape;317;p52"/>
          <p:cNvSpPr/>
          <p:nvPr/>
        </p:nvSpPr>
        <p:spPr>
          <a:xfrm>
            <a:off x="6551533" y="6874431"/>
            <a:ext cx="7013734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500: Error de servidor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/>
          <p:nvPr/>
        </p:nvSpPr>
        <p:spPr>
          <a:xfrm>
            <a:off x="837724" y="1378744"/>
            <a:ext cx="10437733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JSON: Formato de Intercambio</a:t>
            </a:r>
            <a:endParaRPr b="0" i="0" sz="4400" u="none" cap="none" strike="noStrike"/>
          </a:p>
        </p:txBody>
      </p:sp>
      <p:sp>
        <p:nvSpPr>
          <p:cNvPr id="324" name="Google Shape;324;p53"/>
          <p:cNvSpPr/>
          <p:nvPr/>
        </p:nvSpPr>
        <p:spPr>
          <a:xfrm>
            <a:off x="837724" y="2681049"/>
            <a:ext cx="2836307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Estructura ligera</a:t>
            </a:r>
            <a:endParaRPr b="0" i="0" sz="2200" u="none" cap="none" strike="noStrike"/>
          </a:p>
        </p:txBody>
      </p:sp>
      <p:sp>
        <p:nvSpPr>
          <p:cNvPr id="325" name="Google Shape;325;p53"/>
          <p:cNvSpPr/>
          <p:nvPr/>
        </p:nvSpPr>
        <p:spPr>
          <a:xfrm>
            <a:off x="837724" y="3272314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Basado en pares clave-valor similar a objetos JavaScript.</a:t>
            </a:r>
            <a:endParaRPr b="0" i="0" sz="1850" u="none" cap="none" strike="noStrike"/>
          </a:p>
        </p:txBody>
      </p:sp>
      <p:sp>
        <p:nvSpPr>
          <p:cNvPr id="326" name="Google Shape;326;p53"/>
          <p:cNvSpPr/>
          <p:nvPr/>
        </p:nvSpPr>
        <p:spPr>
          <a:xfrm>
            <a:off x="837724" y="3924538"/>
            <a:ext cx="6185535" cy="2656999"/>
          </a:xfrm>
          <a:prstGeom prst="roundRect">
            <a:avLst>
              <a:gd fmla="val 1351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3"/>
          <p:cNvSpPr/>
          <p:nvPr/>
        </p:nvSpPr>
        <p:spPr>
          <a:xfrm>
            <a:off x="825818" y="3924538"/>
            <a:ext cx="6209348" cy="2656999"/>
          </a:xfrm>
          <a:prstGeom prst="roundRect">
            <a:avLst>
              <a:gd fmla="val 1351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3"/>
          <p:cNvSpPr/>
          <p:nvPr/>
        </p:nvSpPr>
        <p:spPr>
          <a:xfrm>
            <a:off x="1065133" y="4103965"/>
            <a:ext cx="5730716" cy="2298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"nombre": "Juan",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"edad": 30,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"activo": true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850" u="none" cap="none" strike="noStrike"/>
          </a:p>
        </p:txBody>
      </p:sp>
      <p:sp>
        <p:nvSpPr>
          <p:cNvPr id="329" name="Google Shape;329;p53"/>
          <p:cNvSpPr/>
          <p:nvPr/>
        </p:nvSpPr>
        <p:spPr>
          <a:xfrm>
            <a:off x="7614761" y="2681049"/>
            <a:ext cx="340459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Ventajas principales</a:t>
            </a:r>
            <a:endParaRPr b="0" i="0" sz="2200" u="none" cap="none" strike="noStrike"/>
          </a:p>
        </p:txBody>
      </p:sp>
      <p:sp>
        <p:nvSpPr>
          <p:cNvPr id="330" name="Google Shape;330;p53"/>
          <p:cNvSpPr/>
          <p:nvPr/>
        </p:nvSpPr>
        <p:spPr>
          <a:xfrm>
            <a:off x="7614761" y="3272314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Fácil de leer para humanos</a:t>
            </a:r>
            <a:endParaRPr b="0" i="0" sz="1850" u="none" cap="none" strike="noStrike"/>
          </a:p>
        </p:txBody>
      </p:sp>
      <p:sp>
        <p:nvSpPr>
          <p:cNvPr id="331" name="Google Shape;331;p53"/>
          <p:cNvSpPr/>
          <p:nvPr/>
        </p:nvSpPr>
        <p:spPr>
          <a:xfrm>
            <a:off x="7614761" y="373903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Simple de procesar para máquinas</a:t>
            </a:r>
            <a:endParaRPr b="0" i="0" sz="1850" u="none" cap="none" strike="noStrike"/>
          </a:p>
        </p:txBody>
      </p:sp>
      <p:sp>
        <p:nvSpPr>
          <p:cNvPr id="332" name="Google Shape;332;p53"/>
          <p:cNvSpPr/>
          <p:nvPr/>
        </p:nvSpPr>
        <p:spPr>
          <a:xfrm>
            <a:off x="7614761" y="4205764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Soportado nativamente por JavaScript</a:t>
            </a:r>
            <a:endParaRPr b="0" i="0" sz="1850" u="none" cap="none" strike="noStrike"/>
          </a:p>
        </p:txBody>
      </p:sp>
      <p:sp>
        <p:nvSpPr>
          <p:cNvPr id="333" name="Google Shape;333;p53"/>
          <p:cNvSpPr/>
          <p:nvPr/>
        </p:nvSpPr>
        <p:spPr>
          <a:xfrm>
            <a:off x="7614761" y="467248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Más ligero que XML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9" name="Google Shape;33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4"/>
          <p:cNvSpPr/>
          <p:nvPr/>
        </p:nvSpPr>
        <p:spPr>
          <a:xfrm>
            <a:off x="6324124" y="921901"/>
            <a:ext cx="5350788" cy="66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Unbounded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APIs RESTful</a:t>
            </a:r>
            <a:endParaRPr b="0" i="0" sz="4200" u="none" cap="none" strike="noStrike"/>
          </a:p>
        </p:txBody>
      </p:sp>
      <p:sp>
        <p:nvSpPr>
          <p:cNvPr id="341" name="Google Shape;341;p54"/>
          <p:cNvSpPr/>
          <p:nvPr/>
        </p:nvSpPr>
        <p:spPr>
          <a:xfrm>
            <a:off x="6324124" y="2045494"/>
            <a:ext cx="3563660" cy="75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900"/>
              <a:buFont typeface="Unbounded"/>
              <a:buNone/>
            </a:pPr>
            <a:r>
              <a:rPr b="0" i="0" lang="en-US" sz="59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5900" u="none" cap="none" strike="noStrike"/>
          </a:p>
        </p:txBody>
      </p:sp>
      <p:sp>
        <p:nvSpPr>
          <p:cNvPr id="342" name="Google Shape;342;p54"/>
          <p:cNvSpPr/>
          <p:nvPr/>
        </p:nvSpPr>
        <p:spPr>
          <a:xfrm>
            <a:off x="6768227" y="3080147"/>
            <a:ext cx="2675334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Métodos HTTP</a:t>
            </a:r>
            <a:endParaRPr b="0" i="0" sz="2100" u="none" cap="none" strike="noStrike"/>
          </a:p>
        </p:txBody>
      </p:sp>
      <p:sp>
        <p:nvSpPr>
          <p:cNvPr id="343" name="Google Shape;343;p54"/>
          <p:cNvSpPr/>
          <p:nvPr/>
        </p:nvSpPr>
        <p:spPr>
          <a:xfrm>
            <a:off x="6324124" y="3550920"/>
            <a:ext cx="3563660" cy="727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GET, POST, PUT y DELETE para operaciones CRUD.</a:t>
            </a:r>
            <a:endParaRPr b="0" i="0" sz="1750" u="none" cap="none" strike="noStrike"/>
          </a:p>
        </p:txBody>
      </p:sp>
      <p:sp>
        <p:nvSpPr>
          <p:cNvPr id="344" name="Google Shape;344;p54"/>
          <p:cNvSpPr/>
          <p:nvPr/>
        </p:nvSpPr>
        <p:spPr>
          <a:xfrm>
            <a:off x="10228898" y="2045494"/>
            <a:ext cx="3563779" cy="75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900"/>
              <a:buFont typeface="Unbounded"/>
              <a:buNone/>
            </a:pPr>
            <a:r>
              <a:rPr b="0" i="0" lang="en-US" sz="59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/users</a:t>
            </a:r>
            <a:endParaRPr b="0" i="0" sz="5900" u="none" cap="none" strike="noStrike"/>
          </a:p>
        </p:txBody>
      </p:sp>
      <p:sp>
        <p:nvSpPr>
          <p:cNvPr id="345" name="Google Shape;345;p54"/>
          <p:cNvSpPr/>
          <p:nvPr/>
        </p:nvSpPr>
        <p:spPr>
          <a:xfrm>
            <a:off x="10673120" y="3080147"/>
            <a:ext cx="2675334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Endpoints</a:t>
            </a:r>
            <a:endParaRPr b="0" i="0" sz="2100" u="none" cap="none" strike="noStrike"/>
          </a:p>
        </p:txBody>
      </p:sp>
      <p:sp>
        <p:nvSpPr>
          <p:cNvPr id="346" name="Google Shape;346;p54"/>
          <p:cNvSpPr/>
          <p:nvPr/>
        </p:nvSpPr>
        <p:spPr>
          <a:xfrm>
            <a:off x="10228898" y="3550920"/>
            <a:ext cx="3563779" cy="727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Rutas específicas para acceder a recursos.</a:t>
            </a:r>
            <a:endParaRPr b="0" i="0" sz="1750" u="none" cap="none" strike="noStrike"/>
          </a:p>
        </p:txBody>
      </p:sp>
      <p:sp>
        <p:nvSpPr>
          <p:cNvPr id="347" name="Google Shape;347;p54"/>
          <p:cNvSpPr/>
          <p:nvPr/>
        </p:nvSpPr>
        <p:spPr>
          <a:xfrm>
            <a:off x="8276511" y="5074563"/>
            <a:ext cx="3563660" cy="75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900"/>
              <a:buFont typeface="Unbounded"/>
              <a:buNone/>
            </a:pPr>
            <a:r>
              <a:rPr b="0" i="0" lang="en-US" sz="59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200</a:t>
            </a:r>
            <a:endParaRPr b="0" i="0" sz="5900" u="none" cap="none" strike="noStrike"/>
          </a:p>
        </p:txBody>
      </p:sp>
      <p:sp>
        <p:nvSpPr>
          <p:cNvPr id="348" name="Google Shape;348;p54"/>
          <p:cNvSpPr/>
          <p:nvPr/>
        </p:nvSpPr>
        <p:spPr>
          <a:xfrm>
            <a:off x="8303657" y="6109216"/>
            <a:ext cx="3509248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Códigos de respuesta</a:t>
            </a:r>
            <a:endParaRPr b="0" i="0" sz="2100" u="none" cap="none" strike="noStrike"/>
          </a:p>
        </p:txBody>
      </p:sp>
      <p:sp>
        <p:nvSpPr>
          <p:cNvPr id="349" name="Google Shape;349;p54"/>
          <p:cNvSpPr/>
          <p:nvPr/>
        </p:nvSpPr>
        <p:spPr>
          <a:xfrm>
            <a:off x="8276511" y="6579989"/>
            <a:ext cx="3563660" cy="727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Indican resultado de operaciones en servidor.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/>
          <p:nvPr/>
        </p:nvSpPr>
        <p:spPr>
          <a:xfrm>
            <a:off x="837724" y="1427798"/>
            <a:ext cx="8495943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Conceptos de Servidores</a:t>
            </a:r>
            <a:endParaRPr b="0" i="0" sz="4400" u="none" cap="none" strike="noStrike"/>
          </a:p>
        </p:txBody>
      </p:sp>
      <p:pic>
        <p:nvPicPr>
          <p:cNvPr descr="preencoded.png" id="356" name="Google Shape;35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7638" y="2610564"/>
            <a:ext cx="2137529" cy="135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7" name="Google Shape;35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7988" y="3246358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5"/>
          <p:cNvSpPr/>
          <p:nvPr/>
        </p:nvSpPr>
        <p:spPr>
          <a:xfrm>
            <a:off x="5384482" y="2849880"/>
            <a:ext cx="3542824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Servicios específicos</a:t>
            </a:r>
            <a:endParaRPr b="0" i="0" sz="2200" u="none" cap="none" strike="noStrike"/>
          </a:p>
        </p:txBody>
      </p:sp>
      <p:sp>
        <p:nvSpPr>
          <p:cNvPr id="359" name="Google Shape;359;p55"/>
          <p:cNvSpPr/>
          <p:nvPr/>
        </p:nvSpPr>
        <p:spPr>
          <a:xfrm>
            <a:off x="5384482" y="3345418"/>
            <a:ext cx="361473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Email, bases de datos, autenticación</a:t>
            </a:r>
            <a:endParaRPr b="0" i="0" sz="1850" u="none" cap="none" strike="noStrike"/>
          </a:p>
        </p:txBody>
      </p:sp>
      <p:sp>
        <p:nvSpPr>
          <p:cNvPr id="360" name="Google Shape;360;p55"/>
          <p:cNvSpPr/>
          <p:nvPr/>
        </p:nvSpPr>
        <p:spPr>
          <a:xfrm>
            <a:off x="5204936" y="3982402"/>
            <a:ext cx="8527971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8814" y="4027527"/>
            <a:ext cx="4275058" cy="135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2" name="Google Shape;362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7988" y="4495681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5"/>
          <p:cNvSpPr/>
          <p:nvPr/>
        </p:nvSpPr>
        <p:spPr>
          <a:xfrm>
            <a:off x="6453187" y="4266843"/>
            <a:ext cx="4499491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Servidores de aplicaciones</a:t>
            </a:r>
            <a:endParaRPr b="0" i="0" sz="2200" u="none" cap="none" strike="noStrike"/>
          </a:p>
        </p:txBody>
      </p:sp>
      <p:sp>
        <p:nvSpPr>
          <p:cNvPr id="364" name="Google Shape;364;p55"/>
          <p:cNvSpPr/>
          <p:nvPr/>
        </p:nvSpPr>
        <p:spPr>
          <a:xfrm>
            <a:off x="6453187" y="4762381"/>
            <a:ext cx="4499491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Node.js, PHP, Java, Python, Ruby</a:t>
            </a:r>
            <a:endParaRPr b="0" i="0" sz="1850" u="none" cap="none" strike="noStrike"/>
          </a:p>
        </p:txBody>
      </p:sp>
      <p:sp>
        <p:nvSpPr>
          <p:cNvPr id="365" name="Google Shape;365;p55"/>
          <p:cNvSpPr/>
          <p:nvPr/>
        </p:nvSpPr>
        <p:spPr>
          <a:xfrm>
            <a:off x="6273641" y="5399365"/>
            <a:ext cx="7459266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0109" y="5444490"/>
            <a:ext cx="6412587" cy="135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7" name="Google Shape;367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08107" y="5912644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5"/>
          <p:cNvSpPr/>
          <p:nvPr/>
        </p:nvSpPr>
        <p:spPr>
          <a:xfrm>
            <a:off x="7522012" y="5683806"/>
            <a:ext cx="3616881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Infraestructura física</a:t>
            </a:r>
            <a:endParaRPr b="0" i="0" sz="2200" u="none" cap="none" strike="noStrike"/>
          </a:p>
        </p:txBody>
      </p:sp>
      <p:sp>
        <p:nvSpPr>
          <p:cNvPr id="369" name="Google Shape;369;p55"/>
          <p:cNvSpPr/>
          <p:nvPr/>
        </p:nvSpPr>
        <p:spPr>
          <a:xfrm>
            <a:off x="7522012" y="6179344"/>
            <a:ext cx="3616881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Hardware, redes, centros de datos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6"/>
          <p:cNvSpPr/>
          <p:nvPr/>
        </p:nvSpPr>
        <p:spPr>
          <a:xfrm>
            <a:off x="837724" y="1256348"/>
            <a:ext cx="770810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Frameworks Front-End</a:t>
            </a:r>
            <a:endParaRPr b="0" i="0" sz="4400" u="none" cap="none" strike="noStrike"/>
          </a:p>
        </p:txBody>
      </p:sp>
      <p:sp>
        <p:nvSpPr>
          <p:cNvPr id="376" name="Google Shape;376;p56"/>
          <p:cNvSpPr/>
          <p:nvPr/>
        </p:nvSpPr>
        <p:spPr>
          <a:xfrm>
            <a:off x="837724" y="2764036"/>
            <a:ext cx="3851434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Herramientas estructuradas</a:t>
            </a:r>
            <a:endParaRPr b="0" i="0" sz="2200" u="none" cap="none" strike="noStrike"/>
          </a:p>
        </p:txBody>
      </p:sp>
      <p:sp>
        <p:nvSpPr>
          <p:cNvPr id="377" name="Google Shape;377;p56"/>
          <p:cNvSpPr/>
          <p:nvPr/>
        </p:nvSpPr>
        <p:spPr>
          <a:xfrm>
            <a:off x="837724" y="3611523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Ofrecen arquitectura y patrones establecidos</a:t>
            </a:r>
            <a:endParaRPr b="0" i="0" sz="1850" u="none" cap="none" strike="noStrike"/>
          </a:p>
        </p:txBody>
      </p:sp>
      <p:pic>
        <p:nvPicPr>
          <p:cNvPr descr="preencoded.png" id="378" name="Google Shape;37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9" name="Google Shape;37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516" y="3183969"/>
            <a:ext cx="35814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6"/>
          <p:cNvSpPr/>
          <p:nvPr/>
        </p:nvSpPr>
        <p:spPr>
          <a:xfrm>
            <a:off x="9941243" y="3131582"/>
            <a:ext cx="349758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Desarrollo acelerado</a:t>
            </a:r>
            <a:endParaRPr b="0" i="0" sz="2200" u="none" cap="none" strike="noStrike"/>
          </a:p>
        </p:txBody>
      </p:sp>
      <p:sp>
        <p:nvSpPr>
          <p:cNvPr id="381" name="Google Shape;381;p56"/>
          <p:cNvSpPr/>
          <p:nvPr/>
        </p:nvSpPr>
        <p:spPr>
          <a:xfrm>
            <a:off x="9941243" y="3627120"/>
            <a:ext cx="3851434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Reducen tiempo de implementación</a:t>
            </a:r>
            <a:endParaRPr b="0" i="0" sz="1850" u="none" cap="none" strike="noStrike"/>
          </a:p>
        </p:txBody>
      </p:sp>
      <p:pic>
        <p:nvPicPr>
          <p:cNvPr descr="preencoded.png" id="382" name="Google Shape;382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3" name="Google Shape;383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4388" y="3569732"/>
            <a:ext cx="35814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6"/>
          <p:cNvSpPr/>
          <p:nvPr/>
        </p:nvSpPr>
        <p:spPr>
          <a:xfrm>
            <a:off x="9941243" y="5402104"/>
            <a:ext cx="3851434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Mantenimiento simplificado</a:t>
            </a:r>
            <a:endParaRPr b="0" i="0" sz="2200" u="none" cap="none" strike="noStrike"/>
          </a:p>
        </p:txBody>
      </p:sp>
      <p:sp>
        <p:nvSpPr>
          <p:cNvPr id="385" name="Google Shape;385;p56"/>
          <p:cNvSpPr/>
          <p:nvPr/>
        </p:nvSpPr>
        <p:spPr>
          <a:xfrm>
            <a:off x="9941243" y="6249591"/>
            <a:ext cx="3851434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Código organizado y consistente</a:t>
            </a:r>
            <a:endParaRPr b="0" i="0" sz="1850" u="none" cap="none" strike="noStrike"/>
          </a:p>
        </p:txBody>
      </p:sp>
      <p:pic>
        <p:nvPicPr>
          <p:cNvPr descr="preencoded.png" id="386" name="Google Shape;386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8625" y="5780603"/>
            <a:ext cx="35814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6"/>
          <p:cNvSpPr/>
          <p:nvPr/>
        </p:nvSpPr>
        <p:spPr>
          <a:xfrm>
            <a:off x="1592104" y="5386626"/>
            <a:ext cx="3097054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Comunidad activa</a:t>
            </a:r>
            <a:endParaRPr b="0" i="0" sz="2200" u="none" cap="none" strike="noStrike"/>
          </a:p>
        </p:txBody>
      </p:sp>
      <p:sp>
        <p:nvSpPr>
          <p:cNvPr id="389" name="Google Shape;389;p56"/>
          <p:cNvSpPr/>
          <p:nvPr/>
        </p:nvSpPr>
        <p:spPr>
          <a:xfrm>
            <a:off x="837724" y="5882164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Soporte, actualizaciones y extensiones</a:t>
            </a:r>
            <a:endParaRPr b="0" i="0" sz="1850" u="none" cap="none" strike="noStrike"/>
          </a:p>
        </p:txBody>
      </p:sp>
      <p:pic>
        <p:nvPicPr>
          <p:cNvPr descr="preencoded.png" id="390" name="Google Shape;390;p5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1" name="Google Shape;391;p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37753" y="5394841"/>
            <a:ext cx="35814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7"/>
          <p:cNvSpPr/>
          <p:nvPr/>
        </p:nvSpPr>
        <p:spPr>
          <a:xfrm>
            <a:off x="837724" y="1367909"/>
            <a:ext cx="926080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Introducción a Frameworks</a:t>
            </a:r>
            <a:endParaRPr b="0" i="0" sz="4400" u="none" cap="none" strike="noStrike"/>
          </a:p>
        </p:txBody>
      </p:sp>
      <p:sp>
        <p:nvSpPr>
          <p:cNvPr id="398" name="Google Shape;398;p57"/>
          <p:cNvSpPr/>
          <p:nvPr/>
        </p:nvSpPr>
        <p:spPr>
          <a:xfrm>
            <a:off x="837724" y="2550676"/>
            <a:ext cx="2159079" cy="1357193"/>
          </a:xfrm>
          <a:prstGeom prst="roundRect">
            <a:avLst>
              <a:gd fmla="val 26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09" y="3018830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7"/>
          <p:cNvSpPr/>
          <p:nvPr/>
        </p:nvSpPr>
        <p:spPr>
          <a:xfrm>
            <a:off x="3236119" y="2789992"/>
            <a:ext cx="4484013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Componentes reutilizables</a:t>
            </a:r>
            <a:endParaRPr b="0" i="0" sz="2200" u="none" cap="none" strike="noStrike"/>
          </a:p>
        </p:txBody>
      </p:sp>
      <p:sp>
        <p:nvSpPr>
          <p:cNvPr id="401" name="Google Shape;401;p57"/>
          <p:cNvSpPr/>
          <p:nvPr/>
        </p:nvSpPr>
        <p:spPr>
          <a:xfrm>
            <a:off x="3236119" y="3285530"/>
            <a:ext cx="5598200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Bloques de construcción independientes y combinables</a:t>
            </a:r>
            <a:endParaRPr b="0" i="0" sz="1850" u="none" cap="none" strike="noStrike"/>
          </a:p>
        </p:txBody>
      </p:sp>
      <p:sp>
        <p:nvSpPr>
          <p:cNvPr id="402" name="Google Shape;402;p57"/>
          <p:cNvSpPr/>
          <p:nvPr/>
        </p:nvSpPr>
        <p:spPr>
          <a:xfrm>
            <a:off x="3116461" y="3892629"/>
            <a:ext cx="10556558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7"/>
          <p:cNvSpPr/>
          <p:nvPr/>
        </p:nvSpPr>
        <p:spPr>
          <a:xfrm>
            <a:off x="837724" y="4027527"/>
            <a:ext cx="4318278" cy="1357193"/>
          </a:xfrm>
          <a:prstGeom prst="roundRect">
            <a:avLst>
              <a:gd fmla="val 26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4" name="Google Shape;404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568" y="4495681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7"/>
          <p:cNvSpPr/>
          <p:nvPr/>
        </p:nvSpPr>
        <p:spPr>
          <a:xfrm>
            <a:off x="5395317" y="4266843"/>
            <a:ext cx="3088243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Gestión de estado</a:t>
            </a:r>
            <a:endParaRPr b="0" i="0" sz="2200" u="none" cap="none" strike="noStrike"/>
          </a:p>
        </p:txBody>
      </p:sp>
      <p:sp>
        <p:nvSpPr>
          <p:cNvPr id="406" name="Google Shape;406;p57"/>
          <p:cNvSpPr/>
          <p:nvPr/>
        </p:nvSpPr>
        <p:spPr>
          <a:xfrm>
            <a:off x="5395317" y="4762381"/>
            <a:ext cx="4543544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Control centralizado de datos de la aplicación</a:t>
            </a:r>
            <a:endParaRPr b="0" i="0" sz="1850" u="none" cap="none" strike="noStrike"/>
          </a:p>
        </p:txBody>
      </p:sp>
      <p:sp>
        <p:nvSpPr>
          <p:cNvPr id="407" name="Google Shape;407;p57"/>
          <p:cNvSpPr/>
          <p:nvPr/>
        </p:nvSpPr>
        <p:spPr>
          <a:xfrm>
            <a:off x="5275659" y="5369481"/>
            <a:ext cx="8397359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7"/>
          <p:cNvSpPr/>
          <p:nvPr/>
        </p:nvSpPr>
        <p:spPr>
          <a:xfrm>
            <a:off x="837724" y="5504378"/>
            <a:ext cx="6477476" cy="1357193"/>
          </a:xfrm>
          <a:prstGeom prst="roundRect">
            <a:avLst>
              <a:gd fmla="val 26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9" name="Google Shape;40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8107" y="5972532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7"/>
          <p:cNvSpPr/>
          <p:nvPr/>
        </p:nvSpPr>
        <p:spPr>
          <a:xfrm>
            <a:off x="7554516" y="5743694"/>
            <a:ext cx="3642479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Renderizado eficiente</a:t>
            </a:r>
            <a:endParaRPr b="0" i="0" sz="2200" u="none" cap="none" strike="noStrike"/>
          </a:p>
        </p:txBody>
      </p:sp>
      <p:sp>
        <p:nvSpPr>
          <p:cNvPr id="411" name="Google Shape;411;p57"/>
          <p:cNvSpPr/>
          <p:nvPr/>
        </p:nvSpPr>
        <p:spPr>
          <a:xfrm>
            <a:off x="7554516" y="6239232"/>
            <a:ext cx="4895731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Actualización inteligente de la interfaz de usuario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8"/>
          <p:cNvSpPr/>
          <p:nvPr/>
        </p:nvSpPr>
        <p:spPr>
          <a:xfrm>
            <a:off x="837724" y="2078831"/>
            <a:ext cx="658403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React: Introducción</a:t>
            </a:r>
            <a:endParaRPr b="0" i="0" sz="4400" u="none" cap="none" strike="noStrike"/>
          </a:p>
        </p:txBody>
      </p:sp>
      <p:sp>
        <p:nvSpPr>
          <p:cNvPr id="418" name="Google Shape;418;p58"/>
          <p:cNvSpPr/>
          <p:nvPr/>
        </p:nvSpPr>
        <p:spPr>
          <a:xfrm>
            <a:off x="837724" y="3381137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Biblioteca de UI</a:t>
            </a:r>
            <a:endParaRPr b="0" i="0" sz="2200" u="none" cap="none" strike="noStrike"/>
          </a:p>
        </p:txBody>
      </p:sp>
      <p:sp>
        <p:nvSpPr>
          <p:cNvPr id="419" name="Google Shape;419;p58"/>
          <p:cNvSpPr/>
          <p:nvPr/>
        </p:nvSpPr>
        <p:spPr>
          <a:xfrm>
            <a:off x="837724" y="3972401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Desarrollada y mantenida por Facebook desde 2013.</a:t>
            </a:r>
            <a:endParaRPr b="0" i="0" sz="1850" u="none" cap="none" strike="noStrike"/>
          </a:p>
        </p:txBody>
      </p:sp>
      <p:sp>
        <p:nvSpPr>
          <p:cNvPr id="420" name="Google Shape;420;p58"/>
          <p:cNvSpPr/>
          <p:nvPr/>
        </p:nvSpPr>
        <p:spPr>
          <a:xfrm>
            <a:off x="837724" y="457080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Enfocada específicamente en construir interfaces de usuario.</a:t>
            </a:r>
            <a:endParaRPr b="0" i="0" sz="1850" u="none" cap="none" strike="noStrike"/>
          </a:p>
        </p:txBody>
      </p:sp>
      <p:sp>
        <p:nvSpPr>
          <p:cNvPr id="421" name="Google Shape;421;p58"/>
          <p:cNvSpPr/>
          <p:nvPr/>
        </p:nvSpPr>
        <p:spPr>
          <a:xfrm>
            <a:off x="837724" y="5169218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No es un framework completo sino una biblioteca especializada.</a:t>
            </a:r>
            <a:endParaRPr b="0" i="0" sz="1850" u="none" cap="none" strike="noStrike"/>
          </a:p>
        </p:txBody>
      </p:sp>
      <p:sp>
        <p:nvSpPr>
          <p:cNvPr id="422" name="Google Shape;422;p58"/>
          <p:cNvSpPr/>
          <p:nvPr/>
        </p:nvSpPr>
        <p:spPr>
          <a:xfrm>
            <a:off x="7614761" y="3381137"/>
            <a:ext cx="3618786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Características clave</a:t>
            </a:r>
            <a:endParaRPr b="0" i="0" sz="2200" u="none" cap="none" strike="noStrike"/>
          </a:p>
        </p:txBody>
      </p:sp>
      <p:sp>
        <p:nvSpPr>
          <p:cNvPr id="423" name="Google Shape;423;p58"/>
          <p:cNvSpPr/>
          <p:nvPr/>
        </p:nvSpPr>
        <p:spPr>
          <a:xfrm>
            <a:off x="7614761" y="3972401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Basada en componentes</a:t>
            </a:r>
            <a:endParaRPr b="0" i="0" sz="1850" u="none" cap="none" strike="noStrike"/>
          </a:p>
        </p:txBody>
      </p:sp>
      <p:sp>
        <p:nvSpPr>
          <p:cNvPr id="424" name="Google Shape;424;p58"/>
          <p:cNvSpPr/>
          <p:nvPr/>
        </p:nvSpPr>
        <p:spPr>
          <a:xfrm>
            <a:off x="7614761" y="4439126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Virtual DOM para rendimiento</a:t>
            </a:r>
            <a:endParaRPr b="0" i="0" sz="1850" u="none" cap="none" strike="noStrike"/>
          </a:p>
        </p:txBody>
      </p:sp>
      <p:sp>
        <p:nvSpPr>
          <p:cNvPr id="425" name="Google Shape;425;p58"/>
          <p:cNvSpPr/>
          <p:nvPr/>
        </p:nvSpPr>
        <p:spPr>
          <a:xfrm>
            <a:off x="7614761" y="4905851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Flujo de datos unidireccional</a:t>
            </a:r>
            <a:endParaRPr b="0" i="0" sz="1850" u="none" cap="none" strike="noStrike"/>
          </a:p>
        </p:txBody>
      </p:sp>
      <p:sp>
        <p:nvSpPr>
          <p:cNvPr id="426" name="Google Shape;426;p58"/>
          <p:cNvSpPr/>
          <p:nvPr/>
        </p:nvSpPr>
        <p:spPr>
          <a:xfrm>
            <a:off x="7614761" y="5372576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JSX como sintaxis declarativa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2" name="Google Shape;43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24409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9"/>
          <p:cNvSpPr/>
          <p:nvPr/>
        </p:nvSpPr>
        <p:spPr>
          <a:xfrm>
            <a:off x="837724" y="3222427"/>
            <a:ext cx="5606653" cy="5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Unbounded"/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Arquitectura de React</a:t>
            </a:r>
            <a:endParaRPr b="0" i="0" sz="3300" u="none" cap="none" strike="noStrike"/>
          </a:p>
        </p:txBody>
      </p:sp>
      <p:pic>
        <p:nvPicPr>
          <p:cNvPr descr="preencoded.png" id="434" name="Google Shape;434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724" y="4019669"/>
            <a:ext cx="897612" cy="1077158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9"/>
          <p:cNvSpPr/>
          <p:nvPr/>
        </p:nvSpPr>
        <p:spPr>
          <a:xfrm>
            <a:off x="2004536" y="4199096"/>
            <a:ext cx="2112169" cy="26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Unbounded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Componentes</a:t>
            </a:r>
            <a:endParaRPr b="0" i="0" sz="1650" u="none" cap="none" strike="noStrike"/>
          </a:p>
        </p:txBody>
      </p:sp>
      <p:sp>
        <p:nvSpPr>
          <p:cNvPr id="436" name="Google Shape;436;p59"/>
          <p:cNvSpPr/>
          <p:nvPr/>
        </p:nvSpPr>
        <p:spPr>
          <a:xfrm>
            <a:off x="2004536" y="4570690"/>
            <a:ext cx="11788140" cy="28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Piezas reutilizables y autocontenidas que forman la interfaz.</a:t>
            </a:r>
            <a:endParaRPr b="0" i="0" sz="1400" u="none" cap="none" strike="noStrike"/>
          </a:p>
        </p:txBody>
      </p:sp>
      <p:pic>
        <p:nvPicPr>
          <p:cNvPr descr="preencoded.png" id="437" name="Google Shape;437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724" y="5096828"/>
            <a:ext cx="897612" cy="1077158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9"/>
          <p:cNvSpPr/>
          <p:nvPr/>
        </p:nvSpPr>
        <p:spPr>
          <a:xfrm>
            <a:off x="2004536" y="5276255"/>
            <a:ext cx="2112169" cy="26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Unbounded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JSX</a:t>
            </a:r>
            <a:endParaRPr b="0" i="0" sz="1650" u="none" cap="none" strike="noStrike"/>
          </a:p>
        </p:txBody>
      </p:sp>
      <p:sp>
        <p:nvSpPr>
          <p:cNvPr id="439" name="Google Shape;439;p59"/>
          <p:cNvSpPr/>
          <p:nvPr/>
        </p:nvSpPr>
        <p:spPr>
          <a:xfrm>
            <a:off x="2004536" y="5647849"/>
            <a:ext cx="11788140" cy="28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Extensión de JavaScript para escribir markup similar a HTML.</a:t>
            </a:r>
            <a:endParaRPr b="0" i="0" sz="1400" u="none" cap="none" strike="noStrike"/>
          </a:p>
        </p:txBody>
      </p:sp>
      <p:pic>
        <p:nvPicPr>
          <p:cNvPr descr="preencoded.png" id="440" name="Google Shape;440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724" y="6173986"/>
            <a:ext cx="897612" cy="107715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9"/>
          <p:cNvSpPr/>
          <p:nvPr/>
        </p:nvSpPr>
        <p:spPr>
          <a:xfrm>
            <a:off x="2004536" y="6353413"/>
            <a:ext cx="2112169" cy="26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Unbounded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Props y Estado</a:t>
            </a:r>
            <a:endParaRPr b="0" i="0" sz="1650" u="none" cap="none" strike="noStrike"/>
          </a:p>
        </p:txBody>
      </p:sp>
      <p:sp>
        <p:nvSpPr>
          <p:cNvPr id="442" name="Google Shape;442;p59"/>
          <p:cNvSpPr/>
          <p:nvPr/>
        </p:nvSpPr>
        <p:spPr>
          <a:xfrm>
            <a:off x="2004536" y="6725007"/>
            <a:ext cx="11788140" cy="28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Sistema para pasar y gestionar datos dentro de componentes.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8" name="Google Shape;44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0"/>
          <p:cNvSpPr/>
          <p:nvPr/>
        </p:nvSpPr>
        <p:spPr>
          <a:xfrm>
            <a:off x="6324124" y="792242"/>
            <a:ext cx="6000631" cy="633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50"/>
              <a:buFont typeface="Unbounded"/>
              <a:buNone/>
            </a:pPr>
            <a:r>
              <a:rPr b="0" i="0" lang="en-US" sz="39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Beneficios de React</a:t>
            </a:r>
            <a:endParaRPr b="0" i="0" sz="3950" u="none" cap="none" strike="noStrike"/>
          </a:p>
        </p:txBody>
      </p:sp>
      <p:sp>
        <p:nvSpPr>
          <p:cNvPr id="450" name="Google Shape;450;p60"/>
          <p:cNvSpPr/>
          <p:nvPr/>
        </p:nvSpPr>
        <p:spPr>
          <a:xfrm>
            <a:off x="6324124" y="1749028"/>
            <a:ext cx="3626644" cy="3411736"/>
          </a:xfrm>
          <a:prstGeom prst="roundRect">
            <a:avLst>
              <a:gd fmla="val 94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60"/>
          <p:cNvSpPr/>
          <p:nvPr/>
        </p:nvSpPr>
        <p:spPr>
          <a:xfrm>
            <a:off x="6539508" y="1964412"/>
            <a:ext cx="3195876" cy="633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Rendimiento optimizado</a:t>
            </a:r>
            <a:endParaRPr b="0" i="0" sz="1950" u="none" cap="none" strike="noStrike"/>
          </a:p>
        </p:txBody>
      </p:sp>
      <p:sp>
        <p:nvSpPr>
          <p:cNvPr id="452" name="Google Shape;452;p60"/>
          <p:cNvSpPr/>
          <p:nvPr/>
        </p:nvSpPr>
        <p:spPr>
          <a:xfrm>
            <a:off x="6539508" y="2727246"/>
            <a:ext cx="3195876" cy="689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Virtual DOM minimiza operaciones costosas</a:t>
            </a:r>
            <a:endParaRPr b="0" i="0" sz="1650" u="none" cap="none" strike="noStrike"/>
          </a:p>
        </p:txBody>
      </p:sp>
      <p:sp>
        <p:nvSpPr>
          <p:cNvPr id="453" name="Google Shape;453;p60"/>
          <p:cNvSpPr/>
          <p:nvPr/>
        </p:nvSpPr>
        <p:spPr>
          <a:xfrm>
            <a:off x="6539508" y="3491746"/>
            <a:ext cx="3195876" cy="689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Renderizado selectivo de componentes</a:t>
            </a:r>
            <a:endParaRPr b="0" i="0" sz="1650" u="none" cap="none" strike="noStrike"/>
          </a:p>
        </p:txBody>
      </p:sp>
      <p:sp>
        <p:nvSpPr>
          <p:cNvPr id="454" name="Google Shape;454;p60"/>
          <p:cNvSpPr/>
          <p:nvPr/>
        </p:nvSpPr>
        <p:spPr>
          <a:xfrm>
            <a:off x="6539508" y="4256246"/>
            <a:ext cx="3195876" cy="689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Técnicas de memoización incluidas</a:t>
            </a:r>
            <a:endParaRPr b="0" i="0" sz="1650" u="none" cap="none" strike="noStrike"/>
          </a:p>
        </p:txBody>
      </p:sp>
      <p:sp>
        <p:nvSpPr>
          <p:cNvPr id="455" name="Google Shape;455;p60"/>
          <p:cNvSpPr/>
          <p:nvPr/>
        </p:nvSpPr>
        <p:spPr>
          <a:xfrm>
            <a:off x="10166152" y="1749028"/>
            <a:ext cx="3626644" cy="3411736"/>
          </a:xfrm>
          <a:prstGeom prst="roundRect">
            <a:avLst>
              <a:gd fmla="val 94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60"/>
          <p:cNvSpPr/>
          <p:nvPr/>
        </p:nvSpPr>
        <p:spPr>
          <a:xfrm>
            <a:off x="10381536" y="1964412"/>
            <a:ext cx="3195876" cy="633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Componentes reutilizables</a:t>
            </a:r>
            <a:endParaRPr b="0" i="0" sz="1950" u="none" cap="none" strike="noStrike"/>
          </a:p>
        </p:txBody>
      </p:sp>
      <p:sp>
        <p:nvSpPr>
          <p:cNvPr id="457" name="Google Shape;457;p60"/>
          <p:cNvSpPr/>
          <p:nvPr/>
        </p:nvSpPr>
        <p:spPr>
          <a:xfrm>
            <a:off x="10381536" y="2727246"/>
            <a:ext cx="3195876" cy="689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Creación de bibliotecas de UI propias</a:t>
            </a:r>
            <a:endParaRPr b="0" i="0" sz="1650" u="none" cap="none" strike="noStrike"/>
          </a:p>
        </p:txBody>
      </p:sp>
      <p:sp>
        <p:nvSpPr>
          <p:cNvPr id="458" name="Google Shape;458;p60"/>
          <p:cNvSpPr/>
          <p:nvPr/>
        </p:nvSpPr>
        <p:spPr>
          <a:xfrm>
            <a:off x="10381536" y="3491746"/>
            <a:ext cx="3195876" cy="689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Consistencia visual en toda la aplicación</a:t>
            </a:r>
            <a:endParaRPr b="0" i="0" sz="1650" u="none" cap="none" strike="noStrike"/>
          </a:p>
        </p:txBody>
      </p:sp>
      <p:sp>
        <p:nvSpPr>
          <p:cNvPr id="459" name="Google Shape;459;p60"/>
          <p:cNvSpPr/>
          <p:nvPr/>
        </p:nvSpPr>
        <p:spPr>
          <a:xfrm>
            <a:off x="10381536" y="4256246"/>
            <a:ext cx="3195876" cy="344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Mantenimiento simplificado</a:t>
            </a:r>
            <a:endParaRPr b="0" i="0" sz="1650" u="none" cap="none" strike="noStrike"/>
          </a:p>
        </p:txBody>
      </p:sp>
      <p:sp>
        <p:nvSpPr>
          <p:cNvPr id="460" name="Google Shape;460;p60"/>
          <p:cNvSpPr/>
          <p:nvPr/>
        </p:nvSpPr>
        <p:spPr>
          <a:xfrm>
            <a:off x="6324124" y="5376148"/>
            <a:ext cx="7468553" cy="2061210"/>
          </a:xfrm>
          <a:prstGeom prst="roundRect">
            <a:avLst>
              <a:gd fmla="val 15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0"/>
          <p:cNvSpPr/>
          <p:nvPr/>
        </p:nvSpPr>
        <p:spPr>
          <a:xfrm>
            <a:off x="6539508" y="5591532"/>
            <a:ext cx="2534603" cy="3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Ecosistema rico</a:t>
            </a:r>
            <a:endParaRPr b="0" i="0" sz="1950" u="none" cap="none" strike="noStrike"/>
          </a:p>
        </p:txBody>
      </p:sp>
      <p:sp>
        <p:nvSpPr>
          <p:cNvPr id="462" name="Google Shape;462;p60"/>
          <p:cNvSpPr/>
          <p:nvPr/>
        </p:nvSpPr>
        <p:spPr>
          <a:xfrm>
            <a:off x="6539508" y="6037540"/>
            <a:ext cx="7037784" cy="344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Miles de bibliotecas complementarias</a:t>
            </a:r>
            <a:endParaRPr b="0" i="0" sz="1650" u="none" cap="none" strike="noStrike"/>
          </a:p>
        </p:txBody>
      </p:sp>
      <p:sp>
        <p:nvSpPr>
          <p:cNvPr id="463" name="Google Shape;463;p60"/>
          <p:cNvSpPr/>
          <p:nvPr/>
        </p:nvSpPr>
        <p:spPr>
          <a:xfrm>
            <a:off x="6539508" y="6457474"/>
            <a:ext cx="7037784" cy="344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Herramientas de desarrollo potentes</a:t>
            </a:r>
            <a:endParaRPr b="0" i="0" sz="1650" u="none" cap="none" strike="noStrike"/>
          </a:p>
        </p:txBody>
      </p:sp>
      <p:sp>
        <p:nvSpPr>
          <p:cNvPr id="464" name="Google Shape;464;p60"/>
          <p:cNvSpPr/>
          <p:nvPr/>
        </p:nvSpPr>
        <p:spPr>
          <a:xfrm>
            <a:off x="6539508" y="6877407"/>
            <a:ext cx="7037784" cy="344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Char char="•"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Comunidad activa y documentación extensa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1"/>
          <p:cNvSpPr/>
          <p:nvPr/>
        </p:nvSpPr>
        <p:spPr>
          <a:xfrm>
            <a:off x="837724" y="1306592"/>
            <a:ext cx="7226618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Virtual DOM en React</a:t>
            </a:r>
            <a:endParaRPr b="0" i="0" sz="4400" u="none" cap="none" strike="noStrike"/>
          </a:p>
        </p:txBody>
      </p:sp>
      <p:pic>
        <p:nvPicPr>
          <p:cNvPr descr="preencoded.png" id="471" name="Google Shape;47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2489359"/>
            <a:ext cx="4078962" cy="25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1"/>
          <p:cNvSpPr/>
          <p:nvPr/>
        </p:nvSpPr>
        <p:spPr>
          <a:xfrm>
            <a:off x="837724" y="5309473"/>
            <a:ext cx="4078962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Representación en memoria</a:t>
            </a:r>
            <a:endParaRPr b="0" i="0" sz="2200" u="none" cap="none" strike="noStrike"/>
          </a:p>
        </p:txBody>
      </p:sp>
      <p:sp>
        <p:nvSpPr>
          <p:cNvPr id="473" name="Google Shape;473;p61"/>
          <p:cNvSpPr/>
          <p:nvPr/>
        </p:nvSpPr>
        <p:spPr>
          <a:xfrm>
            <a:off x="837724" y="6156960"/>
            <a:ext cx="407896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Copia ligera del DOM real que permite operaciones rápidas.</a:t>
            </a:r>
            <a:endParaRPr b="0" i="0" sz="1850" u="none" cap="none" strike="noStrike"/>
          </a:p>
        </p:txBody>
      </p:sp>
      <p:pic>
        <p:nvPicPr>
          <p:cNvPr descr="preencoded.png" id="474" name="Google Shape;47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5659" y="2489359"/>
            <a:ext cx="4078962" cy="25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1"/>
          <p:cNvSpPr/>
          <p:nvPr/>
        </p:nvSpPr>
        <p:spPr>
          <a:xfrm>
            <a:off x="5275659" y="5309473"/>
            <a:ext cx="4078962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Algoritmo de diferenciación</a:t>
            </a:r>
            <a:endParaRPr b="0" i="0" sz="2200" u="none" cap="none" strike="noStrike"/>
          </a:p>
        </p:txBody>
      </p:sp>
      <p:sp>
        <p:nvSpPr>
          <p:cNvPr id="476" name="Google Shape;476;p61"/>
          <p:cNvSpPr/>
          <p:nvPr/>
        </p:nvSpPr>
        <p:spPr>
          <a:xfrm>
            <a:off x="5275659" y="6156960"/>
            <a:ext cx="407896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Identifica exactamente qué partes necesitan actualizarse.</a:t>
            </a:r>
            <a:endParaRPr b="0" i="0" sz="1850" u="none" cap="none" strike="noStrike"/>
          </a:p>
        </p:txBody>
      </p:sp>
      <p:pic>
        <p:nvPicPr>
          <p:cNvPr descr="preencoded.png" id="477" name="Google Shape;477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3595" y="2489359"/>
            <a:ext cx="4079081" cy="252102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61"/>
          <p:cNvSpPr/>
          <p:nvPr/>
        </p:nvSpPr>
        <p:spPr>
          <a:xfrm>
            <a:off x="9713595" y="5309592"/>
            <a:ext cx="3874651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Actualizaciones en lote</a:t>
            </a:r>
            <a:endParaRPr b="0" i="0" sz="2200" u="none" cap="none" strike="noStrike"/>
          </a:p>
        </p:txBody>
      </p:sp>
      <p:sp>
        <p:nvSpPr>
          <p:cNvPr id="479" name="Google Shape;479;p61"/>
          <p:cNvSpPr/>
          <p:nvPr/>
        </p:nvSpPr>
        <p:spPr>
          <a:xfrm>
            <a:off x="9713595" y="5805130"/>
            <a:ext cx="4079081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Cambios agrupados para minimizar repaints del navegador.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2"/>
          <p:cNvSpPr/>
          <p:nvPr/>
        </p:nvSpPr>
        <p:spPr>
          <a:xfrm>
            <a:off x="837724" y="1175385"/>
            <a:ext cx="7934444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Componentes de React</a:t>
            </a:r>
            <a:endParaRPr b="0" i="0" sz="4400" u="none" cap="none" strike="noStrike"/>
          </a:p>
        </p:txBody>
      </p:sp>
      <p:sp>
        <p:nvSpPr>
          <p:cNvPr id="486" name="Google Shape;486;p62"/>
          <p:cNvSpPr/>
          <p:nvPr/>
        </p:nvSpPr>
        <p:spPr>
          <a:xfrm>
            <a:off x="837724" y="2477691"/>
            <a:ext cx="4484013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Componentes Funcionales</a:t>
            </a:r>
            <a:endParaRPr b="0" i="0" sz="2200" u="none" cap="none" strike="noStrike"/>
          </a:p>
        </p:txBody>
      </p:sp>
      <p:sp>
        <p:nvSpPr>
          <p:cNvPr id="487" name="Google Shape;487;p62"/>
          <p:cNvSpPr/>
          <p:nvPr/>
        </p:nvSpPr>
        <p:spPr>
          <a:xfrm>
            <a:off x="837724" y="3098840"/>
            <a:ext cx="6185535" cy="1507927"/>
          </a:xfrm>
          <a:prstGeom prst="roundRect">
            <a:avLst>
              <a:gd fmla="val 2381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62"/>
          <p:cNvSpPr/>
          <p:nvPr/>
        </p:nvSpPr>
        <p:spPr>
          <a:xfrm>
            <a:off x="825818" y="3098840"/>
            <a:ext cx="6209348" cy="1507927"/>
          </a:xfrm>
          <a:prstGeom prst="roundRect">
            <a:avLst>
              <a:gd fmla="val 2381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62"/>
          <p:cNvSpPr/>
          <p:nvPr/>
        </p:nvSpPr>
        <p:spPr>
          <a:xfrm>
            <a:off x="1065133" y="3278267"/>
            <a:ext cx="5730716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function Saludo(props) {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return (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850" u="none" cap="none" strike="noStrike"/>
          </a:p>
        </p:txBody>
      </p:sp>
      <p:sp>
        <p:nvSpPr>
          <p:cNvPr id="490" name="Google Shape;490;p62"/>
          <p:cNvSpPr/>
          <p:nvPr/>
        </p:nvSpPr>
        <p:spPr>
          <a:xfrm>
            <a:off x="837724" y="4875967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Hola, {props.nombre}</a:t>
            </a:r>
            <a:endParaRPr b="0" i="0" sz="1850" u="none" cap="none" strike="noStrike"/>
          </a:p>
        </p:txBody>
      </p:sp>
      <p:sp>
        <p:nvSpPr>
          <p:cNvPr id="491" name="Google Shape;491;p62"/>
          <p:cNvSpPr/>
          <p:nvPr/>
        </p:nvSpPr>
        <p:spPr>
          <a:xfrm>
            <a:off x="837724" y="5474375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); }</a:t>
            </a:r>
            <a:endParaRPr b="0" i="0" sz="1850" u="none" cap="none" strike="noStrike"/>
          </a:p>
        </p:txBody>
      </p:sp>
      <p:sp>
        <p:nvSpPr>
          <p:cNvPr id="492" name="Google Shape;492;p62"/>
          <p:cNvSpPr/>
          <p:nvPr/>
        </p:nvSpPr>
        <p:spPr>
          <a:xfrm>
            <a:off x="837724" y="6072783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Más simples y favorecidos en desarrollo moderno con hooks.</a:t>
            </a:r>
            <a:endParaRPr b="0" i="0" sz="1850" u="none" cap="none" strike="noStrike"/>
          </a:p>
        </p:txBody>
      </p:sp>
      <p:sp>
        <p:nvSpPr>
          <p:cNvPr id="493" name="Google Shape;493;p62"/>
          <p:cNvSpPr/>
          <p:nvPr/>
        </p:nvSpPr>
        <p:spPr>
          <a:xfrm>
            <a:off x="7614761" y="2477691"/>
            <a:ext cx="391263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Componentes de Clase</a:t>
            </a:r>
            <a:endParaRPr b="0" i="0" sz="2200" u="none" cap="none" strike="noStrike"/>
          </a:p>
        </p:txBody>
      </p:sp>
      <p:sp>
        <p:nvSpPr>
          <p:cNvPr id="494" name="Google Shape;494;p62"/>
          <p:cNvSpPr/>
          <p:nvPr/>
        </p:nvSpPr>
        <p:spPr>
          <a:xfrm>
            <a:off x="7614761" y="3098840"/>
            <a:ext cx="6185535" cy="1890951"/>
          </a:xfrm>
          <a:prstGeom prst="roundRect">
            <a:avLst>
              <a:gd fmla="val 189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2"/>
          <p:cNvSpPr/>
          <p:nvPr/>
        </p:nvSpPr>
        <p:spPr>
          <a:xfrm>
            <a:off x="7602855" y="3098840"/>
            <a:ext cx="6209348" cy="1890951"/>
          </a:xfrm>
          <a:prstGeom prst="roundRect">
            <a:avLst>
              <a:gd fmla="val 189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2"/>
          <p:cNvSpPr/>
          <p:nvPr/>
        </p:nvSpPr>
        <p:spPr>
          <a:xfrm>
            <a:off x="7842171" y="3278267"/>
            <a:ext cx="5730716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class Saludo extends React.Component {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render() {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return (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b="0" i="0" sz="1850" u="none" cap="none" strike="noStrike"/>
          </a:p>
        </p:txBody>
      </p:sp>
      <p:sp>
        <p:nvSpPr>
          <p:cNvPr id="497" name="Google Shape;497;p62"/>
          <p:cNvSpPr/>
          <p:nvPr/>
        </p:nvSpPr>
        <p:spPr>
          <a:xfrm>
            <a:off x="7614761" y="5258991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Hola, {this.props.nombre}</a:t>
            </a:r>
            <a:endParaRPr b="0" i="0" sz="1850" u="none" cap="none" strike="noStrike"/>
          </a:p>
        </p:txBody>
      </p:sp>
      <p:sp>
        <p:nvSpPr>
          <p:cNvPr id="498" name="Google Shape;498;p62"/>
          <p:cNvSpPr/>
          <p:nvPr/>
        </p:nvSpPr>
        <p:spPr>
          <a:xfrm>
            <a:off x="7614761" y="585739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); } }</a:t>
            </a:r>
            <a:endParaRPr b="0" i="0" sz="1850" u="none" cap="none" strike="noStrike"/>
          </a:p>
        </p:txBody>
      </p:sp>
      <p:sp>
        <p:nvSpPr>
          <p:cNvPr id="499" name="Google Shape;499;p62"/>
          <p:cNvSpPr/>
          <p:nvPr/>
        </p:nvSpPr>
        <p:spPr>
          <a:xfrm>
            <a:off x="7614761" y="6455807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Tradicionales, con métodos de ciclo de vida incorporados.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5" name="Google Shape;50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99216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63"/>
          <p:cNvSpPr/>
          <p:nvPr/>
        </p:nvSpPr>
        <p:spPr>
          <a:xfrm>
            <a:off x="837724" y="3670697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Estado y Props</a:t>
            </a:r>
            <a:endParaRPr b="0" i="0" sz="4400" u="none" cap="none" strike="noStrike"/>
          </a:p>
        </p:txBody>
      </p:sp>
      <p:pic>
        <p:nvPicPr>
          <p:cNvPr descr="preencoded.png" id="507" name="Google Shape;50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724" y="4733687"/>
            <a:ext cx="4318278" cy="957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63"/>
          <p:cNvSpPr/>
          <p:nvPr/>
        </p:nvSpPr>
        <p:spPr>
          <a:xfrm>
            <a:off x="1077039" y="605016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Props</a:t>
            </a:r>
            <a:endParaRPr b="0" i="0" sz="2200" u="none" cap="none" strike="noStrike"/>
          </a:p>
        </p:txBody>
      </p:sp>
      <p:sp>
        <p:nvSpPr>
          <p:cNvPr id="509" name="Google Shape;509;p63"/>
          <p:cNvSpPr/>
          <p:nvPr/>
        </p:nvSpPr>
        <p:spPr>
          <a:xfrm>
            <a:off x="1077039" y="6545699"/>
            <a:ext cx="383964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Datos pasados de componente padre a hijo. Inmutables.</a:t>
            </a:r>
            <a:endParaRPr b="0" i="0" sz="1850" u="none" cap="none" strike="noStrike"/>
          </a:p>
        </p:txBody>
      </p:sp>
      <p:pic>
        <p:nvPicPr>
          <p:cNvPr descr="preencoded.png" id="510" name="Google Shape;510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6002" y="4733687"/>
            <a:ext cx="4318278" cy="95750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63"/>
          <p:cNvSpPr/>
          <p:nvPr/>
        </p:nvSpPr>
        <p:spPr>
          <a:xfrm>
            <a:off x="5395317" y="605016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Estado</a:t>
            </a:r>
            <a:endParaRPr b="0" i="0" sz="2200" u="none" cap="none" strike="noStrike"/>
          </a:p>
        </p:txBody>
      </p:sp>
      <p:sp>
        <p:nvSpPr>
          <p:cNvPr id="512" name="Google Shape;512;p63"/>
          <p:cNvSpPr/>
          <p:nvPr/>
        </p:nvSpPr>
        <p:spPr>
          <a:xfrm>
            <a:off x="5395317" y="6545699"/>
            <a:ext cx="383964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Datos internos del componente. Pueden cambiar con el tiempo.</a:t>
            </a:r>
            <a:endParaRPr b="0" i="0" sz="1850" u="none" cap="none" strike="noStrike"/>
          </a:p>
        </p:txBody>
      </p:sp>
      <p:pic>
        <p:nvPicPr>
          <p:cNvPr descr="preencoded.png" id="513" name="Google Shape;513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74279" y="4733687"/>
            <a:ext cx="4318278" cy="957501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3"/>
          <p:cNvSpPr/>
          <p:nvPr/>
        </p:nvSpPr>
        <p:spPr>
          <a:xfrm>
            <a:off x="9713595" y="605016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Flujo de datos</a:t>
            </a:r>
            <a:endParaRPr b="0" i="0" sz="2200" u="none" cap="none" strike="noStrike"/>
          </a:p>
        </p:txBody>
      </p:sp>
      <p:sp>
        <p:nvSpPr>
          <p:cNvPr id="515" name="Google Shape;515;p63"/>
          <p:cNvSpPr/>
          <p:nvPr/>
        </p:nvSpPr>
        <p:spPr>
          <a:xfrm>
            <a:off x="9713595" y="6545699"/>
            <a:ext cx="383964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Unidireccional, de arriba hacia abajo en el árbol de componentes.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1" name="Google Shape;52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4"/>
          <p:cNvSpPr/>
          <p:nvPr/>
        </p:nvSpPr>
        <p:spPr>
          <a:xfrm>
            <a:off x="6324124" y="928807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React Hooks</a:t>
            </a:r>
            <a:endParaRPr b="0" i="0" sz="4400" u="none" cap="none" strike="noStrike"/>
          </a:p>
        </p:txBody>
      </p:sp>
      <p:sp>
        <p:nvSpPr>
          <p:cNvPr id="523" name="Google Shape;523;p64"/>
          <p:cNvSpPr/>
          <p:nvPr/>
        </p:nvSpPr>
        <p:spPr>
          <a:xfrm>
            <a:off x="6324124" y="2260997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4" name="Google Shape;524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4374" y="2318980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64"/>
          <p:cNvSpPr/>
          <p:nvPr/>
        </p:nvSpPr>
        <p:spPr>
          <a:xfrm>
            <a:off x="7101959" y="2260997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useState</a:t>
            </a:r>
            <a:endParaRPr b="0" i="0" sz="2200" u="none" cap="none" strike="noStrike"/>
          </a:p>
        </p:txBody>
      </p:sp>
      <p:sp>
        <p:nvSpPr>
          <p:cNvPr id="526" name="Google Shape;526;p64"/>
          <p:cNvSpPr/>
          <p:nvPr/>
        </p:nvSpPr>
        <p:spPr>
          <a:xfrm>
            <a:off x="7101959" y="2756535"/>
            <a:ext cx="669071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Agrega estado a componentes funcionales con sintaxis simple.</a:t>
            </a:r>
            <a:endParaRPr b="0" i="0" sz="1850" u="none" cap="none" strike="noStrike"/>
          </a:p>
        </p:txBody>
      </p:sp>
      <p:sp>
        <p:nvSpPr>
          <p:cNvPr id="527" name="Google Shape;527;p64"/>
          <p:cNvSpPr/>
          <p:nvPr/>
        </p:nvSpPr>
        <p:spPr>
          <a:xfrm>
            <a:off x="6324124" y="3648075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8" name="Google Shape;528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4374" y="3706058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64"/>
          <p:cNvSpPr/>
          <p:nvPr/>
        </p:nvSpPr>
        <p:spPr>
          <a:xfrm>
            <a:off x="7101959" y="364807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useEffect</a:t>
            </a:r>
            <a:endParaRPr b="0" i="0" sz="2200" u="none" cap="none" strike="noStrike"/>
          </a:p>
        </p:txBody>
      </p:sp>
      <p:sp>
        <p:nvSpPr>
          <p:cNvPr id="530" name="Google Shape;530;p64"/>
          <p:cNvSpPr/>
          <p:nvPr/>
        </p:nvSpPr>
        <p:spPr>
          <a:xfrm>
            <a:off x="7101959" y="4143613"/>
            <a:ext cx="669071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Maneja efectos secundarios como peticiones a APIs.</a:t>
            </a:r>
            <a:endParaRPr b="0" i="0" sz="1850" u="none" cap="none" strike="noStrike"/>
          </a:p>
        </p:txBody>
      </p:sp>
      <p:sp>
        <p:nvSpPr>
          <p:cNvPr id="531" name="Google Shape;531;p64"/>
          <p:cNvSpPr/>
          <p:nvPr/>
        </p:nvSpPr>
        <p:spPr>
          <a:xfrm>
            <a:off x="6324124" y="5035153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4374" y="5093137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4"/>
          <p:cNvSpPr/>
          <p:nvPr/>
        </p:nvSpPr>
        <p:spPr>
          <a:xfrm>
            <a:off x="7101959" y="503515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useContext</a:t>
            </a:r>
            <a:endParaRPr b="0" i="0" sz="2200" u="none" cap="none" strike="noStrike"/>
          </a:p>
        </p:txBody>
      </p:sp>
      <p:sp>
        <p:nvSpPr>
          <p:cNvPr id="534" name="Google Shape;534;p64"/>
          <p:cNvSpPr/>
          <p:nvPr/>
        </p:nvSpPr>
        <p:spPr>
          <a:xfrm>
            <a:off x="7101959" y="5530691"/>
            <a:ext cx="669071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Accede a contexto sin componentes consumidores anidados.</a:t>
            </a:r>
            <a:endParaRPr b="0" i="0" sz="1850" u="none" cap="none" strike="noStrike"/>
          </a:p>
        </p:txBody>
      </p:sp>
      <p:sp>
        <p:nvSpPr>
          <p:cNvPr id="535" name="Google Shape;535;p64"/>
          <p:cNvSpPr/>
          <p:nvPr/>
        </p:nvSpPr>
        <p:spPr>
          <a:xfrm>
            <a:off x="6324124" y="6422231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4374" y="6480215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4"/>
          <p:cNvSpPr/>
          <p:nvPr/>
        </p:nvSpPr>
        <p:spPr>
          <a:xfrm>
            <a:off x="7101959" y="642223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useReducer</a:t>
            </a:r>
            <a:endParaRPr b="0" i="0" sz="2200" u="none" cap="none" strike="noStrike"/>
          </a:p>
        </p:txBody>
      </p:sp>
      <p:sp>
        <p:nvSpPr>
          <p:cNvPr id="538" name="Google Shape;538;p64"/>
          <p:cNvSpPr/>
          <p:nvPr/>
        </p:nvSpPr>
        <p:spPr>
          <a:xfrm>
            <a:off x="7101959" y="6917769"/>
            <a:ext cx="669071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Gestiona estados complejos con patrón similar a Redux.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5"/>
          <p:cNvSpPr/>
          <p:nvPr/>
        </p:nvSpPr>
        <p:spPr>
          <a:xfrm>
            <a:off x="837724" y="1427798"/>
            <a:ext cx="6206728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Gestión de Estado</a:t>
            </a:r>
            <a:endParaRPr b="0" i="0" sz="4400" u="none" cap="none" strike="noStrike"/>
          </a:p>
        </p:txBody>
      </p:sp>
      <p:pic>
        <p:nvPicPr>
          <p:cNvPr descr="preencoded.png" id="545" name="Google Shape;54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7638" y="2610564"/>
            <a:ext cx="2137529" cy="135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6" name="Google Shape;54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7988" y="3246358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5"/>
          <p:cNvSpPr/>
          <p:nvPr/>
        </p:nvSpPr>
        <p:spPr>
          <a:xfrm>
            <a:off x="5384482" y="284988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Redux</a:t>
            </a:r>
            <a:endParaRPr b="0" i="0" sz="2200" u="none" cap="none" strike="noStrike"/>
          </a:p>
        </p:txBody>
      </p:sp>
      <p:sp>
        <p:nvSpPr>
          <p:cNvPr id="548" name="Google Shape;548;p65"/>
          <p:cNvSpPr/>
          <p:nvPr/>
        </p:nvSpPr>
        <p:spPr>
          <a:xfrm>
            <a:off x="5384482" y="3345418"/>
            <a:ext cx="610266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Gestión de estado global complejo para aplicaciones grandes</a:t>
            </a:r>
            <a:endParaRPr b="0" i="0" sz="1850" u="none" cap="none" strike="noStrike"/>
          </a:p>
        </p:txBody>
      </p:sp>
      <p:sp>
        <p:nvSpPr>
          <p:cNvPr id="549" name="Google Shape;549;p65"/>
          <p:cNvSpPr/>
          <p:nvPr/>
        </p:nvSpPr>
        <p:spPr>
          <a:xfrm>
            <a:off x="5204936" y="3982402"/>
            <a:ext cx="8527971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8814" y="4027527"/>
            <a:ext cx="4275058" cy="1357193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5"/>
          <p:cNvSpPr/>
          <p:nvPr/>
        </p:nvSpPr>
        <p:spPr>
          <a:xfrm>
            <a:off x="3907988" y="4495681"/>
            <a:ext cx="336590" cy="420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49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650"/>
              <a:buFont typeface="Unbounded"/>
              <a:buNone/>
            </a:pPr>
            <a:r>
              <a:rPr b="0" i="0" lang="en-US" sz="26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2650" u="none" cap="none" strike="noStrike"/>
          </a:p>
        </p:txBody>
      </p:sp>
      <p:sp>
        <p:nvSpPr>
          <p:cNvPr id="552" name="Google Shape;552;p65"/>
          <p:cNvSpPr/>
          <p:nvPr/>
        </p:nvSpPr>
        <p:spPr>
          <a:xfrm>
            <a:off x="6453187" y="426684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Context API</a:t>
            </a:r>
            <a:endParaRPr b="0" i="0" sz="2200" u="none" cap="none" strike="noStrike"/>
          </a:p>
        </p:txBody>
      </p:sp>
      <p:sp>
        <p:nvSpPr>
          <p:cNvPr id="553" name="Google Shape;553;p65"/>
          <p:cNvSpPr/>
          <p:nvPr/>
        </p:nvSpPr>
        <p:spPr>
          <a:xfrm>
            <a:off x="6453187" y="4762381"/>
            <a:ext cx="54492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Solución integrada en React para estados compartidos</a:t>
            </a:r>
            <a:endParaRPr b="0" i="0" sz="1850" u="none" cap="none" strike="noStrike"/>
          </a:p>
        </p:txBody>
      </p:sp>
      <p:sp>
        <p:nvSpPr>
          <p:cNvPr id="554" name="Google Shape;554;p65"/>
          <p:cNvSpPr/>
          <p:nvPr/>
        </p:nvSpPr>
        <p:spPr>
          <a:xfrm>
            <a:off x="6273641" y="5399365"/>
            <a:ext cx="7459266" cy="15240"/>
          </a:xfrm>
          <a:prstGeom prst="roundRect">
            <a:avLst>
              <a:gd fmla="val 235611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5" name="Google Shape;555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0109" y="5444490"/>
            <a:ext cx="6412587" cy="135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6" name="Google Shape;556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08107" y="5912644"/>
            <a:ext cx="336590" cy="4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65"/>
          <p:cNvSpPr/>
          <p:nvPr/>
        </p:nvSpPr>
        <p:spPr>
          <a:xfrm>
            <a:off x="7522012" y="568380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Estado local</a:t>
            </a:r>
            <a:endParaRPr b="0" i="0" sz="2200" u="none" cap="none" strike="noStrike"/>
          </a:p>
        </p:txBody>
      </p:sp>
      <p:sp>
        <p:nvSpPr>
          <p:cNvPr id="558" name="Google Shape;558;p65"/>
          <p:cNvSpPr/>
          <p:nvPr/>
        </p:nvSpPr>
        <p:spPr>
          <a:xfrm>
            <a:off x="7522012" y="6179344"/>
            <a:ext cx="546056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useState y useReducer para componentes individuales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6"/>
          <p:cNvSpPr/>
          <p:nvPr/>
        </p:nvSpPr>
        <p:spPr>
          <a:xfrm>
            <a:off x="837724" y="1306473"/>
            <a:ext cx="9257943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Herramientas de Desarrollo</a:t>
            </a:r>
            <a:endParaRPr b="0" i="0" sz="4400" u="none" cap="none" strike="noStrike"/>
          </a:p>
        </p:txBody>
      </p:sp>
      <p:pic>
        <p:nvPicPr>
          <p:cNvPr descr="preencoded.png" id="565" name="Google Shape;56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344" y="2642830"/>
            <a:ext cx="3091339" cy="3091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6" name="Google Shape;56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8135" y="2642830"/>
            <a:ext cx="3091339" cy="3091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7" name="Google Shape;567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0926" y="2642830"/>
            <a:ext cx="3091339" cy="3091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8" name="Google Shape;568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93718" y="2642830"/>
            <a:ext cx="3091339" cy="309133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6"/>
          <p:cNvSpPr/>
          <p:nvPr/>
        </p:nvSpPr>
        <p:spPr>
          <a:xfrm>
            <a:off x="837724" y="6156960"/>
            <a:ext cx="1295495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Las herramientas modernas agilizan la configuración de proyectos React. Permiten centrarse en el desarrollo sin preocuparse por la infraestructura.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5" name="Google Shape;57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99216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7"/>
          <p:cNvSpPr/>
          <p:nvPr/>
        </p:nvSpPr>
        <p:spPr>
          <a:xfrm>
            <a:off x="837724" y="3946446"/>
            <a:ext cx="995172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Bibliotecas Complementarias</a:t>
            </a:r>
            <a:endParaRPr b="0" i="0" sz="4400" u="none" cap="none" strike="noStrike"/>
          </a:p>
        </p:txBody>
      </p:sp>
      <p:sp>
        <p:nvSpPr>
          <p:cNvPr id="577" name="Google Shape;577;p67"/>
          <p:cNvSpPr/>
          <p:nvPr/>
        </p:nvSpPr>
        <p:spPr>
          <a:xfrm>
            <a:off x="837724" y="5278636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8" name="Google Shape;578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974" y="5336619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7"/>
          <p:cNvSpPr/>
          <p:nvPr/>
        </p:nvSpPr>
        <p:spPr>
          <a:xfrm>
            <a:off x="1615559" y="527863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React Router</a:t>
            </a:r>
            <a:endParaRPr b="0" i="0" sz="2200" u="none" cap="none" strike="noStrike"/>
          </a:p>
        </p:txBody>
      </p:sp>
      <p:sp>
        <p:nvSpPr>
          <p:cNvPr id="580" name="Google Shape;580;p67"/>
          <p:cNvSpPr/>
          <p:nvPr/>
        </p:nvSpPr>
        <p:spPr>
          <a:xfrm>
            <a:off x="1615559" y="5774174"/>
            <a:ext cx="3380899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Navegación declarativa para aplicaciones de una sola página.</a:t>
            </a:r>
            <a:endParaRPr b="0" i="0" sz="1850" u="none" cap="none" strike="noStrike"/>
          </a:p>
        </p:txBody>
      </p:sp>
      <p:sp>
        <p:nvSpPr>
          <p:cNvPr id="581" name="Google Shape;581;p67"/>
          <p:cNvSpPr/>
          <p:nvPr/>
        </p:nvSpPr>
        <p:spPr>
          <a:xfrm>
            <a:off x="5235773" y="5278636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2" name="Google Shape;582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6024" y="5336619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67"/>
          <p:cNvSpPr/>
          <p:nvPr/>
        </p:nvSpPr>
        <p:spPr>
          <a:xfrm>
            <a:off x="6013609" y="527863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Axios</a:t>
            </a:r>
            <a:endParaRPr b="0" i="0" sz="2200" u="none" cap="none" strike="noStrike"/>
          </a:p>
        </p:txBody>
      </p:sp>
      <p:sp>
        <p:nvSpPr>
          <p:cNvPr id="584" name="Google Shape;584;p67"/>
          <p:cNvSpPr/>
          <p:nvPr/>
        </p:nvSpPr>
        <p:spPr>
          <a:xfrm>
            <a:off x="6013609" y="5774174"/>
            <a:ext cx="3380899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Cliente HTTP basado en promesas para peticiones al servidor.</a:t>
            </a:r>
            <a:endParaRPr b="0" i="0" sz="1850" u="none" cap="none" strike="noStrike"/>
          </a:p>
        </p:txBody>
      </p:sp>
      <p:sp>
        <p:nvSpPr>
          <p:cNvPr id="585" name="Google Shape;585;p67"/>
          <p:cNvSpPr/>
          <p:nvPr/>
        </p:nvSpPr>
        <p:spPr>
          <a:xfrm>
            <a:off x="9633823" y="5278636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6" name="Google Shape;586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4074" y="5336619"/>
            <a:ext cx="337899" cy="422434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7"/>
          <p:cNvSpPr/>
          <p:nvPr/>
        </p:nvSpPr>
        <p:spPr>
          <a:xfrm>
            <a:off x="10411658" y="5278636"/>
            <a:ext cx="3380899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Material-UI / Chakra UI</a:t>
            </a:r>
            <a:endParaRPr b="0" i="0" sz="2200" u="none" cap="none" strike="noStrike"/>
          </a:p>
        </p:txBody>
      </p:sp>
      <p:sp>
        <p:nvSpPr>
          <p:cNvPr id="588" name="Google Shape;588;p67"/>
          <p:cNvSpPr/>
          <p:nvPr/>
        </p:nvSpPr>
        <p:spPr>
          <a:xfrm>
            <a:off x="10411658" y="6126123"/>
            <a:ext cx="3380899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Componentes prediseñados siguiendo pautas de diseño establecidas.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8"/>
          <p:cNvSpPr/>
          <p:nvPr/>
        </p:nvSpPr>
        <p:spPr>
          <a:xfrm>
            <a:off x="837724" y="726758"/>
            <a:ext cx="6216610" cy="633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50"/>
              <a:buFont typeface="Unbounded"/>
              <a:buNone/>
            </a:pPr>
            <a:r>
              <a:rPr b="0" i="0" lang="en-US" sz="39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Estilización en React</a:t>
            </a:r>
            <a:endParaRPr b="0" i="0" sz="3950" u="none" cap="none" strike="noStrike"/>
          </a:p>
        </p:txBody>
      </p:sp>
      <p:sp>
        <p:nvSpPr>
          <p:cNvPr id="595" name="Google Shape;595;p68"/>
          <p:cNvSpPr/>
          <p:nvPr/>
        </p:nvSpPr>
        <p:spPr>
          <a:xfrm>
            <a:off x="837724" y="1898928"/>
            <a:ext cx="2534603" cy="3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CSS Modules</a:t>
            </a:r>
            <a:endParaRPr b="0" i="0" sz="1950" u="none" cap="none" strike="noStrike"/>
          </a:p>
        </p:txBody>
      </p:sp>
      <p:sp>
        <p:nvSpPr>
          <p:cNvPr id="596" name="Google Shape;596;p68"/>
          <p:cNvSpPr/>
          <p:nvPr/>
        </p:nvSpPr>
        <p:spPr>
          <a:xfrm>
            <a:off x="837724" y="2458045"/>
            <a:ext cx="6214705" cy="4802505"/>
          </a:xfrm>
          <a:prstGeom prst="roundRect">
            <a:avLst>
              <a:gd fmla="val 673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8"/>
          <p:cNvSpPr/>
          <p:nvPr/>
        </p:nvSpPr>
        <p:spPr>
          <a:xfrm>
            <a:off x="827008" y="2458045"/>
            <a:ext cx="6236137" cy="4802505"/>
          </a:xfrm>
          <a:prstGeom prst="roundRect">
            <a:avLst>
              <a:gd fmla="val 673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68"/>
          <p:cNvSpPr/>
          <p:nvPr/>
        </p:nvSpPr>
        <p:spPr>
          <a:xfrm>
            <a:off x="1042392" y="2619613"/>
            <a:ext cx="5805368" cy="4479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/* Button.module.css */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.button {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background: blue;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// En componente: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import styles from 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'./Button.module.css';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Clic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650" u="none" cap="none" strike="noStrike"/>
          </a:p>
        </p:txBody>
      </p:sp>
      <p:sp>
        <p:nvSpPr>
          <p:cNvPr id="599" name="Google Shape;599;p68"/>
          <p:cNvSpPr/>
          <p:nvPr/>
        </p:nvSpPr>
        <p:spPr>
          <a:xfrm>
            <a:off x="7585591" y="1898928"/>
            <a:ext cx="3018353" cy="3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Styled Components</a:t>
            </a:r>
            <a:endParaRPr b="0" i="0" sz="1950" u="none" cap="none" strike="noStrike"/>
          </a:p>
        </p:txBody>
      </p:sp>
      <p:sp>
        <p:nvSpPr>
          <p:cNvPr id="600" name="Google Shape;600;p68"/>
          <p:cNvSpPr/>
          <p:nvPr/>
        </p:nvSpPr>
        <p:spPr>
          <a:xfrm>
            <a:off x="7585591" y="2458045"/>
            <a:ext cx="6214705" cy="4457938"/>
          </a:xfrm>
          <a:prstGeom prst="roundRect">
            <a:avLst>
              <a:gd fmla="val 725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8"/>
          <p:cNvSpPr/>
          <p:nvPr/>
        </p:nvSpPr>
        <p:spPr>
          <a:xfrm>
            <a:off x="7574875" y="2458045"/>
            <a:ext cx="6236137" cy="4457938"/>
          </a:xfrm>
          <a:prstGeom prst="roundRect">
            <a:avLst>
              <a:gd fmla="val 725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8"/>
          <p:cNvSpPr/>
          <p:nvPr/>
        </p:nvSpPr>
        <p:spPr>
          <a:xfrm>
            <a:off x="7790259" y="2619613"/>
            <a:ext cx="5805368" cy="4134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import styled from 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'styled-components';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const Button = styled.button`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background: ${props =&gt; 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props.primary ? 'blue' : 'white'};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color: ${props =&gt; 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props.primary ? 'white' : 'blue'};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`;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Clic</a:t>
            </a:r>
            <a:endParaRPr b="0" i="0" sz="1650" u="none" cap="none" strike="noStrike"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8" name="Google Shape;60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9"/>
          <p:cNvSpPr/>
          <p:nvPr/>
        </p:nvSpPr>
        <p:spPr>
          <a:xfrm>
            <a:off x="837724" y="1195388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Renderizado Condicional</a:t>
            </a:r>
            <a:endParaRPr b="0" i="0" sz="4400" u="none" cap="none" strike="noStrike"/>
          </a:p>
        </p:txBody>
      </p:sp>
      <p:pic>
        <p:nvPicPr>
          <p:cNvPr descr="preencoded.png" id="610" name="Google Shape;610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724" y="3004185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9"/>
          <p:cNvSpPr/>
          <p:nvPr/>
        </p:nvSpPr>
        <p:spPr>
          <a:xfrm>
            <a:off x="1675448" y="2962394"/>
            <a:ext cx="3041571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Operador ternario</a:t>
            </a:r>
            <a:endParaRPr b="0" i="0" sz="2200" u="none" cap="none" strike="noStrike"/>
          </a:p>
        </p:txBody>
      </p:sp>
      <p:sp>
        <p:nvSpPr>
          <p:cNvPr id="612" name="Google Shape;612;p69"/>
          <p:cNvSpPr/>
          <p:nvPr/>
        </p:nvSpPr>
        <p:spPr>
          <a:xfrm>
            <a:off x="1675448" y="3457932"/>
            <a:ext cx="6630829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{`{ condición ? : }`}</a:t>
            </a:r>
            <a:endParaRPr b="0" i="0" sz="1850" u="none" cap="none" strike="noStrike"/>
          </a:p>
        </p:txBody>
      </p:sp>
      <p:sp>
        <p:nvSpPr>
          <p:cNvPr id="613" name="Google Shape;613;p69"/>
          <p:cNvSpPr/>
          <p:nvPr/>
        </p:nvSpPr>
        <p:spPr>
          <a:xfrm>
            <a:off x="867608" y="4588907"/>
            <a:ext cx="538520" cy="622340"/>
          </a:xfrm>
          <a:prstGeom prst="roundRect">
            <a:avLst>
              <a:gd fmla="val 10188" name="adj"/>
            </a:avLst>
          </a:prstGeom>
          <a:solidFill>
            <a:srgbClr val="3C3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4" name="Google Shape;614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724" y="4600813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69"/>
          <p:cNvSpPr/>
          <p:nvPr/>
        </p:nvSpPr>
        <p:spPr>
          <a:xfrm>
            <a:off x="1675448" y="455902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Operador lógico</a:t>
            </a:r>
            <a:endParaRPr b="0" i="0" sz="2200" u="none" cap="none" strike="noStrike"/>
          </a:p>
        </p:txBody>
      </p:sp>
      <p:sp>
        <p:nvSpPr>
          <p:cNvPr id="616" name="Google Shape;616;p69"/>
          <p:cNvSpPr/>
          <p:nvPr/>
        </p:nvSpPr>
        <p:spPr>
          <a:xfrm>
            <a:off x="1675448" y="5054560"/>
            <a:ext cx="6630829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{`{ condición &amp;&amp; }`}</a:t>
            </a:r>
            <a:endParaRPr b="0" i="0" sz="1850" u="none" cap="none" strike="noStrike"/>
          </a:p>
        </p:txBody>
      </p:sp>
      <p:pic>
        <p:nvPicPr>
          <p:cNvPr descr="preencoded.png" id="617" name="Google Shape;617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724" y="6197441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9"/>
          <p:cNvSpPr/>
          <p:nvPr/>
        </p:nvSpPr>
        <p:spPr>
          <a:xfrm>
            <a:off x="1675448" y="6155650"/>
            <a:ext cx="338101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Funciones auxiliares</a:t>
            </a:r>
            <a:endParaRPr b="0" i="0" sz="2200" u="none" cap="none" strike="noStrike"/>
          </a:p>
        </p:txBody>
      </p:sp>
      <p:sp>
        <p:nvSpPr>
          <p:cNvPr id="619" name="Google Shape;619;p69"/>
          <p:cNvSpPr/>
          <p:nvPr/>
        </p:nvSpPr>
        <p:spPr>
          <a:xfrm>
            <a:off x="1675448" y="6651188"/>
            <a:ext cx="6630829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Extraer lógica compleja a funciones separadas.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5" name="Google Shape;62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71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70"/>
          <p:cNvSpPr/>
          <p:nvPr/>
        </p:nvSpPr>
        <p:spPr>
          <a:xfrm>
            <a:off x="797123" y="626388"/>
            <a:ext cx="3619857" cy="435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Unbounded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Eventos en React</a:t>
            </a:r>
            <a:endParaRPr b="0" i="0" sz="2700" u="none" cap="none" strike="noStrike"/>
          </a:p>
        </p:txBody>
      </p:sp>
      <p:sp>
        <p:nvSpPr>
          <p:cNvPr id="627" name="Google Shape;627;p70"/>
          <p:cNvSpPr/>
          <p:nvPr/>
        </p:nvSpPr>
        <p:spPr>
          <a:xfrm>
            <a:off x="797123" y="1283851"/>
            <a:ext cx="110966" cy="1879521"/>
          </a:xfrm>
          <a:prstGeom prst="roundRect">
            <a:avLst>
              <a:gd fmla="val 20014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70"/>
          <p:cNvSpPr/>
          <p:nvPr/>
        </p:nvSpPr>
        <p:spPr>
          <a:xfrm>
            <a:off x="1130141" y="1283851"/>
            <a:ext cx="2433518" cy="217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Declaración de eventos</a:t>
            </a:r>
            <a:endParaRPr b="0" i="0" sz="1350" u="none" cap="none" strike="noStrike"/>
          </a:p>
        </p:txBody>
      </p:sp>
      <p:sp>
        <p:nvSpPr>
          <p:cNvPr id="629" name="Google Shape;629;p70"/>
          <p:cNvSpPr/>
          <p:nvPr/>
        </p:nvSpPr>
        <p:spPr>
          <a:xfrm>
            <a:off x="1130141" y="1590318"/>
            <a:ext cx="7216735" cy="236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 usan camelCase: onClick en lugar de onclick.</a:t>
            </a:r>
            <a:endParaRPr b="0" i="0" sz="1150" u="none" cap="none" strike="noStrike"/>
          </a:p>
        </p:txBody>
      </p:sp>
      <p:sp>
        <p:nvSpPr>
          <p:cNvPr id="630" name="Google Shape;630;p70"/>
          <p:cNvSpPr/>
          <p:nvPr/>
        </p:nvSpPr>
        <p:spPr>
          <a:xfrm>
            <a:off x="1130141" y="1993702"/>
            <a:ext cx="7216735" cy="1169670"/>
          </a:xfrm>
          <a:prstGeom prst="roundRect">
            <a:avLst>
              <a:gd fmla="val 189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70"/>
          <p:cNvSpPr/>
          <p:nvPr/>
        </p:nvSpPr>
        <p:spPr>
          <a:xfrm>
            <a:off x="1122759" y="1993702"/>
            <a:ext cx="7231499" cy="1169670"/>
          </a:xfrm>
          <a:prstGeom prst="roundRect">
            <a:avLst>
              <a:gd fmla="val 189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70"/>
          <p:cNvSpPr/>
          <p:nvPr/>
        </p:nvSpPr>
        <p:spPr>
          <a:xfrm>
            <a:off x="1270754" y="2104668"/>
            <a:ext cx="6935510" cy="94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Clic aquí</a:t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150" u="none" cap="none" strike="noStrike"/>
          </a:p>
        </p:txBody>
      </p:sp>
      <p:sp>
        <p:nvSpPr>
          <p:cNvPr id="633" name="Google Shape;633;p70"/>
          <p:cNvSpPr/>
          <p:nvPr/>
        </p:nvSpPr>
        <p:spPr>
          <a:xfrm>
            <a:off x="1019175" y="3311366"/>
            <a:ext cx="110966" cy="2116455"/>
          </a:xfrm>
          <a:prstGeom prst="roundRect">
            <a:avLst>
              <a:gd fmla="val 20014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70"/>
          <p:cNvSpPr/>
          <p:nvPr/>
        </p:nvSpPr>
        <p:spPr>
          <a:xfrm>
            <a:off x="1352193" y="3311366"/>
            <a:ext cx="2755463" cy="217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Definición de manejadores</a:t>
            </a:r>
            <a:endParaRPr b="0" i="0" sz="1350" u="none" cap="none" strike="noStrike"/>
          </a:p>
        </p:txBody>
      </p:sp>
      <p:sp>
        <p:nvSpPr>
          <p:cNvPr id="635" name="Google Shape;635;p70"/>
          <p:cNvSpPr/>
          <p:nvPr/>
        </p:nvSpPr>
        <p:spPr>
          <a:xfrm>
            <a:off x="1352193" y="3617833"/>
            <a:ext cx="6994684" cy="236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Funciones que responden a interacciones del usuario.</a:t>
            </a:r>
            <a:endParaRPr b="0" i="0" sz="1150" u="none" cap="none" strike="noStrike"/>
          </a:p>
        </p:txBody>
      </p:sp>
      <p:sp>
        <p:nvSpPr>
          <p:cNvPr id="636" name="Google Shape;636;p70"/>
          <p:cNvSpPr/>
          <p:nvPr/>
        </p:nvSpPr>
        <p:spPr>
          <a:xfrm>
            <a:off x="1352193" y="4021217"/>
            <a:ext cx="6994684" cy="1406604"/>
          </a:xfrm>
          <a:prstGeom prst="roundRect">
            <a:avLst>
              <a:gd fmla="val 157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70"/>
          <p:cNvSpPr/>
          <p:nvPr/>
        </p:nvSpPr>
        <p:spPr>
          <a:xfrm>
            <a:off x="1344811" y="4021217"/>
            <a:ext cx="7009448" cy="1406604"/>
          </a:xfrm>
          <a:prstGeom prst="roundRect">
            <a:avLst>
              <a:gd fmla="val 157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70"/>
          <p:cNvSpPr/>
          <p:nvPr/>
        </p:nvSpPr>
        <p:spPr>
          <a:xfrm>
            <a:off x="1492806" y="4132183"/>
            <a:ext cx="6713458" cy="118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function handleClick(event) {</a:t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console.log('Botón clickeado');</a:t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event.preventDefault();</a:t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150" u="none" cap="none" strike="noStrike"/>
          </a:p>
        </p:txBody>
      </p:sp>
      <p:sp>
        <p:nvSpPr>
          <p:cNvPr id="639" name="Google Shape;639;p70"/>
          <p:cNvSpPr/>
          <p:nvPr/>
        </p:nvSpPr>
        <p:spPr>
          <a:xfrm>
            <a:off x="1241227" y="5575816"/>
            <a:ext cx="110966" cy="1879521"/>
          </a:xfrm>
          <a:prstGeom prst="roundRect">
            <a:avLst>
              <a:gd fmla="val 20014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0"/>
          <p:cNvSpPr/>
          <p:nvPr/>
        </p:nvSpPr>
        <p:spPr>
          <a:xfrm>
            <a:off x="1574244" y="5575816"/>
            <a:ext cx="2128599" cy="217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Paso de parámetros</a:t>
            </a:r>
            <a:endParaRPr b="0" i="0" sz="1350" u="none" cap="none" strike="noStrike"/>
          </a:p>
        </p:txBody>
      </p:sp>
      <p:sp>
        <p:nvSpPr>
          <p:cNvPr id="641" name="Google Shape;641;p70"/>
          <p:cNvSpPr/>
          <p:nvPr/>
        </p:nvSpPr>
        <p:spPr>
          <a:xfrm>
            <a:off x="1574244" y="5882283"/>
            <a:ext cx="6772632" cy="236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Uso de funciones flecha o bind para pasar valores adicionales.</a:t>
            </a:r>
            <a:endParaRPr b="0" i="0" sz="1150" u="none" cap="none" strike="noStrike"/>
          </a:p>
        </p:txBody>
      </p:sp>
      <p:sp>
        <p:nvSpPr>
          <p:cNvPr id="642" name="Google Shape;642;p70"/>
          <p:cNvSpPr/>
          <p:nvPr/>
        </p:nvSpPr>
        <p:spPr>
          <a:xfrm>
            <a:off x="1574244" y="6285667"/>
            <a:ext cx="6772632" cy="1169670"/>
          </a:xfrm>
          <a:prstGeom prst="roundRect">
            <a:avLst>
              <a:gd fmla="val 189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70"/>
          <p:cNvSpPr/>
          <p:nvPr/>
        </p:nvSpPr>
        <p:spPr>
          <a:xfrm>
            <a:off x="1566862" y="6285667"/>
            <a:ext cx="6787396" cy="1169670"/>
          </a:xfrm>
          <a:prstGeom prst="roundRect">
            <a:avLst>
              <a:gd fmla="val 189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70"/>
          <p:cNvSpPr/>
          <p:nvPr/>
        </p:nvSpPr>
        <p:spPr>
          <a:xfrm>
            <a:off x="1714857" y="6396633"/>
            <a:ext cx="6491407" cy="94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handleClick(id, e)}&gt;</a:t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Eliminar</a:t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0" name="Google Shape;65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221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71"/>
          <p:cNvSpPr/>
          <p:nvPr/>
        </p:nvSpPr>
        <p:spPr>
          <a:xfrm>
            <a:off x="6314242" y="650438"/>
            <a:ext cx="6717983" cy="660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50"/>
              <a:buFont typeface="Unbounded"/>
              <a:buNone/>
            </a:pPr>
            <a:r>
              <a:rPr b="0" i="0" lang="en-US" sz="41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Formularios en React</a:t>
            </a:r>
            <a:endParaRPr b="0" i="0" sz="4150" u="none" cap="none" strike="noStrike"/>
          </a:p>
        </p:txBody>
      </p:sp>
      <p:sp>
        <p:nvSpPr>
          <p:cNvPr id="652" name="Google Shape;652;p71"/>
          <p:cNvSpPr/>
          <p:nvPr/>
        </p:nvSpPr>
        <p:spPr>
          <a:xfrm>
            <a:off x="6314242" y="1648301"/>
            <a:ext cx="3631883" cy="3558778"/>
          </a:xfrm>
          <a:prstGeom prst="roundRect">
            <a:avLst>
              <a:gd fmla="val 94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71"/>
          <p:cNvSpPr/>
          <p:nvPr/>
        </p:nvSpPr>
        <p:spPr>
          <a:xfrm>
            <a:off x="6538912" y="1872972"/>
            <a:ext cx="3182541" cy="660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50"/>
              <a:buFont typeface="Unbounded"/>
              <a:buNone/>
            </a:pPr>
            <a:r>
              <a:rPr b="0" i="0" lang="en-US" sz="20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Componentes controlados</a:t>
            </a:r>
            <a:endParaRPr b="0" i="0" sz="2050" u="none" cap="none" strike="noStrike"/>
          </a:p>
        </p:txBody>
      </p:sp>
      <p:sp>
        <p:nvSpPr>
          <p:cNvPr id="654" name="Google Shape;654;p71"/>
          <p:cNvSpPr/>
          <p:nvPr/>
        </p:nvSpPr>
        <p:spPr>
          <a:xfrm>
            <a:off x="6538912" y="2668548"/>
            <a:ext cx="3182541" cy="718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Estado de React como fuente de verdad</a:t>
            </a:r>
            <a:endParaRPr b="0" i="0" sz="1750" u="none" cap="none" strike="noStrike"/>
          </a:p>
        </p:txBody>
      </p:sp>
      <p:sp>
        <p:nvSpPr>
          <p:cNvPr id="655" name="Google Shape;655;p71"/>
          <p:cNvSpPr/>
          <p:nvPr/>
        </p:nvSpPr>
        <p:spPr>
          <a:xfrm>
            <a:off x="6538912" y="3466028"/>
            <a:ext cx="3182541" cy="718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Valores vinculados mediante value y onChange</a:t>
            </a:r>
            <a:endParaRPr b="0" i="0" sz="1750" u="none" cap="none" strike="noStrike"/>
          </a:p>
        </p:txBody>
      </p:sp>
      <p:sp>
        <p:nvSpPr>
          <p:cNvPr id="656" name="Google Shape;656;p71"/>
          <p:cNvSpPr/>
          <p:nvPr/>
        </p:nvSpPr>
        <p:spPr>
          <a:xfrm>
            <a:off x="6538912" y="4263509"/>
            <a:ext cx="3182541" cy="718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Control total sobre validación y formato</a:t>
            </a:r>
            <a:endParaRPr b="0" i="0" sz="1750" u="none" cap="none" strike="noStrike"/>
          </a:p>
        </p:txBody>
      </p:sp>
      <p:sp>
        <p:nvSpPr>
          <p:cNvPr id="657" name="Google Shape;657;p71"/>
          <p:cNvSpPr/>
          <p:nvPr/>
        </p:nvSpPr>
        <p:spPr>
          <a:xfrm>
            <a:off x="10170795" y="1648301"/>
            <a:ext cx="3631883" cy="3558778"/>
          </a:xfrm>
          <a:prstGeom prst="roundRect">
            <a:avLst>
              <a:gd fmla="val 94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1"/>
          <p:cNvSpPr/>
          <p:nvPr/>
        </p:nvSpPr>
        <p:spPr>
          <a:xfrm>
            <a:off x="10395466" y="1872972"/>
            <a:ext cx="2643545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50"/>
              <a:buFont typeface="Unbounded"/>
              <a:buNone/>
            </a:pPr>
            <a:r>
              <a:rPr b="0" i="0" lang="en-US" sz="20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Validación</a:t>
            </a:r>
            <a:endParaRPr b="0" i="0" sz="2050" u="none" cap="none" strike="noStrike"/>
          </a:p>
        </p:txBody>
      </p:sp>
      <p:sp>
        <p:nvSpPr>
          <p:cNvPr id="659" name="Google Shape;659;p71"/>
          <p:cNvSpPr/>
          <p:nvPr/>
        </p:nvSpPr>
        <p:spPr>
          <a:xfrm>
            <a:off x="10395466" y="2338149"/>
            <a:ext cx="3182541" cy="718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Validación en tiempo real al escribir</a:t>
            </a:r>
            <a:endParaRPr b="0" i="0" sz="1750" u="none" cap="none" strike="noStrike"/>
          </a:p>
        </p:txBody>
      </p:sp>
      <p:sp>
        <p:nvSpPr>
          <p:cNvPr id="660" name="Google Shape;660;p71"/>
          <p:cNvSpPr/>
          <p:nvPr/>
        </p:nvSpPr>
        <p:spPr>
          <a:xfrm>
            <a:off x="10395466" y="3135630"/>
            <a:ext cx="3182541" cy="718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Mensajes de error personalizados</a:t>
            </a:r>
            <a:endParaRPr b="0" i="0" sz="1750" u="none" cap="none" strike="noStrike"/>
          </a:p>
        </p:txBody>
      </p:sp>
      <p:sp>
        <p:nvSpPr>
          <p:cNvPr id="661" name="Google Shape;661;p71"/>
          <p:cNvSpPr/>
          <p:nvPr/>
        </p:nvSpPr>
        <p:spPr>
          <a:xfrm>
            <a:off x="10395466" y="3933111"/>
            <a:ext cx="3182541" cy="718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Desactivación de envío si hay errores</a:t>
            </a:r>
            <a:endParaRPr b="0" i="0" sz="1750" u="none" cap="none" strike="noStrike"/>
          </a:p>
        </p:txBody>
      </p:sp>
      <p:sp>
        <p:nvSpPr>
          <p:cNvPr id="662" name="Google Shape;662;p71"/>
          <p:cNvSpPr/>
          <p:nvPr/>
        </p:nvSpPr>
        <p:spPr>
          <a:xfrm>
            <a:off x="6314242" y="5431750"/>
            <a:ext cx="7488317" cy="2150031"/>
          </a:xfrm>
          <a:prstGeom prst="roundRect">
            <a:avLst>
              <a:gd fmla="val 15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1"/>
          <p:cNvSpPr/>
          <p:nvPr/>
        </p:nvSpPr>
        <p:spPr>
          <a:xfrm>
            <a:off x="6538912" y="5656421"/>
            <a:ext cx="3411855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50"/>
              <a:buFont typeface="Unbounded"/>
              <a:buNone/>
            </a:pPr>
            <a:r>
              <a:rPr b="0" i="0" lang="en-US" sz="20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Bibliotecas populares</a:t>
            </a:r>
            <a:endParaRPr b="0" i="0" sz="2050" u="none" cap="none" strike="noStrike"/>
          </a:p>
        </p:txBody>
      </p:sp>
      <p:sp>
        <p:nvSpPr>
          <p:cNvPr id="664" name="Google Shape;664;p71"/>
          <p:cNvSpPr/>
          <p:nvPr/>
        </p:nvSpPr>
        <p:spPr>
          <a:xfrm>
            <a:off x="6538912" y="6121598"/>
            <a:ext cx="7038975" cy="3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Formik: gestión completa de formularios</a:t>
            </a:r>
            <a:endParaRPr b="0" i="0" sz="1750" u="none" cap="none" strike="noStrike"/>
          </a:p>
        </p:txBody>
      </p:sp>
      <p:sp>
        <p:nvSpPr>
          <p:cNvPr id="665" name="Google Shape;665;p71"/>
          <p:cNvSpPr/>
          <p:nvPr/>
        </p:nvSpPr>
        <p:spPr>
          <a:xfrm>
            <a:off x="6538912" y="6559629"/>
            <a:ext cx="7038975" cy="3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React Hook Form: enfoque basado en hooks</a:t>
            </a:r>
            <a:endParaRPr b="0" i="0" sz="1750" u="none" cap="none" strike="noStrike"/>
          </a:p>
        </p:txBody>
      </p:sp>
      <p:sp>
        <p:nvSpPr>
          <p:cNvPr id="666" name="Google Shape;666;p71"/>
          <p:cNvSpPr/>
          <p:nvPr/>
        </p:nvSpPr>
        <p:spPr>
          <a:xfrm>
            <a:off x="6538912" y="6997660"/>
            <a:ext cx="7038975" cy="3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Yup: esquemas de validación declarativos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2"/>
          <p:cNvSpPr/>
          <p:nvPr/>
        </p:nvSpPr>
        <p:spPr>
          <a:xfrm>
            <a:off x="837724" y="1115378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Peticiones HTTP</a:t>
            </a:r>
            <a:endParaRPr b="0" i="0" sz="4400" u="none" cap="none" strike="noStrike"/>
          </a:p>
        </p:txBody>
      </p:sp>
      <p:sp>
        <p:nvSpPr>
          <p:cNvPr id="673" name="Google Shape;673;p72"/>
          <p:cNvSpPr/>
          <p:nvPr/>
        </p:nvSpPr>
        <p:spPr>
          <a:xfrm>
            <a:off x="837724" y="2417683"/>
            <a:ext cx="2911793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Fetch API (nativa)</a:t>
            </a:r>
            <a:endParaRPr b="0" i="0" sz="2200" u="none" cap="none" strike="noStrike"/>
          </a:p>
        </p:txBody>
      </p:sp>
      <p:sp>
        <p:nvSpPr>
          <p:cNvPr id="674" name="Google Shape;674;p72"/>
          <p:cNvSpPr/>
          <p:nvPr/>
        </p:nvSpPr>
        <p:spPr>
          <a:xfrm>
            <a:off x="837724" y="3038832"/>
            <a:ext cx="6185535" cy="3806071"/>
          </a:xfrm>
          <a:prstGeom prst="roundRect">
            <a:avLst>
              <a:gd fmla="val 943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2"/>
          <p:cNvSpPr/>
          <p:nvPr/>
        </p:nvSpPr>
        <p:spPr>
          <a:xfrm>
            <a:off x="825818" y="3038832"/>
            <a:ext cx="6209348" cy="3806071"/>
          </a:xfrm>
          <a:prstGeom prst="roundRect">
            <a:avLst>
              <a:gd fmla="val 943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2"/>
          <p:cNvSpPr/>
          <p:nvPr/>
        </p:nvSpPr>
        <p:spPr>
          <a:xfrm>
            <a:off x="1065133" y="3218259"/>
            <a:ext cx="5730716" cy="3447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fetch('/api/datos')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.then(response =&gt; response.json())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.then(datos =&gt; {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setDatos(datos);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})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.catch(error =&gt; {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setError(error);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850" u="none" cap="none" strike="noStrike"/>
          </a:p>
        </p:txBody>
      </p:sp>
      <p:sp>
        <p:nvSpPr>
          <p:cNvPr id="677" name="Google Shape;677;p72"/>
          <p:cNvSpPr/>
          <p:nvPr/>
        </p:nvSpPr>
        <p:spPr>
          <a:xfrm>
            <a:off x="7614761" y="2417683"/>
            <a:ext cx="283190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Axios (biblioteca)</a:t>
            </a:r>
            <a:endParaRPr b="0" i="0" sz="2200" u="none" cap="none" strike="noStrike"/>
          </a:p>
        </p:txBody>
      </p:sp>
      <p:sp>
        <p:nvSpPr>
          <p:cNvPr id="678" name="Google Shape;678;p72"/>
          <p:cNvSpPr/>
          <p:nvPr/>
        </p:nvSpPr>
        <p:spPr>
          <a:xfrm>
            <a:off x="7614761" y="3038832"/>
            <a:ext cx="6185535" cy="3423047"/>
          </a:xfrm>
          <a:prstGeom prst="roundRect">
            <a:avLst>
              <a:gd fmla="val 104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72"/>
          <p:cNvSpPr/>
          <p:nvPr/>
        </p:nvSpPr>
        <p:spPr>
          <a:xfrm>
            <a:off x="7602855" y="3038832"/>
            <a:ext cx="6209348" cy="3423047"/>
          </a:xfrm>
          <a:prstGeom prst="roundRect">
            <a:avLst>
              <a:gd fmla="val 1049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72"/>
          <p:cNvSpPr/>
          <p:nvPr/>
        </p:nvSpPr>
        <p:spPr>
          <a:xfrm>
            <a:off x="7842171" y="3218259"/>
            <a:ext cx="5730716" cy="3064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axios.get('/api/datos')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.then(response =&gt; {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setDatos(response.data);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})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.catch(error =&gt; {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setError(error);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highlight>
                  <a:srgbClr val="05484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3"/>
          <p:cNvSpPr/>
          <p:nvPr/>
        </p:nvSpPr>
        <p:spPr>
          <a:xfrm>
            <a:off x="837724" y="1256348"/>
            <a:ext cx="692527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Seguridad Front-End</a:t>
            </a:r>
            <a:endParaRPr b="0" i="0" sz="4400" u="none" cap="none" strike="noStrike"/>
          </a:p>
        </p:txBody>
      </p:sp>
      <p:sp>
        <p:nvSpPr>
          <p:cNvPr id="687" name="Google Shape;687;p73"/>
          <p:cNvSpPr/>
          <p:nvPr/>
        </p:nvSpPr>
        <p:spPr>
          <a:xfrm>
            <a:off x="1872972" y="285202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CORS</a:t>
            </a:r>
            <a:endParaRPr b="0" i="0" sz="2200" u="none" cap="none" strike="noStrike"/>
          </a:p>
        </p:txBody>
      </p:sp>
      <p:sp>
        <p:nvSpPr>
          <p:cNvPr id="688" name="Google Shape;688;p73"/>
          <p:cNvSpPr/>
          <p:nvPr/>
        </p:nvSpPr>
        <p:spPr>
          <a:xfrm>
            <a:off x="837724" y="3347561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Cross-Origin Resource Sharing controla acceso entre dominios.</a:t>
            </a:r>
            <a:endParaRPr b="0" i="0" sz="1850" u="none" cap="none" strike="noStrike"/>
          </a:p>
        </p:txBody>
      </p:sp>
      <p:pic>
        <p:nvPicPr>
          <p:cNvPr descr="preencoded.png" id="689" name="Google Shape;68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0" name="Google Shape;690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3966" y="3360182"/>
            <a:ext cx="35814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73"/>
          <p:cNvSpPr/>
          <p:nvPr/>
        </p:nvSpPr>
        <p:spPr>
          <a:xfrm>
            <a:off x="9941243" y="285202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Tokens JWT</a:t>
            </a:r>
            <a:endParaRPr b="0" i="0" sz="2200" u="none" cap="none" strike="noStrike"/>
          </a:p>
        </p:txBody>
      </p:sp>
      <p:sp>
        <p:nvSpPr>
          <p:cNvPr id="692" name="Google Shape;692;p73"/>
          <p:cNvSpPr/>
          <p:nvPr/>
        </p:nvSpPr>
        <p:spPr>
          <a:xfrm>
            <a:off x="9941243" y="3347561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JSON Web Tokens para autenticación segura entre cliente y servidor.</a:t>
            </a:r>
            <a:endParaRPr b="0" i="0" sz="1850" u="none" cap="none" strike="noStrike"/>
          </a:p>
        </p:txBody>
      </p:sp>
      <p:pic>
        <p:nvPicPr>
          <p:cNvPr descr="preencoded.png" id="693" name="Google Shape;693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4" name="Google Shape;694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8175" y="3360182"/>
            <a:ext cx="35814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73"/>
          <p:cNvSpPr/>
          <p:nvPr/>
        </p:nvSpPr>
        <p:spPr>
          <a:xfrm>
            <a:off x="9941243" y="529863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Sanitización</a:t>
            </a:r>
            <a:endParaRPr b="0" i="0" sz="2200" u="none" cap="none" strike="noStrike"/>
          </a:p>
        </p:txBody>
      </p:sp>
      <p:sp>
        <p:nvSpPr>
          <p:cNvPr id="696" name="Google Shape;696;p73"/>
          <p:cNvSpPr/>
          <p:nvPr/>
        </p:nvSpPr>
        <p:spPr>
          <a:xfrm>
            <a:off x="9941243" y="5794177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Limpieza de inputs para prevenir XSS y otras vulnerabilidades.</a:t>
            </a:r>
            <a:endParaRPr b="0" i="0" sz="1850" u="none" cap="none" strike="noStrike"/>
          </a:p>
        </p:txBody>
      </p:sp>
      <p:pic>
        <p:nvPicPr>
          <p:cNvPr descr="preencoded.png" id="697" name="Google Shape;697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8" name="Google Shape;698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58175" y="5604391"/>
            <a:ext cx="35814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3"/>
          <p:cNvSpPr/>
          <p:nvPr/>
        </p:nvSpPr>
        <p:spPr>
          <a:xfrm>
            <a:off x="1872972" y="529863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HTTPS</a:t>
            </a:r>
            <a:endParaRPr b="0" i="0" sz="2200" u="none" cap="none" strike="noStrike"/>
          </a:p>
        </p:txBody>
      </p:sp>
      <p:sp>
        <p:nvSpPr>
          <p:cNvPr id="700" name="Google Shape;700;p73"/>
          <p:cNvSpPr/>
          <p:nvPr/>
        </p:nvSpPr>
        <p:spPr>
          <a:xfrm>
            <a:off x="837724" y="5794177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Comunicación cifrada para proteger datos sensibles.</a:t>
            </a:r>
            <a:endParaRPr b="0" i="0" sz="1850" u="none" cap="none" strike="noStrike"/>
          </a:p>
        </p:txBody>
      </p:sp>
      <p:pic>
        <p:nvPicPr>
          <p:cNvPr descr="preencoded.png" id="701" name="Google Shape;701;p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2" name="Google Shape;702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13966" y="5604391"/>
            <a:ext cx="35814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4"/>
          <p:cNvSpPr/>
          <p:nvPr/>
        </p:nvSpPr>
        <p:spPr>
          <a:xfrm>
            <a:off x="837724" y="1482447"/>
            <a:ext cx="978955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Optimización de Rendimiento</a:t>
            </a:r>
            <a:endParaRPr b="0" i="0" sz="4400" u="none" cap="none" strike="noStrike"/>
          </a:p>
        </p:txBody>
      </p:sp>
      <p:pic>
        <p:nvPicPr>
          <p:cNvPr descr="preencoded.png" id="709" name="Google Shape;70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2665214"/>
            <a:ext cx="4078962" cy="25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74"/>
          <p:cNvSpPr/>
          <p:nvPr/>
        </p:nvSpPr>
        <p:spPr>
          <a:xfrm>
            <a:off x="837724" y="548532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Code Splitting</a:t>
            </a:r>
            <a:endParaRPr b="0" i="0" sz="2200" u="none" cap="none" strike="noStrike"/>
          </a:p>
        </p:txBody>
      </p:sp>
      <p:sp>
        <p:nvSpPr>
          <p:cNvPr id="711" name="Google Shape;711;p74"/>
          <p:cNvSpPr/>
          <p:nvPr/>
        </p:nvSpPr>
        <p:spPr>
          <a:xfrm>
            <a:off x="837724" y="5980867"/>
            <a:ext cx="407896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División del código en chunks más pequeños cargados según necesidad.</a:t>
            </a:r>
            <a:endParaRPr b="0" i="0" sz="1850" u="none" cap="none" strike="noStrike"/>
          </a:p>
        </p:txBody>
      </p:sp>
      <p:pic>
        <p:nvPicPr>
          <p:cNvPr descr="preencoded.png" id="712" name="Google Shape;712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5659" y="2665214"/>
            <a:ext cx="4078962" cy="25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74"/>
          <p:cNvSpPr/>
          <p:nvPr/>
        </p:nvSpPr>
        <p:spPr>
          <a:xfrm>
            <a:off x="5275659" y="548532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Lazy Loading</a:t>
            </a:r>
            <a:endParaRPr b="0" i="0" sz="2200" u="none" cap="none" strike="noStrike"/>
          </a:p>
        </p:txBody>
      </p:sp>
      <p:sp>
        <p:nvSpPr>
          <p:cNvPr id="714" name="Google Shape;714;p74"/>
          <p:cNvSpPr/>
          <p:nvPr/>
        </p:nvSpPr>
        <p:spPr>
          <a:xfrm>
            <a:off x="5275659" y="5980867"/>
            <a:ext cx="407896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Carga diferida de componentes solo cuando son necesarios.</a:t>
            </a:r>
            <a:endParaRPr b="0" i="0" sz="1850" u="none" cap="none" strike="noStrike"/>
          </a:p>
        </p:txBody>
      </p:sp>
      <p:pic>
        <p:nvPicPr>
          <p:cNvPr descr="preencoded.png" id="715" name="Google Shape;715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3595" y="2665214"/>
            <a:ext cx="4079081" cy="252102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74"/>
          <p:cNvSpPr/>
          <p:nvPr/>
        </p:nvSpPr>
        <p:spPr>
          <a:xfrm>
            <a:off x="9713595" y="548544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Memoización</a:t>
            </a:r>
            <a:endParaRPr b="0" i="0" sz="2200" u="none" cap="none" strike="noStrike"/>
          </a:p>
        </p:txBody>
      </p:sp>
      <p:sp>
        <p:nvSpPr>
          <p:cNvPr id="717" name="Google Shape;717;p74"/>
          <p:cNvSpPr/>
          <p:nvPr/>
        </p:nvSpPr>
        <p:spPr>
          <a:xfrm>
            <a:off x="9713595" y="5980986"/>
            <a:ext cx="4079081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React.memo, useMemo y useCallback para evitar renderizados innecesarios.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3" name="Google Shape;72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970252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75"/>
          <p:cNvSpPr/>
          <p:nvPr/>
        </p:nvSpPr>
        <p:spPr>
          <a:xfrm>
            <a:off x="831652" y="3624024"/>
            <a:ext cx="5591056" cy="698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Testing en React</a:t>
            </a:r>
            <a:endParaRPr b="0" i="0" sz="4400" u="none" cap="none" strike="noStrike"/>
          </a:p>
        </p:txBody>
      </p:sp>
      <p:sp>
        <p:nvSpPr>
          <p:cNvPr id="725" name="Google Shape;725;p75"/>
          <p:cNvSpPr/>
          <p:nvPr/>
        </p:nvSpPr>
        <p:spPr>
          <a:xfrm>
            <a:off x="831652" y="4946571"/>
            <a:ext cx="534591" cy="534591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6" name="Google Shape;726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1247" y="5004256"/>
            <a:ext cx="335399" cy="419219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75"/>
          <p:cNvSpPr/>
          <p:nvPr/>
        </p:nvSpPr>
        <p:spPr>
          <a:xfrm>
            <a:off x="1603772" y="4946571"/>
            <a:ext cx="2795468" cy="34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Jest</a:t>
            </a:r>
            <a:endParaRPr b="0" i="0" sz="2200" u="none" cap="none" strike="noStrike"/>
          </a:p>
        </p:txBody>
      </p:sp>
      <p:sp>
        <p:nvSpPr>
          <p:cNvPr id="728" name="Google Shape;728;p75"/>
          <p:cNvSpPr/>
          <p:nvPr/>
        </p:nvSpPr>
        <p:spPr>
          <a:xfrm>
            <a:off x="1603772" y="5438537"/>
            <a:ext cx="5592723" cy="380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Framework de testing con enfoque en simplicidad.</a:t>
            </a:r>
            <a:endParaRPr b="0" i="0" sz="1850" u="none" cap="none" strike="noStrike"/>
          </a:p>
        </p:txBody>
      </p:sp>
      <p:sp>
        <p:nvSpPr>
          <p:cNvPr id="729" name="Google Shape;729;p75"/>
          <p:cNvSpPr/>
          <p:nvPr/>
        </p:nvSpPr>
        <p:spPr>
          <a:xfrm>
            <a:off x="7434024" y="4946571"/>
            <a:ext cx="534591" cy="534591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0" name="Google Shape;730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33620" y="5004256"/>
            <a:ext cx="335399" cy="41921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5"/>
          <p:cNvSpPr/>
          <p:nvPr/>
        </p:nvSpPr>
        <p:spPr>
          <a:xfrm>
            <a:off x="8206145" y="4946571"/>
            <a:ext cx="3542824" cy="34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React Testing Library</a:t>
            </a:r>
            <a:endParaRPr b="0" i="0" sz="2200" u="none" cap="none" strike="noStrike"/>
          </a:p>
        </p:txBody>
      </p:sp>
      <p:sp>
        <p:nvSpPr>
          <p:cNvPr id="732" name="Google Shape;732;p75"/>
          <p:cNvSpPr/>
          <p:nvPr/>
        </p:nvSpPr>
        <p:spPr>
          <a:xfrm>
            <a:off x="8206145" y="5438537"/>
            <a:ext cx="5592723" cy="760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Enfocada en probar componentes como los usaría un usuario real.</a:t>
            </a:r>
            <a:endParaRPr b="0" i="0" sz="1850" u="none" cap="none" strike="noStrike"/>
          </a:p>
        </p:txBody>
      </p:sp>
      <p:sp>
        <p:nvSpPr>
          <p:cNvPr id="733" name="Google Shape;733;p75"/>
          <p:cNvSpPr/>
          <p:nvPr/>
        </p:nvSpPr>
        <p:spPr>
          <a:xfrm>
            <a:off x="831652" y="6703695"/>
            <a:ext cx="534591" cy="534591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4" name="Google Shape;734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247" y="6761381"/>
            <a:ext cx="335399" cy="419219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5"/>
          <p:cNvSpPr/>
          <p:nvPr/>
        </p:nvSpPr>
        <p:spPr>
          <a:xfrm>
            <a:off x="1603772" y="6703695"/>
            <a:ext cx="2795468" cy="34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Cypress</a:t>
            </a:r>
            <a:endParaRPr b="0" i="0" sz="2200" u="none" cap="none" strike="noStrike"/>
          </a:p>
        </p:txBody>
      </p:sp>
      <p:sp>
        <p:nvSpPr>
          <p:cNvPr id="736" name="Google Shape;736;p75"/>
          <p:cNvSpPr/>
          <p:nvPr/>
        </p:nvSpPr>
        <p:spPr>
          <a:xfrm>
            <a:off x="1603772" y="7195661"/>
            <a:ext cx="5592723" cy="380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Testing end-to-end para flujos completos de usuario.</a:t>
            </a:r>
            <a:endParaRPr b="0" i="0" sz="1850" u="none" cap="none" strike="noStrike"/>
          </a:p>
        </p:txBody>
      </p:sp>
      <p:sp>
        <p:nvSpPr>
          <p:cNvPr id="737" name="Google Shape;737;p75"/>
          <p:cNvSpPr/>
          <p:nvPr/>
        </p:nvSpPr>
        <p:spPr>
          <a:xfrm>
            <a:off x="7434024" y="6703695"/>
            <a:ext cx="534591" cy="534591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8" name="Google Shape;738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33620" y="6761381"/>
            <a:ext cx="335399" cy="41921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75"/>
          <p:cNvSpPr/>
          <p:nvPr/>
        </p:nvSpPr>
        <p:spPr>
          <a:xfrm>
            <a:off x="8206145" y="6703695"/>
            <a:ext cx="2795468" cy="34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Estrategias</a:t>
            </a:r>
            <a:endParaRPr b="0" i="0" sz="2200" u="none" cap="none" strike="noStrike"/>
          </a:p>
        </p:txBody>
      </p:sp>
      <p:sp>
        <p:nvSpPr>
          <p:cNvPr id="740" name="Google Shape;740;p75"/>
          <p:cNvSpPr/>
          <p:nvPr/>
        </p:nvSpPr>
        <p:spPr>
          <a:xfrm>
            <a:off x="8206145" y="7195661"/>
            <a:ext cx="5592723" cy="380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Combinar tests unitarios, de integración y end-to-end.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6" name="Google Shape;74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4103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76"/>
          <p:cNvSpPr/>
          <p:nvPr/>
        </p:nvSpPr>
        <p:spPr>
          <a:xfrm>
            <a:off x="6315670" y="651629"/>
            <a:ext cx="7485459" cy="1254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50"/>
              <a:buFont typeface="Unbounded"/>
              <a:buNone/>
            </a:pPr>
            <a:r>
              <a:rPr b="0" i="0" lang="en-US" sz="39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Despliegue de Aplicaciones</a:t>
            </a:r>
            <a:endParaRPr b="0" i="0" sz="3950" u="none" cap="none" strike="noStrike"/>
          </a:p>
        </p:txBody>
      </p:sp>
      <p:pic>
        <p:nvPicPr>
          <p:cNvPr descr="preencoded.png" id="748" name="Google Shape;748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5670" y="2225873"/>
            <a:ext cx="513398" cy="513398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76"/>
          <p:cNvSpPr/>
          <p:nvPr/>
        </p:nvSpPr>
        <p:spPr>
          <a:xfrm>
            <a:off x="6315670" y="2952512"/>
            <a:ext cx="2281952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Netlify</a:t>
            </a:r>
            <a:endParaRPr b="0" i="0" sz="1950" u="none" cap="none" strike="noStrike"/>
          </a:p>
        </p:txBody>
      </p:sp>
      <p:sp>
        <p:nvSpPr>
          <p:cNvPr id="750" name="Google Shape;750;p76"/>
          <p:cNvSpPr/>
          <p:nvPr/>
        </p:nvSpPr>
        <p:spPr>
          <a:xfrm>
            <a:off x="6315670" y="3393877"/>
            <a:ext cx="2281952" cy="10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Despliegue continuo desde repositorios Git con previsualización.</a:t>
            </a:r>
            <a:endParaRPr b="0" i="0" sz="1650" u="none" cap="none" strike="noStrike"/>
          </a:p>
        </p:txBody>
      </p:sp>
      <p:pic>
        <p:nvPicPr>
          <p:cNvPr descr="preencoded.png" id="751" name="Google Shape;751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7424" y="2225873"/>
            <a:ext cx="513398" cy="513398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76"/>
          <p:cNvSpPr/>
          <p:nvPr/>
        </p:nvSpPr>
        <p:spPr>
          <a:xfrm>
            <a:off x="8917424" y="2952512"/>
            <a:ext cx="2281952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Vercel</a:t>
            </a:r>
            <a:endParaRPr b="0" i="0" sz="1950" u="none" cap="none" strike="noStrike"/>
          </a:p>
        </p:txBody>
      </p:sp>
      <p:sp>
        <p:nvSpPr>
          <p:cNvPr id="753" name="Google Shape;753;p76"/>
          <p:cNvSpPr/>
          <p:nvPr/>
        </p:nvSpPr>
        <p:spPr>
          <a:xfrm>
            <a:off x="8917424" y="3393877"/>
            <a:ext cx="2281952" cy="10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Optimizado para Next.js con despliegues inmediatos y serverless.</a:t>
            </a:r>
            <a:endParaRPr b="0" i="0" sz="1650" u="none" cap="none" strike="noStrike"/>
          </a:p>
        </p:txBody>
      </p:sp>
      <p:pic>
        <p:nvPicPr>
          <p:cNvPr descr="preencoded.png" id="754" name="Google Shape;754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19178" y="2225873"/>
            <a:ext cx="513398" cy="513398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6"/>
          <p:cNvSpPr/>
          <p:nvPr/>
        </p:nvSpPr>
        <p:spPr>
          <a:xfrm>
            <a:off x="11519178" y="2952512"/>
            <a:ext cx="2281952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GitHub Pages</a:t>
            </a:r>
            <a:endParaRPr b="0" i="0" sz="1950" u="none" cap="none" strike="noStrike"/>
          </a:p>
        </p:txBody>
      </p:sp>
      <p:sp>
        <p:nvSpPr>
          <p:cNvPr id="756" name="Google Shape;756;p76"/>
          <p:cNvSpPr/>
          <p:nvPr/>
        </p:nvSpPr>
        <p:spPr>
          <a:xfrm>
            <a:off x="11519178" y="3393877"/>
            <a:ext cx="2281952" cy="136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Solución gratuita para sitios estáticos directamente desde GitHub.</a:t>
            </a:r>
            <a:endParaRPr b="0" i="0" sz="1650" u="none" cap="none" strike="noStrike"/>
          </a:p>
        </p:txBody>
      </p:sp>
      <p:pic>
        <p:nvPicPr>
          <p:cNvPr descr="preencoded.png" id="757" name="Google Shape;757;p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5670" y="5398056"/>
            <a:ext cx="513398" cy="513398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76"/>
          <p:cNvSpPr/>
          <p:nvPr/>
        </p:nvSpPr>
        <p:spPr>
          <a:xfrm>
            <a:off x="6315670" y="6124694"/>
            <a:ext cx="2281952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AWS Amplify</a:t>
            </a:r>
            <a:endParaRPr b="0" i="0" sz="1950" u="none" cap="none" strike="noStrike"/>
          </a:p>
        </p:txBody>
      </p:sp>
      <p:sp>
        <p:nvSpPr>
          <p:cNvPr id="759" name="Google Shape;759;p76"/>
          <p:cNvSpPr/>
          <p:nvPr/>
        </p:nvSpPr>
        <p:spPr>
          <a:xfrm>
            <a:off x="6315670" y="6566059"/>
            <a:ext cx="2281952" cy="10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Integración con servicios AWS para aplicaciones completas.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5" name="Google Shape;765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77"/>
          <p:cNvSpPr/>
          <p:nvPr/>
        </p:nvSpPr>
        <p:spPr>
          <a:xfrm>
            <a:off x="6324124" y="754737"/>
            <a:ext cx="6904077" cy="66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Unbounded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Tendencias Front-End</a:t>
            </a:r>
            <a:endParaRPr b="0" i="0" sz="4200" u="none" cap="none" strike="noStrike"/>
          </a:p>
        </p:txBody>
      </p:sp>
      <p:sp>
        <p:nvSpPr>
          <p:cNvPr id="767" name="Google Shape;767;p77"/>
          <p:cNvSpPr/>
          <p:nvPr/>
        </p:nvSpPr>
        <p:spPr>
          <a:xfrm>
            <a:off x="6324124" y="1878330"/>
            <a:ext cx="3563660" cy="75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900"/>
              <a:buFont typeface="Unbounded"/>
              <a:buNone/>
            </a:pPr>
            <a:r>
              <a:rPr b="0" i="0" lang="en-US" sz="59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1.5x</a:t>
            </a:r>
            <a:endParaRPr b="0" i="0" sz="5900" u="none" cap="none" strike="noStrike"/>
          </a:p>
        </p:txBody>
      </p:sp>
      <p:sp>
        <p:nvSpPr>
          <p:cNvPr id="768" name="Google Shape;768;p77"/>
          <p:cNvSpPr/>
          <p:nvPr/>
        </p:nvSpPr>
        <p:spPr>
          <a:xfrm>
            <a:off x="6768227" y="2912983"/>
            <a:ext cx="2675334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WebAssembly</a:t>
            </a:r>
            <a:endParaRPr b="0" i="0" sz="2100" u="none" cap="none" strike="noStrike"/>
          </a:p>
        </p:txBody>
      </p:sp>
      <p:sp>
        <p:nvSpPr>
          <p:cNvPr id="769" name="Google Shape;769;p77"/>
          <p:cNvSpPr/>
          <p:nvPr/>
        </p:nvSpPr>
        <p:spPr>
          <a:xfrm>
            <a:off x="6324124" y="3383756"/>
            <a:ext cx="3563660" cy="727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Rendimiento cercano a nativo para aplicaciones web complejas.</a:t>
            </a:r>
            <a:endParaRPr b="0" i="0" sz="1750" u="none" cap="none" strike="noStrike"/>
          </a:p>
        </p:txBody>
      </p:sp>
      <p:sp>
        <p:nvSpPr>
          <p:cNvPr id="770" name="Google Shape;770;p77"/>
          <p:cNvSpPr/>
          <p:nvPr/>
        </p:nvSpPr>
        <p:spPr>
          <a:xfrm>
            <a:off x="10228898" y="1878330"/>
            <a:ext cx="3563779" cy="75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900"/>
              <a:buFont typeface="Unbounded"/>
              <a:buNone/>
            </a:pPr>
            <a:r>
              <a:rPr b="0" i="0" lang="en-US" sz="59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94%</a:t>
            </a:r>
            <a:endParaRPr b="0" i="0" sz="5900" u="none" cap="none" strike="noStrike"/>
          </a:p>
        </p:txBody>
      </p:sp>
      <p:sp>
        <p:nvSpPr>
          <p:cNvPr id="771" name="Google Shape;771;p77"/>
          <p:cNvSpPr/>
          <p:nvPr/>
        </p:nvSpPr>
        <p:spPr>
          <a:xfrm>
            <a:off x="10228898" y="2912983"/>
            <a:ext cx="3563779" cy="668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Progressive Web Apps</a:t>
            </a:r>
            <a:endParaRPr b="0" i="0" sz="2100" u="none" cap="none" strike="noStrike"/>
          </a:p>
        </p:txBody>
      </p:sp>
      <p:sp>
        <p:nvSpPr>
          <p:cNvPr id="772" name="Google Shape;772;p77"/>
          <p:cNvSpPr/>
          <p:nvPr/>
        </p:nvSpPr>
        <p:spPr>
          <a:xfrm>
            <a:off x="10228898" y="3718084"/>
            <a:ext cx="3563779" cy="727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Mayor retención de usuarios con experiencias tipo aplicación nativa.</a:t>
            </a:r>
            <a:endParaRPr b="0" i="0" sz="1750" u="none" cap="none" strike="noStrike"/>
          </a:p>
        </p:txBody>
      </p:sp>
      <p:sp>
        <p:nvSpPr>
          <p:cNvPr id="773" name="Google Shape;773;p77"/>
          <p:cNvSpPr/>
          <p:nvPr/>
        </p:nvSpPr>
        <p:spPr>
          <a:xfrm>
            <a:off x="8276511" y="5241727"/>
            <a:ext cx="3563660" cy="75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900"/>
              <a:buFont typeface="Unbounded"/>
              <a:buNone/>
            </a:pPr>
            <a:r>
              <a:rPr b="0" i="0" lang="en-US" sz="59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67%</a:t>
            </a:r>
            <a:endParaRPr b="0" i="0" sz="5900" u="none" cap="none" strike="noStrike"/>
          </a:p>
        </p:txBody>
      </p:sp>
      <p:sp>
        <p:nvSpPr>
          <p:cNvPr id="774" name="Google Shape;774;p77"/>
          <p:cNvSpPr/>
          <p:nvPr/>
        </p:nvSpPr>
        <p:spPr>
          <a:xfrm>
            <a:off x="8720614" y="6276380"/>
            <a:ext cx="2675334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Serverless</a:t>
            </a:r>
            <a:endParaRPr b="0" i="0" sz="2100" u="none" cap="none" strike="noStrike"/>
          </a:p>
        </p:txBody>
      </p:sp>
      <p:sp>
        <p:nvSpPr>
          <p:cNvPr id="775" name="Google Shape;775;p77"/>
          <p:cNvSpPr/>
          <p:nvPr/>
        </p:nvSpPr>
        <p:spPr>
          <a:xfrm>
            <a:off x="8276511" y="6747153"/>
            <a:ext cx="3563660" cy="727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Adopción creciente de arquitecturas sin servidor gestionado.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1" name="Google Shape;781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1386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78"/>
          <p:cNvSpPr/>
          <p:nvPr/>
        </p:nvSpPr>
        <p:spPr>
          <a:xfrm>
            <a:off x="6311979" y="648653"/>
            <a:ext cx="6573679" cy="55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Unbounded"/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Arquitecturas Modernas</a:t>
            </a:r>
            <a:endParaRPr b="0" i="0" sz="3450" u="none" cap="none" strike="noStrike"/>
          </a:p>
        </p:txBody>
      </p:sp>
      <p:sp>
        <p:nvSpPr>
          <p:cNvPr id="783" name="Google Shape;783;p78"/>
          <p:cNvSpPr/>
          <p:nvPr/>
        </p:nvSpPr>
        <p:spPr>
          <a:xfrm>
            <a:off x="6311979" y="1486614"/>
            <a:ext cx="141446" cy="1843445"/>
          </a:xfrm>
          <a:prstGeom prst="roundRect">
            <a:avLst>
              <a:gd fmla="val 2001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78"/>
          <p:cNvSpPr/>
          <p:nvPr/>
        </p:nvSpPr>
        <p:spPr>
          <a:xfrm>
            <a:off x="6736437" y="1486614"/>
            <a:ext cx="2220039" cy="277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b="0" i="0" lang="en-US" sz="17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Jamstack</a:t>
            </a:r>
            <a:endParaRPr b="0" i="0" sz="1700" u="none" cap="none" strike="noStrike"/>
          </a:p>
        </p:txBody>
      </p:sp>
      <p:sp>
        <p:nvSpPr>
          <p:cNvPr id="785" name="Google Shape;785;p78"/>
          <p:cNvSpPr/>
          <p:nvPr/>
        </p:nvSpPr>
        <p:spPr>
          <a:xfrm>
            <a:off x="6736437" y="1877258"/>
            <a:ext cx="7068383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None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JavaScript, APIs y Markup precompilado para sitios rápidos y seguros.</a:t>
            </a:r>
            <a:endParaRPr b="0" i="0" sz="1450" u="none" cap="none" strike="noStrike"/>
          </a:p>
        </p:txBody>
      </p:sp>
      <p:sp>
        <p:nvSpPr>
          <p:cNvPr id="786" name="Google Shape;786;p78"/>
          <p:cNvSpPr/>
          <p:nvPr/>
        </p:nvSpPr>
        <p:spPr>
          <a:xfrm>
            <a:off x="6736437" y="2292310"/>
            <a:ext cx="7068383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Archivos estáticos servidos desde CDN</a:t>
            </a:r>
            <a:endParaRPr b="0" i="0" sz="1450" u="none" cap="none" strike="noStrike"/>
          </a:p>
        </p:txBody>
      </p:sp>
      <p:sp>
        <p:nvSpPr>
          <p:cNvPr id="787" name="Google Shape;787;p78"/>
          <p:cNvSpPr/>
          <p:nvPr/>
        </p:nvSpPr>
        <p:spPr>
          <a:xfrm>
            <a:off x="6736437" y="2660213"/>
            <a:ext cx="7068383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Funcionalidad dinámica vía APIs</a:t>
            </a:r>
            <a:endParaRPr b="0" i="0" sz="1450" u="none" cap="none" strike="noStrike"/>
          </a:p>
        </p:txBody>
      </p:sp>
      <p:sp>
        <p:nvSpPr>
          <p:cNvPr id="788" name="Google Shape;788;p78"/>
          <p:cNvSpPr/>
          <p:nvPr/>
        </p:nvSpPr>
        <p:spPr>
          <a:xfrm>
            <a:off x="6736437" y="3028117"/>
            <a:ext cx="7068383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Generación en tiempo de construcción</a:t>
            </a:r>
            <a:endParaRPr b="0" i="0" sz="1450" u="none" cap="none" strike="noStrike"/>
          </a:p>
        </p:txBody>
      </p:sp>
      <p:sp>
        <p:nvSpPr>
          <p:cNvPr id="789" name="Google Shape;789;p78"/>
          <p:cNvSpPr/>
          <p:nvPr/>
        </p:nvSpPr>
        <p:spPr>
          <a:xfrm>
            <a:off x="6594991" y="3518654"/>
            <a:ext cx="141446" cy="1843445"/>
          </a:xfrm>
          <a:prstGeom prst="roundRect">
            <a:avLst>
              <a:gd fmla="val 2001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8"/>
          <p:cNvSpPr/>
          <p:nvPr/>
        </p:nvSpPr>
        <p:spPr>
          <a:xfrm>
            <a:off x="7019449" y="3518654"/>
            <a:ext cx="3297793" cy="277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b="0" i="0" lang="en-US" sz="17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Microservicios Front-end</a:t>
            </a:r>
            <a:endParaRPr b="0" i="0" sz="1700" u="none" cap="none" strike="noStrike"/>
          </a:p>
        </p:txBody>
      </p:sp>
      <p:sp>
        <p:nvSpPr>
          <p:cNvPr id="791" name="Google Shape;791;p78"/>
          <p:cNvSpPr/>
          <p:nvPr/>
        </p:nvSpPr>
        <p:spPr>
          <a:xfrm>
            <a:off x="7019449" y="3909298"/>
            <a:ext cx="6785372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None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División de interfaces en aplicaciones más pequeñas e independientes.</a:t>
            </a:r>
            <a:endParaRPr b="0" i="0" sz="1450" u="none" cap="none" strike="noStrike"/>
          </a:p>
        </p:txBody>
      </p:sp>
      <p:sp>
        <p:nvSpPr>
          <p:cNvPr id="792" name="Google Shape;792;p78"/>
          <p:cNvSpPr/>
          <p:nvPr/>
        </p:nvSpPr>
        <p:spPr>
          <a:xfrm>
            <a:off x="7019449" y="4324350"/>
            <a:ext cx="6785372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Equipos autónomos por funcionalidad</a:t>
            </a:r>
            <a:endParaRPr b="0" i="0" sz="1450" u="none" cap="none" strike="noStrike"/>
          </a:p>
        </p:txBody>
      </p:sp>
      <p:sp>
        <p:nvSpPr>
          <p:cNvPr id="793" name="Google Shape;793;p78"/>
          <p:cNvSpPr/>
          <p:nvPr/>
        </p:nvSpPr>
        <p:spPr>
          <a:xfrm>
            <a:off x="7019449" y="4692253"/>
            <a:ext cx="6785372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Despliegue independiente</a:t>
            </a:r>
            <a:endParaRPr b="0" i="0" sz="1450" u="none" cap="none" strike="noStrike"/>
          </a:p>
        </p:txBody>
      </p:sp>
      <p:sp>
        <p:nvSpPr>
          <p:cNvPr id="794" name="Google Shape;794;p78"/>
          <p:cNvSpPr/>
          <p:nvPr/>
        </p:nvSpPr>
        <p:spPr>
          <a:xfrm>
            <a:off x="7019449" y="5060156"/>
            <a:ext cx="6785372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Micro Frontends para grandes organizaciones</a:t>
            </a:r>
            <a:endParaRPr b="0" i="0" sz="1450" u="none" cap="none" strike="noStrike"/>
          </a:p>
        </p:txBody>
      </p:sp>
      <p:sp>
        <p:nvSpPr>
          <p:cNvPr id="795" name="Google Shape;795;p78"/>
          <p:cNvSpPr/>
          <p:nvPr/>
        </p:nvSpPr>
        <p:spPr>
          <a:xfrm>
            <a:off x="6878003" y="5550694"/>
            <a:ext cx="141446" cy="1843445"/>
          </a:xfrm>
          <a:prstGeom prst="roundRect">
            <a:avLst>
              <a:gd fmla="val 2001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8"/>
          <p:cNvSpPr/>
          <p:nvPr/>
        </p:nvSpPr>
        <p:spPr>
          <a:xfrm>
            <a:off x="7302460" y="5550694"/>
            <a:ext cx="2220039" cy="277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Unbounded"/>
              <a:buNone/>
            </a:pPr>
            <a:r>
              <a:rPr b="0" i="0" lang="en-US" sz="17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SPAs</a:t>
            </a:r>
            <a:endParaRPr b="0" i="0" sz="1700" u="none" cap="none" strike="noStrike"/>
          </a:p>
        </p:txBody>
      </p:sp>
      <p:sp>
        <p:nvSpPr>
          <p:cNvPr id="797" name="Google Shape;797;p78"/>
          <p:cNvSpPr/>
          <p:nvPr/>
        </p:nvSpPr>
        <p:spPr>
          <a:xfrm>
            <a:off x="7302460" y="5941338"/>
            <a:ext cx="6502360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None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Aplicaciones de página única con transiciones fluidas.</a:t>
            </a:r>
            <a:endParaRPr b="0" i="0" sz="1450" u="none" cap="none" strike="noStrike"/>
          </a:p>
        </p:txBody>
      </p:sp>
      <p:sp>
        <p:nvSpPr>
          <p:cNvPr id="798" name="Google Shape;798;p78"/>
          <p:cNvSpPr/>
          <p:nvPr/>
        </p:nvSpPr>
        <p:spPr>
          <a:xfrm>
            <a:off x="7302460" y="6356390"/>
            <a:ext cx="6502360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Carga inicial completa</a:t>
            </a:r>
            <a:endParaRPr b="0" i="0" sz="1450" u="none" cap="none" strike="noStrike"/>
          </a:p>
        </p:txBody>
      </p:sp>
      <p:sp>
        <p:nvSpPr>
          <p:cNvPr id="799" name="Google Shape;799;p78"/>
          <p:cNvSpPr/>
          <p:nvPr/>
        </p:nvSpPr>
        <p:spPr>
          <a:xfrm>
            <a:off x="7302460" y="6724293"/>
            <a:ext cx="6502360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Actualizaciones parciales del DOM</a:t>
            </a:r>
            <a:endParaRPr b="0" i="0" sz="1450" u="none" cap="none" strike="noStrike"/>
          </a:p>
        </p:txBody>
      </p:sp>
      <p:sp>
        <p:nvSpPr>
          <p:cNvPr id="800" name="Google Shape;800;p78"/>
          <p:cNvSpPr/>
          <p:nvPr/>
        </p:nvSpPr>
        <p:spPr>
          <a:xfrm>
            <a:off x="7302460" y="7092196"/>
            <a:ext cx="6502360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50"/>
              <a:buFont typeface="Cabin"/>
              <a:buChar char="•"/>
            </a:pPr>
            <a:r>
              <a:rPr b="0" i="0" lang="en-US" sz="14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Navegación sin recarga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6" name="Google Shape;80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1386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9"/>
          <p:cNvSpPr/>
          <p:nvPr/>
        </p:nvSpPr>
        <p:spPr>
          <a:xfrm>
            <a:off x="6311146" y="648057"/>
            <a:ext cx="5748338" cy="658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Unbounded"/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Accesibilidad Web</a:t>
            </a:r>
            <a:endParaRPr b="0" i="0" sz="4100" u="none" cap="none" strike="noStrike"/>
          </a:p>
        </p:txBody>
      </p:sp>
      <p:sp>
        <p:nvSpPr>
          <p:cNvPr id="808" name="Google Shape;808;p79"/>
          <p:cNvSpPr/>
          <p:nvPr/>
        </p:nvSpPr>
        <p:spPr>
          <a:xfrm>
            <a:off x="6311146" y="1642348"/>
            <a:ext cx="3635335" cy="3574852"/>
          </a:xfrm>
          <a:prstGeom prst="roundRect">
            <a:avLst>
              <a:gd fmla="val 939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79"/>
          <p:cNvSpPr/>
          <p:nvPr/>
        </p:nvSpPr>
        <p:spPr>
          <a:xfrm>
            <a:off x="6534983" y="1866186"/>
            <a:ext cx="2633901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50"/>
              <a:buFont typeface="Unbounded"/>
              <a:buNone/>
            </a:pPr>
            <a:r>
              <a:rPr b="0" i="0" lang="en-US" sz="20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WCAG 2.1</a:t>
            </a:r>
            <a:endParaRPr b="0" i="0" sz="2050" u="none" cap="none" strike="noStrike"/>
          </a:p>
        </p:txBody>
      </p:sp>
      <p:sp>
        <p:nvSpPr>
          <p:cNvPr id="810" name="Google Shape;810;p79"/>
          <p:cNvSpPr/>
          <p:nvPr/>
        </p:nvSpPr>
        <p:spPr>
          <a:xfrm>
            <a:off x="6534983" y="2329696"/>
            <a:ext cx="3187660" cy="71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Pautas de Accesibilidad para Contenido Web</a:t>
            </a:r>
            <a:endParaRPr b="0" i="0" sz="1750" u="none" cap="none" strike="noStrike"/>
          </a:p>
        </p:txBody>
      </p:sp>
      <p:sp>
        <p:nvSpPr>
          <p:cNvPr id="811" name="Google Shape;811;p79"/>
          <p:cNvSpPr/>
          <p:nvPr/>
        </p:nvSpPr>
        <p:spPr>
          <a:xfrm>
            <a:off x="6534983" y="3124319"/>
            <a:ext cx="3187660" cy="71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Niveles A, AA y AAA de conformidad</a:t>
            </a:r>
            <a:endParaRPr b="0" i="0" sz="1750" u="none" cap="none" strike="noStrike"/>
          </a:p>
        </p:txBody>
      </p:sp>
      <p:sp>
        <p:nvSpPr>
          <p:cNvPr id="812" name="Google Shape;812;p79"/>
          <p:cNvSpPr/>
          <p:nvPr/>
        </p:nvSpPr>
        <p:spPr>
          <a:xfrm>
            <a:off x="6534983" y="3918942"/>
            <a:ext cx="318766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Principios: Perceptible, Operable, Comprensible, Robusto</a:t>
            </a:r>
            <a:endParaRPr b="0" i="0" sz="1750" u="none" cap="none" strike="noStrike"/>
          </a:p>
        </p:txBody>
      </p:sp>
      <p:sp>
        <p:nvSpPr>
          <p:cNvPr id="813" name="Google Shape;813;p79"/>
          <p:cNvSpPr/>
          <p:nvPr/>
        </p:nvSpPr>
        <p:spPr>
          <a:xfrm>
            <a:off x="10170319" y="1642348"/>
            <a:ext cx="3635335" cy="3574852"/>
          </a:xfrm>
          <a:prstGeom prst="roundRect">
            <a:avLst>
              <a:gd fmla="val 939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9"/>
          <p:cNvSpPr/>
          <p:nvPr/>
        </p:nvSpPr>
        <p:spPr>
          <a:xfrm>
            <a:off x="10394156" y="1866186"/>
            <a:ext cx="2978944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50"/>
              <a:buFont typeface="Unbounded"/>
              <a:buNone/>
            </a:pPr>
            <a:r>
              <a:rPr b="0" i="0" lang="en-US" sz="20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Técnicas prácticas</a:t>
            </a:r>
            <a:endParaRPr b="0" i="0" sz="2050" u="none" cap="none" strike="noStrike"/>
          </a:p>
        </p:txBody>
      </p:sp>
      <p:sp>
        <p:nvSpPr>
          <p:cNvPr id="815" name="Google Shape;815;p79"/>
          <p:cNvSpPr/>
          <p:nvPr/>
        </p:nvSpPr>
        <p:spPr>
          <a:xfrm>
            <a:off x="10394156" y="2329696"/>
            <a:ext cx="3187660" cy="71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Atributos ARIA para componentes interactivos</a:t>
            </a:r>
            <a:endParaRPr b="0" i="0" sz="1750" u="none" cap="none" strike="noStrike"/>
          </a:p>
        </p:txBody>
      </p:sp>
      <p:sp>
        <p:nvSpPr>
          <p:cNvPr id="816" name="Google Shape;816;p79"/>
          <p:cNvSpPr/>
          <p:nvPr/>
        </p:nvSpPr>
        <p:spPr>
          <a:xfrm>
            <a:off x="10394156" y="3124319"/>
            <a:ext cx="318766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Contraste de color adecuado</a:t>
            </a:r>
            <a:endParaRPr b="0" i="0" sz="1750" u="none" cap="none" strike="noStrike"/>
          </a:p>
        </p:txBody>
      </p:sp>
      <p:sp>
        <p:nvSpPr>
          <p:cNvPr id="817" name="Google Shape;817;p79"/>
          <p:cNvSpPr/>
          <p:nvPr/>
        </p:nvSpPr>
        <p:spPr>
          <a:xfrm>
            <a:off x="10394156" y="3560802"/>
            <a:ext cx="318766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Navegación por teclado</a:t>
            </a:r>
            <a:endParaRPr b="0" i="0" sz="1750" u="none" cap="none" strike="noStrike"/>
          </a:p>
        </p:txBody>
      </p:sp>
      <p:sp>
        <p:nvSpPr>
          <p:cNvPr id="818" name="Google Shape;818;p79"/>
          <p:cNvSpPr/>
          <p:nvPr/>
        </p:nvSpPr>
        <p:spPr>
          <a:xfrm>
            <a:off x="10394156" y="3997285"/>
            <a:ext cx="3187660" cy="71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Textos alternativos para imágenes</a:t>
            </a:r>
            <a:endParaRPr b="0" i="0" sz="1750" u="none" cap="none" strike="noStrike"/>
          </a:p>
        </p:txBody>
      </p:sp>
      <p:sp>
        <p:nvSpPr>
          <p:cNvPr id="819" name="Google Shape;819;p79"/>
          <p:cNvSpPr/>
          <p:nvPr/>
        </p:nvSpPr>
        <p:spPr>
          <a:xfrm>
            <a:off x="6311146" y="5441037"/>
            <a:ext cx="7494508" cy="2142292"/>
          </a:xfrm>
          <a:prstGeom prst="roundRect">
            <a:avLst>
              <a:gd fmla="val 15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9"/>
          <p:cNvSpPr/>
          <p:nvPr/>
        </p:nvSpPr>
        <p:spPr>
          <a:xfrm>
            <a:off x="6534983" y="5664875"/>
            <a:ext cx="2633901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050"/>
              <a:buFont typeface="Unbounded"/>
              <a:buNone/>
            </a:pPr>
            <a:r>
              <a:rPr b="0" i="0" lang="en-US" sz="20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Herramientas</a:t>
            </a:r>
            <a:endParaRPr b="0" i="0" sz="2050" u="none" cap="none" strike="noStrike"/>
          </a:p>
        </p:txBody>
      </p:sp>
      <p:sp>
        <p:nvSpPr>
          <p:cNvPr id="821" name="Google Shape;821;p79"/>
          <p:cNvSpPr/>
          <p:nvPr/>
        </p:nvSpPr>
        <p:spPr>
          <a:xfrm>
            <a:off x="6534983" y="6128385"/>
            <a:ext cx="704683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Lighthouse para auditorías</a:t>
            </a:r>
            <a:endParaRPr b="0" i="0" sz="1750" u="none" cap="none" strike="noStrike"/>
          </a:p>
        </p:txBody>
      </p:sp>
      <p:sp>
        <p:nvSpPr>
          <p:cNvPr id="822" name="Google Shape;822;p79"/>
          <p:cNvSpPr/>
          <p:nvPr/>
        </p:nvSpPr>
        <p:spPr>
          <a:xfrm>
            <a:off x="6534983" y="6564868"/>
            <a:ext cx="704683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axe para testing de accesibilidad</a:t>
            </a:r>
            <a:endParaRPr b="0" i="0" sz="1750" u="none" cap="none" strike="noStrike"/>
          </a:p>
        </p:txBody>
      </p:sp>
      <p:sp>
        <p:nvSpPr>
          <p:cNvPr id="823" name="Google Shape;823;p79"/>
          <p:cNvSpPr/>
          <p:nvPr/>
        </p:nvSpPr>
        <p:spPr>
          <a:xfrm>
            <a:off x="6534983" y="7001351"/>
            <a:ext cx="704683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Lectores de pantalla para validación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80"/>
          <p:cNvSpPr/>
          <p:nvPr/>
        </p:nvSpPr>
        <p:spPr>
          <a:xfrm>
            <a:off x="837724" y="1306473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Próximos Pasos</a:t>
            </a:r>
            <a:endParaRPr b="0" i="0" sz="4400" u="none" cap="none" strike="noStrike"/>
          </a:p>
        </p:txBody>
      </p:sp>
      <p:pic>
        <p:nvPicPr>
          <p:cNvPr descr="preencoded.png" id="830" name="Google Shape;83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344" y="2642830"/>
            <a:ext cx="3091339" cy="3091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1" name="Google Shape;831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8135" y="2642830"/>
            <a:ext cx="3091339" cy="3091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2" name="Google Shape;832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0926" y="2642830"/>
            <a:ext cx="3091339" cy="3091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3" name="Google Shape;833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93718" y="2642830"/>
            <a:ext cx="3091339" cy="309133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80"/>
          <p:cNvSpPr/>
          <p:nvPr/>
        </p:nvSpPr>
        <p:spPr>
          <a:xfrm>
            <a:off x="837724" y="6156960"/>
            <a:ext cx="1295495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Continúa tu viaje de aprendizaje con recursos online, comunidades de desarrollo y proyectos prácticos. La práctica constante es clave para dominar el desarrollo front-end.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1"/>
          <p:cNvSpPr/>
          <p:nvPr/>
        </p:nvSpPr>
        <p:spPr>
          <a:xfrm>
            <a:off x="778669" y="611743"/>
            <a:ext cx="7948851" cy="654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Unbounded"/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Frameworks Alternativos</a:t>
            </a:r>
            <a:endParaRPr b="0" i="0" sz="4100" u="none" cap="none" strike="noStrike"/>
          </a:p>
        </p:txBody>
      </p:sp>
      <p:sp>
        <p:nvSpPr>
          <p:cNvPr id="841" name="Google Shape;841;p81"/>
          <p:cNvSpPr/>
          <p:nvPr/>
        </p:nvSpPr>
        <p:spPr>
          <a:xfrm>
            <a:off x="778669" y="1822252"/>
            <a:ext cx="2617470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Unbounded"/>
              <a:buNone/>
            </a:pPr>
            <a:r>
              <a:rPr b="0" i="0" lang="en-US" sz="20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Vue.js</a:t>
            </a:r>
            <a:endParaRPr b="0" i="0" sz="2050" u="none" cap="none" strike="noStrike"/>
          </a:p>
        </p:txBody>
      </p:sp>
      <p:pic>
        <p:nvPicPr>
          <p:cNvPr descr="preencoded.png" id="842" name="Google Shape;84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669" y="2399586"/>
            <a:ext cx="6265188" cy="3524964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81"/>
          <p:cNvSpPr/>
          <p:nvPr/>
        </p:nvSpPr>
        <p:spPr>
          <a:xfrm>
            <a:off x="778669" y="6174819"/>
            <a:ext cx="6265188" cy="35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Curva de aprendizaje suave</a:t>
            </a:r>
            <a:endParaRPr b="0" i="0" sz="1750" u="none" cap="none" strike="noStrike"/>
          </a:p>
        </p:txBody>
      </p:sp>
      <p:sp>
        <p:nvSpPr>
          <p:cNvPr id="844" name="Google Shape;844;p81"/>
          <p:cNvSpPr/>
          <p:nvPr/>
        </p:nvSpPr>
        <p:spPr>
          <a:xfrm>
            <a:off x="778669" y="6608683"/>
            <a:ext cx="6265188" cy="35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HTML templating intuitivo</a:t>
            </a:r>
            <a:endParaRPr b="0" i="0" sz="1750" u="none" cap="none" strike="noStrike"/>
          </a:p>
        </p:txBody>
      </p:sp>
      <p:sp>
        <p:nvSpPr>
          <p:cNvPr id="845" name="Google Shape;845;p81"/>
          <p:cNvSpPr/>
          <p:nvPr/>
        </p:nvSpPr>
        <p:spPr>
          <a:xfrm>
            <a:off x="778669" y="7042547"/>
            <a:ext cx="6265188" cy="35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Reactividad incorporada</a:t>
            </a:r>
            <a:endParaRPr b="0" i="0" sz="1750" u="none" cap="none" strike="noStrike"/>
          </a:p>
        </p:txBody>
      </p:sp>
      <p:sp>
        <p:nvSpPr>
          <p:cNvPr id="846" name="Google Shape;846;p81"/>
          <p:cNvSpPr/>
          <p:nvPr/>
        </p:nvSpPr>
        <p:spPr>
          <a:xfrm>
            <a:off x="778669" y="7476411"/>
            <a:ext cx="6265188" cy="35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Documentación excelente</a:t>
            </a:r>
            <a:endParaRPr b="0" i="0" sz="1750" u="none" cap="none" strike="noStrike"/>
          </a:p>
        </p:txBody>
      </p:sp>
      <p:sp>
        <p:nvSpPr>
          <p:cNvPr id="847" name="Google Shape;847;p81"/>
          <p:cNvSpPr/>
          <p:nvPr/>
        </p:nvSpPr>
        <p:spPr>
          <a:xfrm>
            <a:off x="7594163" y="1822252"/>
            <a:ext cx="2617470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Unbounded"/>
              <a:buNone/>
            </a:pPr>
            <a:r>
              <a:rPr b="0" i="0" lang="en-US" sz="20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Angular</a:t>
            </a:r>
            <a:endParaRPr b="0" i="0" sz="2050" u="none" cap="none" strike="noStrike"/>
          </a:p>
        </p:txBody>
      </p:sp>
      <p:pic>
        <p:nvPicPr>
          <p:cNvPr descr="preencoded.png" id="848" name="Google Shape;848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4163" y="2399586"/>
            <a:ext cx="6265188" cy="3524964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81"/>
          <p:cNvSpPr/>
          <p:nvPr/>
        </p:nvSpPr>
        <p:spPr>
          <a:xfrm>
            <a:off x="7594163" y="6174819"/>
            <a:ext cx="6265188" cy="35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Framework completo con todo incluido</a:t>
            </a:r>
            <a:endParaRPr b="0" i="0" sz="1750" u="none" cap="none" strike="noStrike"/>
          </a:p>
        </p:txBody>
      </p:sp>
      <p:sp>
        <p:nvSpPr>
          <p:cNvPr id="850" name="Google Shape;850;p81"/>
          <p:cNvSpPr/>
          <p:nvPr/>
        </p:nvSpPr>
        <p:spPr>
          <a:xfrm>
            <a:off x="7594163" y="6608683"/>
            <a:ext cx="6265188" cy="35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TypeScript nativo</a:t>
            </a:r>
            <a:endParaRPr b="0" i="0" sz="1750" u="none" cap="none" strike="noStrike"/>
          </a:p>
        </p:txBody>
      </p:sp>
      <p:sp>
        <p:nvSpPr>
          <p:cNvPr id="851" name="Google Shape;851;p81"/>
          <p:cNvSpPr/>
          <p:nvPr/>
        </p:nvSpPr>
        <p:spPr>
          <a:xfrm>
            <a:off x="7594163" y="7042547"/>
            <a:ext cx="6265188" cy="35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Inyección de dependencias</a:t>
            </a:r>
            <a:endParaRPr b="0" i="0" sz="1750" u="none" cap="none" strike="noStrike"/>
          </a:p>
        </p:txBody>
      </p:sp>
      <p:sp>
        <p:nvSpPr>
          <p:cNvPr id="852" name="Google Shape;852;p81"/>
          <p:cNvSpPr/>
          <p:nvPr/>
        </p:nvSpPr>
        <p:spPr>
          <a:xfrm>
            <a:off x="7594163" y="7476411"/>
            <a:ext cx="6265188" cy="35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Char char="•"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RxJS para operaciones asíncronas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8" name="Google Shape;85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82"/>
          <p:cNvSpPr/>
          <p:nvPr/>
        </p:nvSpPr>
        <p:spPr>
          <a:xfrm>
            <a:off x="6324124" y="1050965"/>
            <a:ext cx="4787503" cy="59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Unbounded"/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Conclusiones</a:t>
            </a:r>
            <a:endParaRPr b="0" i="0" sz="3750" u="none" cap="none" strike="noStrike"/>
          </a:p>
        </p:txBody>
      </p:sp>
      <p:sp>
        <p:nvSpPr>
          <p:cNvPr id="860" name="Google Shape;860;p82"/>
          <p:cNvSpPr/>
          <p:nvPr/>
        </p:nvSpPr>
        <p:spPr>
          <a:xfrm>
            <a:off x="6552962" y="1954530"/>
            <a:ext cx="22860" cy="5223986"/>
          </a:xfrm>
          <a:prstGeom prst="roundRect">
            <a:avLst>
              <a:gd fmla="val 133513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82"/>
          <p:cNvSpPr/>
          <p:nvPr/>
        </p:nvSpPr>
        <p:spPr>
          <a:xfrm>
            <a:off x="6759000" y="2400776"/>
            <a:ext cx="610314" cy="22860"/>
          </a:xfrm>
          <a:prstGeom prst="roundRect">
            <a:avLst>
              <a:gd fmla="val 133513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82"/>
          <p:cNvSpPr/>
          <p:nvPr/>
        </p:nvSpPr>
        <p:spPr>
          <a:xfrm>
            <a:off x="6324064" y="2183368"/>
            <a:ext cx="457795" cy="457795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3" name="Google Shape;863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9313" y="2232720"/>
            <a:ext cx="287179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82"/>
          <p:cNvSpPr/>
          <p:nvPr/>
        </p:nvSpPr>
        <p:spPr>
          <a:xfrm>
            <a:off x="7570351" y="2157889"/>
            <a:ext cx="3080028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Fundamentos sólidos</a:t>
            </a:r>
            <a:endParaRPr b="0" i="0" sz="1850" u="none" cap="none" strike="noStrike"/>
          </a:p>
        </p:txBody>
      </p:sp>
      <p:sp>
        <p:nvSpPr>
          <p:cNvPr id="865" name="Google Shape;865;p82"/>
          <p:cNvSpPr/>
          <p:nvPr/>
        </p:nvSpPr>
        <p:spPr>
          <a:xfrm>
            <a:off x="7570351" y="2579132"/>
            <a:ext cx="6222325" cy="32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HTML, CSS y JavaScript forman la base de todo desarrollo front-end.</a:t>
            </a:r>
            <a:endParaRPr b="0" i="0" sz="1600" u="none" cap="none" strike="noStrike"/>
          </a:p>
        </p:txBody>
      </p:sp>
      <p:sp>
        <p:nvSpPr>
          <p:cNvPr id="866" name="Google Shape;866;p82"/>
          <p:cNvSpPr/>
          <p:nvPr/>
        </p:nvSpPr>
        <p:spPr>
          <a:xfrm>
            <a:off x="6759000" y="3757613"/>
            <a:ext cx="610314" cy="22860"/>
          </a:xfrm>
          <a:prstGeom prst="roundRect">
            <a:avLst>
              <a:gd fmla="val 133513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82"/>
          <p:cNvSpPr/>
          <p:nvPr/>
        </p:nvSpPr>
        <p:spPr>
          <a:xfrm>
            <a:off x="6324064" y="3540204"/>
            <a:ext cx="457795" cy="457795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82"/>
          <p:cNvSpPr/>
          <p:nvPr/>
        </p:nvSpPr>
        <p:spPr>
          <a:xfrm>
            <a:off x="6409313" y="3589556"/>
            <a:ext cx="287179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50"/>
              <a:buFont typeface="Unbounded"/>
              <a:buNone/>
            </a:pPr>
            <a:r>
              <a:rPr b="0" i="0" lang="en-US" sz="22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2250" u="none" cap="none" strike="noStrike"/>
          </a:p>
        </p:txBody>
      </p:sp>
      <p:sp>
        <p:nvSpPr>
          <p:cNvPr id="869" name="Google Shape;869;p82"/>
          <p:cNvSpPr/>
          <p:nvPr/>
        </p:nvSpPr>
        <p:spPr>
          <a:xfrm>
            <a:off x="7570351" y="3514725"/>
            <a:ext cx="389679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Interacción cliente-servidor</a:t>
            </a:r>
            <a:endParaRPr b="0" i="0" sz="1850" u="none" cap="none" strike="noStrike"/>
          </a:p>
        </p:txBody>
      </p:sp>
      <p:sp>
        <p:nvSpPr>
          <p:cNvPr id="870" name="Google Shape;870;p82"/>
          <p:cNvSpPr/>
          <p:nvPr/>
        </p:nvSpPr>
        <p:spPr>
          <a:xfrm>
            <a:off x="7570351" y="3935968"/>
            <a:ext cx="6222325" cy="32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AJAX y APIs conectan interfaces con servicios backend.</a:t>
            </a:r>
            <a:endParaRPr b="0" i="0" sz="1600" u="none" cap="none" strike="noStrike"/>
          </a:p>
        </p:txBody>
      </p:sp>
      <p:sp>
        <p:nvSpPr>
          <p:cNvPr id="871" name="Google Shape;871;p82"/>
          <p:cNvSpPr/>
          <p:nvPr/>
        </p:nvSpPr>
        <p:spPr>
          <a:xfrm>
            <a:off x="6759000" y="5114449"/>
            <a:ext cx="610314" cy="22860"/>
          </a:xfrm>
          <a:prstGeom prst="roundRect">
            <a:avLst>
              <a:gd fmla="val 133513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82"/>
          <p:cNvSpPr/>
          <p:nvPr/>
        </p:nvSpPr>
        <p:spPr>
          <a:xfrm>
            <a:off x="6324064" y="4897041"/>
            <a:ext cx="457795" cy="457795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3" name="Google Shape;873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9313" y="4946392"/>
            <a:ext cx="287179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82"/>
          <p:cNvSpPr/>
          <p:nvPr/>
        </p:nvSpPr>
        <p:spPr>
          <a:xfrm>
            <a:off x="7570351" y="4871561"/>
            <a:ext cx="333541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Frameworks modernos</a:t>
            </a:r>
            <a:endParaRPr b="0" i="0" sz="1850" u="none" cap="none" strike="noStrike"/>
          </a:p>
        </p:txBody>
      </p:sp>
      <p:sp>
        <p:nvSpPr>
          <p:cNvPr id="875" name="Google Shape;875;p82"/>
          <p:cNvSpPr/>
          <p:nvPr/>
        </p:nvSpPr>
        <p:spPr>
          <a:xfrm>
            <a:off x="7570351" y="5292804"/>
            <a:ext cx="6222325" cy="32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React y alternativas permiten crear interfaces potentes y mantenibles.</a:t>
            </a:r>
            <a:endParaRPr b="0" i="0" sz="1600" u="none" cap="none" strike="noStrike"/>
          </a:p>
        </p:txBody>
      </p:sp>
      <p:sp>
        <p:nvSpPr>
          <p:cNvPr id="876" name="Google Shape;876;p82"/>
          <p:cNvSpPr/>
          <p:nvPr/>
        </p:nvSpPr>
        <p:spPr>
          <a:xfrm>
            <a:off x="6759000" y="6471285"/>
            <a:ext cx="610314" cy="22860"/>
          </a:xfrm>
          <a:prstGeom prst="roundRect">
            <a:avLst>
              <a:gd fmla="val 133513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82"/>
          <p:cNvSpPr/>
          <p:nvPr/>
        </p:nvSpPr>
        <p:spPr>
          <a:xfrm>
            <a:off x="6324064" y="6253877"/>
            <a:ext cx="457795" cy="457795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8" name="Google Shape;878;p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9313" y="6303228"/>
            <a:ext cx="287179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82"/>
          <p:cNvSpPr/>
          <p:nvPr/>
        </p:nvSpPr>
        <p:spPr>
          <a:xfrm>
            <a:off x="7570351" y="6228398"/>
            <a:ext cx="3022402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Aprendizaje continuo</a:t>
            </a:r>
            <a:endParaRPr b="0" i="0" sz="1850" u="none" cap="none" strike="noStrike"/>
          </a:p>
        </p:txBody>
      </p:sp>
      <p:sp>
        <p:nvSpPr>
          <p:cNvPr id="880" name="Google Shape;880;p82"/>
          <p:cNvSpPr/>
          <p:nvPr/>
        </p:nvSpPr>
        <p:spPr>
          <a:xfrm>
            <a:off x="7570351" y="6649641"/>
            <a:ext cx="6222325" cy="32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El ecosistema evoluciona constantemente. Nunca dejes de aprender.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