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076137705" r:id="rId5"/>
    <p:sldId id="2076137706" r:id="rId6"/>
    <p:sldId id="2076137712" r:id="rId7"/>
    <p:sldId id="2076137722" r:id="rId8"/>
    <p:sldId id="2076137708" r:id="rId9"/>
    <p:sldId id="2076137715" r:id="rId10"/>
    <p:sldId id="2076137719" r:id="rId11"/>
    <p:sldId id="2076137725" r:id="rId12"/>
    <p:sldId id="2076137726" r:id="rId13"/>
    <p:sldId id="2076137727" r:id="rId14"/>
    <p:sldId id="2076137707" r:id="rId15"/>
    <p:sldId id="2076137704" r:id="rId16"/>
    <p:sldId id="2076137721" r:id="rId17"/>
    <p:sldId id="2076137723" r:id="rId18"/>
    <p:sldId id="207613772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DFE0A-DF80-3E30-C204-25B1D5565698}" name="Alejandra Bravo Garcia" initials="AG" userId="S::alejandra.bravo@ipss.cl::4cf5125d-f567-4a98-9bb5-4ea9ae908f01" providerId="AD"/>
  <p188:author id="{DFC5AA2A-7322-24C3-9B68-AD7395C41981}" name="Alejandra Bravo Garcia" initials="AG" userId="S::abravo@ciisa.cl::4cf5125d-f567-4a98-9bb5-4ea9ae908f01" providerId="AD"/>
  <p188:author id="{ED6C565C-96F3-95F4-3EAF-1F06D7DCD0EB}" name="Jorge Alejandro Bravo Pizarro" initials="" userId="S::jbravo@ciisa.cl::866f4d59-4e3d-4420-8a8b-3d6ddbb5c639" providerId="AD"/>
  <p188:author id="{56A303EC-24C9-A366-E7A3-68AFB5B8C733}" name="Lorena Massone Bresler" initials="LM" userId="S::lmassone@ciisa.cl::02953e08-4597-4d31-a081-9f68326755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073"/>
    <a:srgbClr val="00263E"/>
    <a:srgbClr val="798998"/>
    <a:srgbClr val="3C3C3B"/>
    <a:srgbClr val="C7AC7A"/>
    <a:srgbClr val="102B42"/>
    <a:srgbClr val="304B61"/>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EEEC12-C7CF-274E-1C7E-7D453762990F}" v="2" dt="2025-04-21T16:16:24.87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60"/>
    <p:restoredTop sz="94718"/>
  </p:normalViewPr>
  <p:slideViewPr>
    <p:cSldViewPr snapToGrid="0">
      <p:cViewPr varScale="1">
        <p:scale>
          <a:sx n="78" d="100"/>
          <a:sy n="78" d="100"/>
        </p:scale>
        <p:origin x="754" y="67"/>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Bravo Garcia" userId="S::alejandra.bravo@ipss.cl::4cf5125d-f567-4a98-9bb5-4ea9ae908f01" providerId="AD" clId="Web-{21DE5A5D-24A6-5C42-869D-670970D02A56}"/>
    <pc:docChg chg="modSld">
      <pc:chgData name="Alejandra Bravo Garcia" userId="S::alejandra.bravo@ipss.cl::4cf5125d-f567-4a98-9bb5-4ea9ae908f01" providerId="AD" clId="Web-{21DE5A5D-24A6-5C42-869D-670970D02A56}" dt="2024-08-16T08:56:50.452" v="35" actId="1076"/>
      <pc:docMkLst>
        <pc:docMk/>
      </pc:docMkLst>
      <pc:sldChg chg="modSp">
        <pc:chgData name="Alejandra Bravo Garcia" userId="S::alejandra.bravo@ipss.cl::4cf5125d-f567-4a98-9bb5-4ea9ae908f01" providerId="AD" clId="Web-{21DE5A5D-24A6-5C42-869D-670970D02A56}" dt="2024-08-16T08:53:52.651" v="4" actId="1076"/>
        <pc:sldMkLst>
          <pc:docMk/>
          <pc:sldMk cId="3167001994" sldId="2076137705"/>
        </pc:sldMkLst>
        <pc:spChg chg="mod">
          <ac:chgData name="Alejandra Bravo Garcia" userId="S::alejandra.bravo@ipss.cl::4cf5125d-f567-4a98-9bb5-4ea9ae908f01" providerId="AD" clId="Web-{21DE5A5D-24A6-5C42-869D-670970D02A56}" dt="2024-08-16T08:53:52.651" v="4" actId="1076"/>
          <ac:spMkLst>
            <pc:docMk/>
            <pc:sldMk cId="3167001994" sldId="2076137705"/>
            <ac:spMk id="2" creationId="{972BB412-0761-08C0-91B5-7D184FDF0428}"/>
          </ac:spMkLst>
        </pc:spChg>
        <pc:spChg chg="mod">
          <ac:chgData name="Alejandra Bravo Garcia" userId="S::alejandra.bravo@ipss.cl::4cf5125d-f567-4a98-9bb5-4ea9ae908f01" providerId="AD" clId="Web-{21DE5A5D-24A6-5C42-869D-670970D02A56}" dt="2024-08-16T08:53:37.603" v="1" actId="1076"/>
          <ac:spMkLst>
            <pc:docMk/>
            <pc:sldMk cId="3167001994" sldId="2076137705"/>
            <ac:spMk id="3" creationId="{317770C8-A12B-436B-AB8E-9FC2932E0DB7}"/>
          </ac:spMkLst>
        </pc:spChg>
      </pc:sldChg>
      <pc:sldChg chg="modSp">
        <pc:chgData name="Alejandra Bravo Garcia" userId="S::alejandra.bravo@ipss.cl::4cf5125d-f567-4a98-9bb5-4ea9ae908f01" providerId="AD" clId="Web-{21DE5A5D-24A6-5C42-869D-670970D02A56}" dt="2024-08-16T08:54:43.886" v="15" actId="1076"/>
        <pc:sldMkLst>
          <pc:docMk/>
          <pc:sldMk cId="2328334949" sldId="2076137706"/>
        </pc:sldMkLst>
        <pc:spChg chg="mod">
          <ac:chgData name="Alejandra Bravo Garcia" userId="S::alejandra.bravo@ipss.cl::4cf5125d-f567-4a98-9bb5-4ea9ae908f01" providerId="AD" clId="Web-{21DE5A5D-24A6-5C42-869D-670970D02A56}" dt="2024-08-16T08:54:43.886" v="15" actId="1076"/>
          <ac:spMkLst>
            <pc:docMk/>
            <pc:sldMk cId="2328334949" sldId="2076137706"/>
            <ac:spMk id="2" creationId="{B6EFDCBE-E499-3103-92A5-28F5D6427A64}"/>
          </ac:spMkLst>
        </pc:spChg>
        <pc:spChg chg="mod">
          <ac:chgData name="Alejandra Bravo Garcia" userId="S::alejandra.bravo@ipss.cl::4cf5125d-f567-4a98-9bb5-4ea9ae908f01" providerId="AD" clId="Web-{21DE5A5D-24A6-5C42-869D-670970D02A56}" dt="2024-08-16T08:54:33.480" v="13" actId="1076"/>
          <ac:spMkLst>
            <pc:docMk/>
            <pc:sldMk cId="2328334949" sldId="2076137706"/>
            <ac:spMk id="3" creationId="{E13EDA60-EA13-DE58-247C-0BA1927DF33E}"/>
          </ac:spMkLst>
        </pc:spChg>
      </pc:sldChg>
      <pc:sldChg chg="modSp">
        <pc:chgData name="Alejandra Bravo Garcia" userId="S::alejandra.bravo@ipss.cl::4cf5125d-f567-4a98-9bb5-4ea9ae908f01" providerId="AD" clId="Web-{21DE5A5D-24A6-5C42-869D-670970D02A56}" dt="2024-08-16T08:55:40.028" v="24" actId="14100"/>
        <pc:sldMkLst>
          <pc:docMk/>
          <pc:sldMk cId="3631252662" sldId="2076137712"/>
        </pc:sldMkLst>
        <pc:spChg chg="mod">
          <ac:chgData name="Alejandra Bravo Garcia" userId="S::alejandra.bravo@ipss.cl::4cf5125d-f567-4a98-9bb5-4ea9ae908f01" providerId="AD" clId="Web-{21DE5A5D-24A6-5C42-869D-670970D02A56}" dt="2024-08-16T08:55:36.950" v="23" actId="1076"/>
          <ac:spMkLst>
            <pc:docMk/>
            <pc:sldMk cId="3631252662" sldId="2076137712"/>
            <ac:spMk id="2" creationId="{E0B74C9C-032E-5215-271E-7472146DFFC5}"/>
          </ac:spMkLst>
        </pc:spChg>
        <pc:picChg chg="mod modCrop">
          <ac:chgData name="Alejandra Bravo Garcia" userId="S::alejandra.bravo@ipss.cl::4cf5125d-f567-4a98-9bb5-4ea9ae908f01" providerId="AD" clId="Web-{21DE5A5D-24A6-5C42-869D-670970D02A56}" dt="2024-08-16T08:55:40.028" v="24" actId="14100"/>
          <ac:picMkLst>
            <pc:docMk/>
            <pc:sldMk cId="3631252662" sldId="2076137712"/>
            <ac:picMk id="3" creationId="{7A93EF4C-7168-60FF-95DE-F0482BABA323}"/>
          </ac:picMkLst>
        </pc:picChg>
      </pc:sldChg>
      <pc:sldChg chg="modSp">
        <pc:chgData name="Alejandra Bravo Garcia" userId="S::alejandra.bravo@ipss.cl::4cf5125d-f567-4a98-9bb5-4ea9ae908f01" providerId="AD" clId="Web-{21DE5A5D-24A6-5C42-869D-670970D02A56}" dt="2024-08-16T08:56:50.452" v="35" actId="1076"/>
        <pc:sldMkLst>
          <pc:docMk/>
          <pc:sldMk cId="1816019646" sldId="2076137722"/>
        </pc:sldMkLst>
        <pc:picChg chg="mod modCrop">
          <ac:chgData name="Alejandra Bravo Garcia" userId="S::alejandra.bravo@ipss.cl::4cf5125d-f567-4a98-9bb5-4ea9ae908f01" providerId="AD" clId="Web-{21DE5A5D-24A6-5C42-869D-670970D02A56}" dt="2024-08-16T08:56:50.452" v="35" actId="1076"/>
          <ac:picMkLst>
            <pc:docMk/>
            <pc:sldMk cId="1816019646" sldId="2076137722"/>
            <ac:picMk id="4" creationId="{785DA5F0-CAEF-8593-69AA-B1C3609E6BD9}"/>
          </ac:picMkLst>
        </pc:picChg>
      </pc:sldChg>
    </pc:docChg>
  </pc:docChgLst>
  <pc:docChgLst>
    <pc:chgData name="Alejandra Isabel Bravo Garcia" userId="S::alejandra.bravo@ipss.cl::4cf5125d-f567-4a98-9bb5-4ea9ae908f01" providerId="AD" clId="Web-{62EEEC12-C7CF-274E-1C7E-7D453762990F}"/>
    <pc:docChg chg="delSld">
      <pc:chgData name="Alejandra Isabel Bravo Garcia" userId="S::alejandra.bravo@ipss.cl::4cf5125d-f567-4a98-9bb5-4ea9ae908f01" providerId="AD" clId="Web-{62EEEC12-C7CF-274E-1C7E-7D453762990F}" dt="2025-04-21T16:16:24.873" v="1"/>
      <pc:docMkLst>
        <pc:docMk/>
      </pc:docMkLst>
      <pc:sldChg chg="del">
        <pc:chgData name="Alejandra Isabel Bravo Garcia" userId="S::alejandra.bravo@ipss.cl::4cf5125d-f567-4a98-9bb5-4ea9ae908f01" providerId="AD" clId="Web-{62EEEC12-C7CF-274E-1C7E-7D453762990F}" dt="2025-04-21T16:16:20.373" v="0"/>
        <pc:sldMkLst>
          <pc:docMk/>
          <pc:sldMk cId="694389719" sldId="2076137709"/>
        </pc:sldMkLst>
      </pc:sldChg>
      <pc:sldChg chg="del">
        <pc:chgData name="Alejandra Isabel Bravo Garcia" userId="S::alejandra.bravo@ipss.cl::4cf5125d-f567-4a98-9bb5-4ea9ae908f01" providerId="AD" clId="Web-{62EEEC12-C7CF-274E-1C7E-7D453762990F}" dt="2025-04-21T16:16:24.873" v="1"/>
        <pc:sldMkLst>
          <pc:docMk/>
          <pc:sldMk cId="2456185182" sldId="207613771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14-09-2025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671790" y="3693852"/>
            <a:ext cx="8109115" cy="860250"/>
          </a:xfrm>
        </p:spPr>
        <p:txBody>
          <a:bodyPr>
            <a:noAutofit/>
          </a:bodyPr>
          <a:lstStyle/>
          <a:p>
            <a:r>
              <a:rPr lang="es-MX" sz="4000" b="0" dirty="0">
                <a:latin typeface="Gotham"/>
              </a:rPr>
              <a:t>Aplicación y Automatización de Pruebas en el Desarrollo de Software</a:t>
            </a:r>
            <a:endParaRPr lang="es-ES" sz="4000" dirty="0">
              <a:latin typeface="Gotham"/>
            </a:endParaRPr>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493483" y="5849477"/>
            <a:ext cx="5113194" cy="635654"/>
          </a:xfrm>
        </p:spPr>
        <p:txBody>
          <a:bodyPr vert="horz" lIns="0" tIns="45720" rIns="0" bIns="45720" rtlCol="0" anchor="t">
            <a:noAutofit/>
          </a:bodyPr>
          <a:lstStyle/>
          <a:p>
            <a:r>
              <a:rPr lang="es-MX" sz="2400">
                <a:latin typeface="Gotham"/>
              </a:rPr>
              <a:t>Sesión sincrónica </a:t>
            </a:r>
          </a:p>
        </p:txBody>
      </p:sp>
    </p:spTree>
    <p:extLst>
      <p:ext uri="{BB962C8B-B14F-4D97-AF65-F5344CB8AC3E}">
        <p14:creationId xmlns:p14="http://schemas.microsoft.com/office/powerpoint/2010/main" val="316700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4363174" y="218123"/>
            <a:ext cx="5063790" cy="602137"/>
          </a:xfrm>
        </p:spPr>
        <p:txBody>
          <a:bodyPr/>
          <a:lstStyle/>
          <a:p>
            <a:r>
              <a:rPr lang="es-ES">
                <a:latin typeface="Gotham"/>
              </a:rPr>
              <a:t>ÍNDICE</a:t>
            </a:r>
            <a:endParaRPr lang="es-ES"/>
          </a:p>
        </p:txBody>
      </p:sp>
      <p:sp>
        <p:nvSpPr>
          <p:cNvPr id="3" name="CuadroTexto 2">
            <a:extLst>
              <a:ext uri="{FF2B5EF4-FFF2-40B4-BE49-F238E27FC236}">
                <a16:creationId xmlns:a16="http://schemas.microsoft.com/office/drawing/2014/main" id="{E13EDA60-EA13-DE58-247C-0BA1927DF33E}"/>
              </a:ext>
            </a:extLst>
          </p:cNvPr>
          <p:cNvSpPr txBox="1"/>
          <p:nvPr/>
        </p:nvSpPr>
        <p:spPr>
          <a:xfrm>
            <a:off x="3884236" y="1968946"/>
            <a:ext cx="7499927" cy="3170099"/>
          </a:xfrm>
          <a:prstGeom prst="rect">
            <a:avLst/>
          </a:prstGeom>
          <a:solidFill>
            <a:schemeClr val="bg1"/>
          </a:solidFill>
        </p:spPr>
        <p:txBody>
          <a:bodyPr wrap="square" lIns="91440" tIns="45720" rIns="91440" bIns="45720" rtlCol="0" anchor="t">
            <a:spAutoFit/>
          </a:bodyPr>
          <a:lstStyle/>
          <a:p>
            <a:pPr marL="285750" indent="-285750">
              <a:buFont typeface="Arial" panose="020B0604020202020204" pitchFamily="34" charset="0"/>
              <a:buChar char="•"/>
            </a:pPr>
            <a:r>
              <a:rPr lang="es-MX" sz="2000" dirty="0">
                <a:solidFill>
                  <a:srgbClr val="102B42"/>
                </a:solidFill>
              </a:rPr>
              <a:t>Tema 1: </a:t>
            </a:r>
            <a:r>
              <a:rPr lang="es-MX" sz="2000" b="1" dirty="0">
                <a:solidFill>
                  <a:srgbClr val="102B42"/>
                </a:solidFill>
                <a:latin typeface="Calibri"/>
                <a:ea typeface="Calibri"/>
                <a:cs typeface="Calibri"/>
              </a:rPr>
              <a:t>mapa conceptual </a:t>
            </a:r>
            <a:endParaRPr lang="es-MX" sz="2000" dirty="0">
              <a:solidFill>
                <a:srgbClr val="102B42"/>
              </a:solidFill>
            </a:endParaRPr>
          </a:p>
          <a:p>
            <a:endParaRPr lang="es-MX" sz="2000" b="1" dirty="0">
              <a:solidFill>
                <a:srgbClr val="102B42"/>
              </a:solidFill>
              <a:cs typeface="Calibri"/>
            </a:endParaRPr>
          </a:p>
          <a:p>
            <a:pPr marL="285750" indent="-285750">
              <a:buFont typeface="Arial" panose="020B0604020202020204" pitchFamily="34" charset="0"/>
              <a:buChar char="•"/>
            </a:pPr>
            <a:r>
              <a:rPr lang="es-MX" sz="2000" dirty="0">
                <a:solidFill>
                  <a:srgbClr val="102B42"/>
                </a:solidFill>
              </a:rPr>
              <a:t>Tema 2: </a:t>
            </a:r>
            <a:r>
              <a:rPr lang="es-MX" sz="2000" b="1" i="0" u="none" strike="noStrike" dirty="0">
                <a:solidFill>
                  <a:srgbClr val="102B42"/>
                </a:solidFill>
                <a:effectLst/>
                <a:latin typeface="Calibri"/>
                <a:cs typeface="Calibri"/>
              </a:rPr>
              <a:t>retroalimentación</a:t>
            </a:r>
            <a:r>
              <a:rPr lang="es-MX" sz="2000" b="1" dirty="0">
                <a:solidFill>
                  <a:srgbClr val="102B42"/>
                </a:solidFill>
                <a:latin typeface="Calibri"/>
                <a:cs typeface="Calibri"/>
              </a:rPr>
              <a:t> preguntas del apunte</a:t>
            </a:r>
            <a:endParaRPr lang="es-MX" sz="2000" dirty="0">
              <a:solidFill>
                <a:srgbClr val="102B42"/>
              </a:solidFill>
              <a:latin typeface="Calibri"/>
              <a:cs typeface="Calibri"/>
            </a:endParaRPr>
          </a:p>
          <a:p>
            <a:endParaRPr lang="es-MX" sz="2000" dirty="0">
              <a:solidFill>
                <a:srgbClr val="496073"/>
              </a:solidFill>
            </a:endParaRPr>
          </a:p>
          <a:p>
            <a:pPr marL="285750" indent="-285750">
              <a:buFont typeface="Arial" panose="020B0604020202020204" pitchFamily="34" charset="0"/>
              <a:buChar char="•"/>
            </a:pPr>
            <a:r>
              <a:rPr lang="es-MX" sz="2000" dirty="0">
                <a:solidFill>
                  <a:srgbClr val="102B42"/>
                </a:solidFill>
              </a:rPr>
              <a:t>Tema 3: </a:t>
            </a:r>
            <a:r>
              <a:rPr lang="es-MX" sz="2000" b="1" i="0" u="none" strike="noStrike" dirty="0">
                <a:solidFill>
                  <a:srgbClr val="102B42"/>
                </a:solidFill>
                <a:effectLst/>
                <a:latin typeface="Calibri"/>
                <a:cs typeface="Calibri"/>
              </a:rPr>
              <a:t>retroalimentación preguntas del foro</a:t>
            </a:r>
            <a:endParaRPr lang="es-MX" sz="2000" dirty="0">
              <a:solidFill>
                <a:srgbClr val="102B42"/>
              </a:solidFill>
              <a:latin typeface="Calibri"/>
              <a:cs typeface="Calibri"/>
            </a:endParaRPr>
          </a:p>
          <a:p>
            <a:pPr marL="285750" indent="-285750">
              <a:buFont typeface="Arial" panose="020B0604020202020204" pitchFamily="34" charset="0"/>
              <a:buChar char="•"/>
            </a:pPr>
            <a:endParaRPr lang="es-MX" sz="2000" dirty="0">
              <a:solidFill>
                <a:srgbClr val="102B42"/>
              </a:solidFill>
            </a:endParaRPr>
          </a:p>
          <a:p>
            <a:pPr marL="285750" indent="-285750">
              <a:buFont typeface="Arial" panose="020B0604020202020204" pitchFamily="34" charset="0"/>
              <a:buChar char="•"/>
            </a:pPr>
            <a:r>
              <a:rPr lang="es-MX" sz="2000" dirty="0">
                <a:solidFill>
                  <a:srgbClr val="102B42"/>
                </a:solidFill>
              </a:rPr>
              <a:t>Tema 4: </a:t>
            </a:r>
            <a:r>
              <a:rPr lang="es-MX" sz="2000" b="1" dirty="0">
                <a:solidFill>
                  <a:srgbClr val="102B42"/>
                </a:solidFill>
                <a:latin typeface="Calibri"/>
                <a:cs typeface="Calibri"/>
              </a:rPr>
              <a:t>Taller </a:t>
            </a:r>
            <a:endParaRPr lang="en-US" sz="2000" b="0" i="0" dirty="0">
              <a:solidFill>
                <a:srgbClr val="102B42"/>
              </a:solidFill>
              <a:effectLst/>
              <a:latin typeface="Calibri"/>
              <a:cs typeface="Calibri"/>
            </a:endParaRPr>
          </a:p>
          <a:p>
            <a:pPr marL="285750" indent="-285750">
              <a:buFont typeface="Arial" panose="020B0604020202020204" pitchFamily="34" charset="0"/>
              <a:buChar char="•"/>
            </a:pPr>
            <a:endParaRPr lang="en-US" sz="2000" dirty="0">
              <a:solidFill>
                <a:srgbClr val="102B42"/>
              </a:solidFill>
              <a:latin typeface="Calibri" panose="020F0502020204030204" pitchFamily="34" charset="0"/>
            </a:endParaRPr>
          </a:p>
          <a:p>
            <a:endParaRPr lang="en-US" sz="2000" dirty="0">
              <a:solidFill>
                <a:srgbClr val="102B42"/>
              </a:solidFill>
              <a:latin typeface="Calibri" panose="020F0502020204030204" pitchFamily="34" charset="0"/>
            </a:endParaRPr>
          </a:p>
          <a:p>
            <a:pPr marL="285750" indent="-285750">
              <a:buFont typeface="Arial" panose="020B0604020202020204" pitchFamily="34" charset="0"/>
              <a:buChar char="•"/>
            </a:pPr>
            <a:endParaRPr lang="es-CL" sz="2000" dirty="0"/>
          </a:p>
        </p:txBody>
      </p:sp>
    </p:spTree>
    <p:extLst>
      <p:ext uri="{BB962C8B-B14F-4D97-AF65-F5344CB8AC3E}">
        <p14:creationId xmlns:p14="http://schemas.microsoft.com/office/powerpoint/2010/main" val="2328334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4437733" y="154316"/>
            <a:ext cx="6144238" cy="602137"/>
          </a:xfrm>
        </p:spPr>
        <p:txBody>
          <a:bodyPr/>
          <a:lstStyle/>
          <a:p>
            <a:r>
              <a:rPr lang="es-ES">
                <a:solidFill>
                  <a:srgbClr val="00263E"/>
                </a:solidFill>
                <a:latin typeface="Gotham"/>
              </a:rPr>
              <a:t>Resumen unidad</a:t>
            </a:r>
          </a:p>
        </p:txBody>
      </p:sp>
      <p:pic>
        <p:nvPicPr>
          <p:cNvPr id="3" name="Imagen 2">
            <a:extLst>
              <a:ext uri="{FF2B5EF4-FFF2-40B4-BE49-F238E27FC236}">
                <a16:creationId xmlns:a16="http://schemas.microsoft.com/office/drawing/2014/main" id="{7A93EF4C-7168-60FF-95DE-F0482BABA323}"/>
              </a:ext>
            </a:extLst>
          </p:cNvPr>
          <p:cNvPicPr>
            <a:picLocks noChangeAspect="1"/>
          </p:cNvPicPr>
          <p:nvPr/>
        </p:nvPicPr>
        <p:blipFill>
          <a:blip r:embed="rId2"/>
          <a:srcRect t="8269" r="1890" b="2273"/>
          <a:stretch/>
        </p:blipFill>
        <p:spPr>
          <a:xfrm>
            <a:off x="0" y="892571"/>
            <a:ext cx="12194407" cy="5643328"/>
          </a:xfrm>
          <a:prstGeom prst="rect">
            <a:avLst/>
          </a:prstGeom>
        </p:spPr>
      </p:pic>
    </p:spTree>
    <p:extLst>
      <p:ext uri="{BB962C8B-B14F-4D97-AF65-F5344CB8AC3E}">
        <p14:creationId xmlns:p14="http://schemas.microsoft.com/office/powerpoint/2010/main" val="363125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85DA5F0-CAEF-8593-69AA-B1C3609E6BD9}"/>
              </a:ext>
            </a:extLst>
          </p:cNvPr>
          <p:cNvPicPr>
            <a:picLocks noChangeAspect="1"/>
          </p:cNvPicPr>
          <p:nvPr/>
        </p:nvPicPr>
        <p:blipFill>
          <a:blip r:embed="rId2"/>
          <a:srcRect l="740" t="3525" r="1233" b="2164"/>
          <a:stretch/>
        </p:blipFill>
        <p:spPr>
          <a:xfrm>
            <a:off x="1481799" y="745572"/>
            <a:ext cx="9626367" cy="5796116"/>
          </a:xfrm>
          <a:prstGeom prst="rect">
            <a:avLst/>
          </a:prstGeom>
        </p:spPr>
      </p:pic>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491256" y="324913"/>
            <a:ext cx="10113461" cy="602137"/>
          </a:xfrm>
        </p:spPr>
        <p:txBody>
          <a:bodyPr/>
          <a:lstStyle/>
          <a:p>
            <a:r>
              <a:rPr lang="es-ES">
                <a:solidFill>
                  <a:srgbClr val="00263E"/>
                </a:solidFill>
                <a:latin typeface="Gotham"/>
              </a:rPr>
              <a:t>Resumen unidad</a:t>
            </a:r>
          </a:p>
        </p:txBody>
      </p:sp>
    </p:spTree>
    <p:extLst>
      <p:ext uri="{BB962C8B-B14F-4D97-AF65-F5344CB8AC3E}">
        <p14:creationId xmlns:p14="http://schemas.microsoft.com/office/powerpoint/2010/main" val="1816019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3052619" y="2843772"/>
            <a:ext cx="7795490" cy="1744716"/>
          </a:xfrm>
        </p:spPr>
        <p:txBody>
          <a:bodyPr/>
          <a:lstStyle/>
          <a:p>
            <a:r>
              <a:rPr lang="es-MX"/>
              <a:t>Fase de retroalimentación</a:t>
            </a:r>
          </a:p>
        </p:txBody>
      </p:sp>
    </p:spTree>
    <p:extLst>
      <p:ext uri="{BB962C8B-B14F-4D97-AF65-F5344CB8AC3E}">
        <p14:creationId xmlns:p14="http://schemas.microsoft.com/office/powerpoint/2010/main" val="829328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180908" y="313870"/>
            <a:ext cx="10113461" cy="602137"/>
          </a:xfrm>
        </p:spPr>
        <p:txBody>
          <a:bodyPr/>
          <a:lstStyle/>
          <a:p>
            <a:r>
              <a:rPr lang="es-ES">
                <a:solidFill>
                  <a:srgbClr val="00263E"/>
                </a:solidFill>
                <a:latin typeface="Gotham"/>
              </a:rPr>
              <a:t>Apunte activador de aprendizaje</a:t>
            </a:r>
            <a:endParaRPr lang="es-ES">
              <a:solidFill>
                <a:srgbClr val="00263E"/>
              </a:solidFill>
            </a:endParaRPr>
          </a:p>
        </p:txBody>
      </p:sp>
      <p:sp>
        <p:nvSpPr>
          <p:cNvPr id="7" name="CuadroTexto 6">
            <a:extLst>
              <a:ext uri="{FF2B5EF4-FFF2-40B4-BE49-F238E27FC236}">
                <a16:creationId xmlns:a16="http://schemas.microsoft.com/office/drawing/2014/main" id="{BC28F638-7AE5-2D6B-8A0B-D6FCECADB96D}"/>
              </a:ext>
            </a:extLst>
          </p:cNvPr>
          <p:cNvSpPr txBox="1"/>
          <p:nvPr/>
        </p:nvSpPr>
        <p:spPr>
          <a:xfrm>
            <a:off x="168904" y="1443841"/>
            <a:ext cx="11854192" cy="3970318"/>
          </a:xfrm>
          <a:prstGeom prst="rect">
            <a:avLst/>
          </a:prstGeom>
          <a:noFill/>
        </p:spPr>
        <p:txBody>
          <a:bodyPr wrap="square" rtlCol="0">
            <a:spAutoFit/>
          </a:bodyPr>
          <a:lstStyle/>
          <a:p>
            <a:pPr marL="285750" indent="-285750" algn="just">
              <a:buFont typeface="Arial" panose="020B0604020202020204" pitchFamily="34" charset="0"/>
              <a:buChar char="•"/>
            </a:pPr>
            <a:r>
              <a:rPr lang="es-ES" dirty="0"/>
              <a:t>¿Cómo podría beneficiar la integración continua (CI) y la entrega continua (CD) en la detección y corrección rápida de defectos en un proyecto de desarrollo de software?</a:t>
            </a:r>
          </a:p>
          <a:p>
            <a:pPr marL="285750" indent="-285750" algn="just">
              <a:buFont typeface="Arial" panose="020B0604020202020204" pitchFamily="34" charset="0"/>
              <a:buChar char="•"/>
            </a:pPr>
            <a:r>
              <a:rPr lang="es-ES" dirty="0"/>
              <a:t>¿Quién fue la persona que popularizó el término "bug" en el contexto informático en 1947?</a:t>
            </a:r>
          </a:p>
          <a:p>
            <a:pPr marL="285750" indent="-285750" algn="just">
              <a:buFont typeface="Arial" panose="020B0604020202020204" pitchFamily="34" charset="0"/>
              <a:buChar char="•"/>
            </a:pPr>
            <a:r>
              <a:rPr lang="es-ES" dirty="0"/>
              <a:t>¿Cuáles son los tipos principales de pruebas de software utilizadas para identificar defectos y en qué etapas del desarrollo se aplican? </a:t>
            </a:r>
          </a:p>
          <a:p>
            <a:pPr marL="285750" indent="-285750" algn="just">
              <a:buFont typeface="Arial" panose="020B0604020202020204" pitchFamily="34" charset="0"/>
              <a:buChar char="•"/>
            </a:pPr>
            <a:r>
              <a:rPr lang="es-ES" dirty="0"/>
              <a:t>Compara el ciclo de vida de un defecto en metodologías Agile versus </a:t>
            </a:r>
            <a:r>
              <a:rPr lang="es-ES" dirty="0" err="1"/>
              <a:t>Waterfall</a:t>
            </a:r>
            <a:r>
              <a:rPr lang="es-ES" dirty="0"/>
              <a:t>. ¿En qué aspectos difieren y cómo influye esto en la gestión de defectos?</a:t>
            </a:r>
          </a:p>
          <a:p>
            <a:pPr marL="285750" indent="-285750" algn="just">
              <a:buFont typeface="Arial" panose="020B0604020202020204" pitchFamily="34" charset="0"/>
              <a:buChar char="•"/>
            </a:pPr>
            <a:r>
              <a:rPr lang="es-ES" dirty="0"/>
              <a:t>¿Cómo definirías la fase de "Análisis" dentro del ciclo de vida de un defecto? ¿Cuál es su propósito principal en el proceso de desarrollo de software?</a:t>
            </a:r>
          </a:p>
          <a:p>
            <a:pPr marL="285750" indent="-285750" algn="just">
              <a:buFont typeface="Arial" panose="020B0604020202020204" pitchFamily="34" charset="0"/>
              <a:buChar char="•"/>
            </a:pPr>
            <a:r>
              <a:rPr lang="es-ES" dirty="0"/>
              <a:t>Mencione un ejemplo de un error que se puede detectar con mayor facilidad mediante pruebas manuales que con pruebas automatizadas.</a:t>
            </a:r>
          </a:p>
          <a:p>
            <a:pPr marL="285750" indent="-285750" algn="just">
              <a:buFont typeface="Arial" panose="020B0604020202020204" pitchFamily="34" charset="0"/>
              <a:buChar char="•"/>
            </a:pPr>
            <a:r>
              <a:rPr lang="es-ES" dirty="0"/>
              <a:t>"La primera etapa del proceso de aplicación de las pruebas manuales es la ejecución de los casos de prueba." (Verdadero o Falso)</a:t>
            </a:r>
          </a:p>
          <a:p>
            <a:pPr algn="just"/>
            <a:endParaRPr lang="es-ES" dirty="0"/>
          </a:p>
        </p:txBody>
      </p:sp>
    </p:spTree>
    <p:extLst>
      <p:ext uri="{BB962C8B-B14F-4D97-AF65-F5344CB8AC3E}">
        <p14:creationId xmlns:p14="http://schemas.microsoft.com/office/powerpoint/2010/main" val="3308352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921951" y="302827"/>
            <a:ext cx="10113461" cy="602137"/>
          </a:xfrm>
        </p:spPr>
        <p:txBody>
          <a:bodyPr/>
          <a:lstStyle/>
          <a:p>
            <a:r>
              <a:rPr lang="es-ES">
                <a:solidFill>
                  <a:srgbClr val="00263E"/>
                </a:solidFill>
                <a:latin typeface="Gotham"/>
              </a:rPr>
              <a:t>Foro crítico reflexivo</a:t>
            </a:r>
            <a:endParaRPr lang="es-ES">
              <a:solidFill>
                <a:srgbClr val="00263E"/>
              </a:solidFill>
            </a:endParaRPr>
          </a:p>
        </p:txBody>
      </p:sp>
      <p:sp>
        <p:nvSpPr>
          <p:cNvPr id="7" name="CuadroTexto 6">
            <a:extLst>
              <a:ext uri="{FF2B5EF4-FFF2-40B4-BE49-F238E27FC236}">
                <a16:creationId xmlns:a16="http://schemas.microsoft.com/office/drawing/2014/main" id="{BC28F638-7AE5-2D6B-8A0B-D6FCECADB96D}"/>
              </a:ext>
            </a:extLst>
          </p:cNvPr>
          <p:cNvSpPr txBox="1"/>
          <p:nvPr/>
        </p:nvSpPr>
        <p:spPr>
          <a:xfrm>
            <a:off x="411165" y="1937578"/>
            <a:ext cx="11135032" cy="1754326"/>
          </a:xfrm>
          <a:prstGeom prst="rect">
            <a:avLst/>
          </a:prstGeom>
          <a:noFill/>
        </p:spPr>
        <p:txBody>
          <a:bodyPr wrap="square" rtlCol="0">
            <a:spAutoFit/>
          </a:bodyPr>
          <a:lstStyle/>
          <a:p>
            <a:r>
              <a:rPr lang="es-MX" sz="1800" b="1" i="1" dirty="0">
                <a:effectLst/>
                <a:latin typeface="Arial" panose="020B0604020202020204" pitchFamily="34" charset="0"/>
                <a:ea typeface="Arial" panose="020B0604020202020204" pitchFamily="34" charset="0"/>
                <a:cs typeface="Cambria" panose="02040503050406030204" pitchFamily="18" charset="0"/>
              </a:rPr>
              <a:t>	1.	En tu experiencia, ¿cuáles son los desafíos más comunes que enfrentas al ejecutar casos de prueba manualmente y cómo los superas?</a:t>
            </a:r>
            <a:endParaRPr lang="es-CL" sz="1800" dirty="0">
              <a:effectLst/>
              <a:latin typeface="Cambria" panose="02040503050406030204" pitchFamily="18" charset="0"/>
              <a:ea typeface="Cambria" panose="02040503050406030204" pitchFamily="18" charset="0"/>
              <a:cs typeface="Cambria" panose="02040503050406030204" pitchFamily="18" charset="0"/>
            </a:endParaRPr>
          </a:p>
          <a:p>
            <a:r>
              <a:rPr lang="es-MX" sz="1800" b="1" i="1" dirty="0">
                <a:effectLst/>
                <a:latin typeface="Arial" panose="020B0604020202020204" pitchFamily="34" charset="0"/>
                <a:ea typeface="Arial" panose="020B0604020202020204" pitchFamily="34" charset="0"/>
                <a:cs typeface="Cambria" panose="02040503050406030204" pitchFamily="18" charset="0"/>
              </a:rPr>
              <a:t>	2.	Cuando encuentras un error durante una prueba manual, ¿qué criterios sigues para asegurar que tu registro sea claro y útil para el equipo de desarrollo?</a:t>
            </a:r>
            <a:endParaRPr lang="es-CL" sz="1800" dirty="0">
              <a:effectLst/>
              <a:latin typeface="Cambria" panose="02040503050406030204" pitchFamily="18" charset="0"/>
              <a:ea typeface="Cambria" panose="02040503050406030204" pitchFamily="18" charset="0"/>
              <a:cs typeface="Cambria" panose="02040503050406030204" pitchFamily="18" charset="0"/>
            </a:endParaRPr>
          </a:p>
          <a:p>
            <a:r>
              <a:rPr lang="es-MX" sz="1800" b="1" i="1" dirty="0">
                <a:effectLst/>
                <a:latin typeface="Arial" panose="020B0604020202020204" pitchFamily="34" charset="0"/>
                <a:ea typeface="Arial" panose="020B0604020202020204" pitchFamily="34" charset="0"/>
                <a:cs typeface="Cambria" panose="02040503050406030204" pitchFamily="18" charset="0"/>
              </a:rPr>
              <a:t>	3.	Discute una situación en la que aplicar técnicas de exploración del software te permitió descubrir un fallo crítico. ¿Qué pasos seguiste y qué impacto tuvo en el proyecto?</a:t>
            </a:r>
            <a:endParaRPr lang="es-CL" sz="1800" dirty="0">
              <a:effectLst/>
              <a:latin typeface="Cambria" panose="02040503050406030204" pitchFamily="18" charset="0"/>
              <a:ea typeface="Cambria" panose="02040503050406030204" pitchFamily="18" charset="0"/>
              <a:cs typeface="Cambria" panose="02040503050406030204" pitchFamily="18" charset="0"/>
            </a:endParaRPr>
          </a:p>
        </p:txBody>
      </p:sp>
    </p:spTree>
    <p:extLst>
      <p:ext uri="{BB962C8B-B14F-4D97-AF65-F5344CB8AC3E}">
        <p14:creationId xmlns:p14="http://schemas.microsoft.com/office/powerpoint/2010/main" val="2869556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078539" y="302827"/>
            <a:ext cx="10113461" cy="602137"/>
          </a:xfrm>
        </p:spPr>
        <p:txBody>
          <a:bodyPr/>
          <a:lstStyle/>
          <a:p>
            <a:r>
              <a:rPr lang="es-ES" dirty="0">
                <a:solidFill>
                  <a:srgbClr val="00263E"/>
                </a:solidFill>
                <a:latin typeface="Gotham"/>
              </a:rPr>
              <a:t>Foro crítico reflexivo - Respuesta</a:t>
            </a:r>
            <a:endParaRPr lang="es-ES" dirty="0">
              <a:solidFill>
                <a:srgbClr val="00263E"/>
              </a:solidFill>
            </a:endParaRPr>
          </a:p>
        </p:txBody>
      </p:sp>
      <p:sp>
        <p:nvSpPr>
          <p:cNvPr id="7" name="CuadroTexto 6">
            <a:extLst>
              <a:ext uri="{FF2B5EF4-FFF2-40B4-BE49-F238E27FC236}">
                <a16:creationId xmlns:a16="http://schemas.microsoft.com/office/drawing/2014/main" id="{BC28F638-7AE5-2D6B-8A0B-D6FCECADB96D}"/>
              </a:ext>
            </a:extLst>
          </p:cNvPr>
          <p:cNvSpPr txBox="1"/>
          <p:nvPr/>
        </p:nvSpPr>
        <p:spPr>
          <a:xfrm>
            <a:off x="226108" y="904964"/>
            <a:ext cx="11135032" cy="4247317"/>
          </a:xfrm>
          <a:prstGeom prst="rect">
            <a:avLst/>
          </a:prstGeom>
          <a:noFill/>
        </p:spPr>
        <p:txBody>
          <a:bodyPr wrap="square" rtlCol="0">
            <a:spAutoFit/>
          </a:bodyPr>
          <a:lstStyle/>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a:p>
            <a:r>
              <a:rPr lang="es-MX" sz="1800" b="1" i="1" dirty="0">
                <a:effectLst/>
                <a:latin typeface="Arial" panose="020B0604020202020204" pitchFamily="34" charset="0"/>
                <a:ea typeface="Arial" panose="020B0604020202020204" pitchFamily="34" charset="0"/>
                <a:cs typeface="Cambria" panose="02040503050406030204" pitchFamily="18" charset="0"/>
              </a:rPr>
              <a:t>1.   En tu experiencia, ¿cuáles son los desafíos más comunes que enfrentas al ejecutar casos de prueba manualmente y cómo los superas?  </a:t>
            </a:r>
          </a:p>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a:p>
            <a:r>
              <a:rPr lang="es-MX" sz="1800" b="1" i="1" dirty="0">
                <a:effectLst/>
                <a:latin typeface="Arial" panose="020B0604020202020204" pitchFamily="34" charset="0"/>
                <a:ea typeface="Arial" panose="020B0604020202020204" pitchFamily="34" charset="0"/>
                <a:cs typeface="Cambria" panose="02040503050406030204" pitchFamily="18" charset="0"/>
              </a:rPr>
              <a:t>     Respuesta:   </a:t>
            </a:r>
          </a:p>
          <a:p>
            <a:r>
              <a:rPr lang="es-MX" sz="1800" b="1" i="1" dirty="0">
                <a:effectLst/>
                <a:latin typeface="Arial" panose="020B0604020202020204" pitchFamily="34" charset="0"/>
                <a:ea typeface="Arial" panose="020B0604020202020204" pitchFamily="34" charset="0"/>
                <a:cs typeface="Cambria" panose="02040503050406030204" pitchFamily="18" charset="0"/>
              </a:rPr>
              <a:t>Uno de los desafíos más comunes al ejecutar casos de prueba manualmente es la repetitividad y el tedio que pueden llevar a errores humanos, como la omisión de pasos importantes o la falta de atención a detalles críticos. Otro desafío es la limitación en el alcance de las pruebas debido a la cantidad de tiempo disponible, lo que puede llevar a una cobertura de pruebas insuficiente. Para superar estos desafíos, adopto un enfoque sistemático, utilizando listas de verificación y guías detalladas para asegurarme de que sigo todos los pasos correctamente. Además, divido las sesiones de prueba en bloques más pequeños con descansos intermedios para mantener la concentración. También priorizo los casos de prueba según su criticidad, asegurando que las funcionalidades más importantes sean probadas exhaustivamente.</a:t>
            </a:r>
          </a:p>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p:txBody>
      </p:sp>
    </p:spTree>
    <p:extLst>
      <p:ext uri="{BB962C8B-B14F-4D97-AF65-F5344CB8AC3E}">
        <p14:creationId xmlns:p14="http://schemas.microsoft.com/office/powerpoint/2010/main" val="3049495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078539" y="226627"/>
            <a:ext cx="10113461" cy="602137"/>
          </a:xfrm>
        </p:spPr>
        <p:txBody>
          <a:bodyPr/>
          <a:lstStyle/>
          <a:p>
            <a:r>
              <a:rPr lang="es-ES" dirty="0">
                <a:solidFill>
                  <a:srgbClr val="00263E"/>
                </a:solidFill>
                <a:latin typeface="Gotham"/>
              </a:rPr>
              <a:t>Foro crítico reflexivo - Respuesta</a:t>
            </a:r>
            <a:endParaRPr lang="es-ES" dirty="0">
              <a:solidFill>
                <a:srgbClr val="00263E"/>
              </a:solidFill>
            </a:endParaRPr>
          </a:p>
        </p:txBody>
      </p:sp>
      <p:sp>
        <p:nvSpPr>
          <p:cNvPr id="7" name="CuadroTexto 6">
            <a:extLst>
              <a:ext uri="{FF2B5EF4-FFF2-40B4-BE49-F238E27FC236}">
                <a16:creationId xmlns:a16="http://schemas.microsoft.com/office/drawing/2014/main" id="{BC28F638-7AE5-2D6B-8A0B-D6FCECADB96D}"/>
              </a:ext>
            </a:extLst>
          </p:cNvPr>
          <p:cNvSpPr txBox="1"/>
          <p:nvPr/>
        </p:nvSpPr>
        <p:spPr>
          <a:xfrm>
            <a:off x="292096" y="1357451"/>
            <a:ext cx="11135032" cy="3693319"/>
          </a:xfrm>
          <a:prstGeom prst="rect">
            <a:avLst/>
          </a:prstGeom>
          <a:noFill/>
        </p:spPr>
        <p:txBody>
          <a:bodyPr wrap="square" rtlCol="0">
            <a:spAutoFit/>
          </a:bodyPr>
          <a:lstStyle/>
          <a:p>
            <a:r>
              <a:rPr lang="es-MX" sz="1800" b="1" i="1" dirty="0">
                <a:effectLst/>
                <a:latin typeface="Arial" panose="020B0604020202020204" pitchFamily="34" charset="0"/>
                <a:ea typeface="Arial" panose="020B0604020202020204" pitchFamily="34" charset="0"/>
                <a:cs typeface="Cambria" panose="02040503050406030204" pitchFamily="18" charset="0"/>
              </a:rPr>
              <a:t>2.   Cuando encuentras un error durante una prueba manual, ¿qué criterios sigues para asegurar que tu registro sea claro y útil para el equipo de desarrollo?  </a:t>
            </a:r>
          </a:p>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a:p>
            <a:r>
              <a:rPr lang="es-MX" sz="1800" b="1" i="1" dirty="0">
                <a:effectLst/>
                <a:latin typeface="Arial" panose="020B0604020202020204" pitchFamily="34" charset="0"/>
                <a:ea typeface="Arial" panose="020B0604020202020204" pitchFamily="34" charset="0"/>
                <a:cs typeface="Cambria" panose="02040503050406030204" pitchFamily="18" charset="0"/>
              </a:rPr>
              <a:t>     Respuesta:   </a:t>
            </a:r>
          </a:p>
          <a:p>
            <a:r>
              <a:rPr lang="es-MX" sz="1800" b="1" i="1" dirty="0">
                <a:effectLst/>
                <a:latin typeface="Arial" panose="020B0604020202020204" pitchFamily="34" charset="0"/>
                <a:ea typeface="Arial" panose="020B0604020202020204" pitchFamily="34" charset="0"/>
                <a:cs typeface="Cambria" panose="02040503050406030204" pitchFamily="18" charset="0"/>
              </a:rPr>
              <a:t>   Al registrar un error, sigo varios criterios para asegurar que la documentación sea clara y útil. Primero, describo el error de manera detallada, incluyendo el comportamiento esperado y el comportamiento real observado. A continuación, especifico los pasos exactos para reproducir el error, lo que incluye datos de entrada, configuraciones específicas del entorno, y cualquier acción previa que pudiera haber influido en el comportamiento. También indico la gravedad del error y su impacto en el sistema, lo que ayuda al equipo de desarrollo a priorizar su resolución. Finalmente, adjunto capturas de pantalla, logs, o cualquier otra evidencia que pueda facilitar la comprensión del problema.</a:t>
            </a:r>
          </a:p>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p:txBody>
      </p:sp>
    </p:spTree>
    <p:extLst>
      <p:ext uri="{BB962C8B-B14F-4D97-AF65-F5344CB8AC3E}">
        <p14:creationId xmlns:p14="http://schemas.microsoft.com/office/powerpoint/2010/main" val="3901536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078539" y="302827"/>
            <a:ext cx="10113461" cy="602137"/>
          </a:xfrm>
        </p:spPr>
        <p:txBody>
          <a:bodyPr/>
          <a:lstStyle/>
          <a:p>
            <a:r>
              <a:rPr lang="es-ES" dirty="0">
                <a:solidFill>
                  <a:srgbClr val="00263E"/>
                </a:solidFill>
                <a:latin typeface="Gotham"/>
              </a:rPr>
              <a:t>Foro crítico reflexivo - Respuesta</a:t>
            </a:r>
            <a:endParaRPr lang="es-ES" dirty="0">
              <a:solidFill>
                <a:srgbClr val="00263E"/>
              </a:solidFill>
            </a:endParaRPr>
          </a:p>
        </p:txBody>
      </p:sp>
      <p:sp>
        <p:nvSpPr>
          <p:cNvPr id="7" name="CuadroTexto 6">
            <a:extLst>
              <a:ext uri="{FF2B5EF4-FFF2-40B4-BE49-F238E27FC236}">
                <a16:creationId xmlns:a16="http://schemas.microsoft.com/office/drawing/2014/main" id="{BC28F638-7AE5-2D6B-8A0B-D6FCECADB96D}"/>
              </a:ext>
            </a:extLst>
          </p:cNvPr>
          <p:cNvSpPr txBox="1"/>
          <p:nvPr/>
        </p:nvSpPr>
        <p:spPr>
          <a:xfrm>
            <a:off x="226108" y="1392352"/>
            <a:ext cx="11135032" cy="3139321"/>
          </a:xfrm>
          <a:prstGeom prst="rect">
            <a:avLst/>
          </a:prstGeom>
          <a:noFill/>
        </p:spPr>
        <p:txBody>
          <a:bodyPr wrap="square" rtlCol="0">
            <a:spAutoFit/>
          </a:bodyPr>
          <a:lstStyle/>
          <a:p>
            <a:r>
              <a:rPr lang="es-MX" sz="1800" b="1" i="1" dirty="0">
                <a:effectLst/>
                <a:latin typeface="Arial" panose="020B0604020202020204" pitchFamily="34" charset="0"/>
                <a:ea typeface="Arial" panose="020B0604020202020204" pitchFamily="34" charset="0"/>
                <a:cs typeface="Cambria" panose="02040503050406030204" pitchFamily="18" charset="0"/>
              </a:rPr>
              <a:t>3.   Discute una situación en la que aplicar técnicas de exploración del software te permitió descubrir un fallo crítico. ¿Qué pasos seguiste y qué impacto tuvo en el proyecto?  </a:t>
            </a:r>
          </a:p>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a:p>
            <a:r>
              <a:rPr lang="es-MX" sz="1800" b="1" i="1" dirty="0">
                <a:effectLst/>
                <a:latin typeface="Arial" panose="020B0604020202020204" pitchFamily="34" charset="0"/>
                <a:ea typeface="Arial" panose="020B0604020202020204" pitchFamily="34" charset="0"/>
                <a:cs typeface="Cambria" panose="02040503050406030204" pitchFamily="18" charset="0"/>
              </a:rPr>
              <a:t>     Respuesta:   </a:t>
            </a:r>
          </a:p>
          <a:p>
            <a:r>
              <a:rPr lang="es-MX" sz="1800" b="1" i="1" dirty="0">
                <a:effectLst/>
                <a:latin typeface="Arial" panose="020B0604020202020204" pitchFamily="34" charset="0"/>
                <a:ea typeface="Arial" panose="020B0604020202020204" pitchFamily="34" charset="0"/>
                <a:cs typeface="Cambria" panose="02040503050406030204" pitchFamily="18" charset="0"/>
              </a:rPr>
              <a:t>   En una ocasión, durante la fase de pruebas de una aplicación de comercio electrónico, apliqué técnicas de exploración para verificar la funcionalidad de pago en un entorno que no estaba cubierto por los casos de prueba predefinidos. Decidí probar diferentes combinaciones de métodos de pago y tipos de productos, y descubrí que al seleccionar una opción de pago específico en combinación con un tipo de descuento, la aplicación permitía que la transacción se completara sin aplicar el descuento correctamente, lo que resultaba en un cobro incorrecto al cliente.</a:t>
            </a:r>
          </a:p>
          <a:p>
            <a:endParaRPr lang="es-MX" sz="1800" b="1" i="1" dirty="0">
              <a:effectLst/>
              <a:latin typeface="Arial" panose="020B0604020202020204" pitchFamily="34" charset="0"/>
              <a:ea typeface="Arial" panose="020B0604020202020204" pitchFamily="34" charset="0"/>
              <a:cs typeface="Cambria" panose="02040503050406030204" pitchFamily="18" charset="0"/>
            </a:endParaRPr>
          </a:p>
        </p:txBody>
      </p:sp>
    </p:spTree>
    <p:extLst>
      <p:ext uri="{BB962C8B-B14F-4D97-AF65-F5344CB8AC3E}">
        <p14:creationId xmlns:p14="http://schemas.microsoft.com/office/powerpoint/2010/main" val="3447149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3181727" y="2862260"/>
            <a:ext cx="7795490" cy="1744716"/>
          </a:xfrm>
        </p:spPr>
        <p:txBody>
          <a:bodyPr/>
          <a:lstStyle/>
          <a:p>
            <a:pPr algn="ctr"/>
            <a:r>
              <a:rPr lang="es-MX" dirty="0"/>
              <a:t>Taller colaborativo</a:t>
            </a:r>
            <a:br>
              <a:rPr lang="es-MX" dirty="0"/>
            </a:br>
            <a:endParaRPr lang="es-MX" dirty="0"/>
          </a:p>
        </p:txBody>
      </p:sp>
    </p:spTree>
    <p:extLst>
      <p:ext uri="{BB962C8B-B14F-4D97-AF65-F5344CB8AC3E}">
        <p14:creationId xmlns:p14="http://schemas.microsoft.com/office/powerpoint/2010/main" val="3736436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3410297" y="243437"/>
            <a:ext cx="8423809" cy="602137"/>
          </a:xfrm>
        </p:spPr>
        <p:txBody>
          <a:bodyPr/>
          <a:lstStyle/>
          <a:p>
            <a:r>
              <a:rPr lang="es-ES" dirty="0">
                <a:solidFill>
                  <a:srgbClr val="00263E"/>
                </a:solidFill>
                <a:latin typeface="Gotham"/>
              </a:rPr>
              <a:t>Desarrollo del mini 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778535" y="1466943"/>
            <a:ext cx="11055571" cy="1754326"/>
          </a:xfrm>
          <a:prstGeom prst="rect">
            <a:avLst/>
          </a:prstGeom>
          <a:noFill/>
        </p:spPr>
        <p:txBody>
          <a:bodyPr wrap="square" lIns="91440" tIns="45720" rIns="91440" bIns="45720" rtlCol="0" anchor="t">
            <a:spAutoFit/>
          </a:bodyPr>
          <a:lstStyle/>
          <a:p>
            <a:r>
              <a:rPr lang="es-CL" dirty="0">
                <a:solidFill>
                  <a:srgbClr val="0E0E0E"/>
                </a:solidFill>
                <a:effectLst/>
                <a:latin typeface=".SF NS"/>
              </a:rPr>
              <a:t>Un equipo de desarrollo ha lanzado la primera versión de una aplicación de gestión de tareas que permite a los usuarios crear, editar, eliminar y organizar sus tareas diarias. Antes de la implementación final, se requiere una fase de pruebas manuales para garantizar que todas las funcionalidades básicas funcionan correctamente.</a:t>
            </a:r>
          </a:p>
          <a:p>
            <a:br>
              <a:rPr lang="es-CL" dirty="0">
                <a:solidFill>
                  <a:srgbClr val="0E0E0E"/>
                </a:solidFill>
                <a:effectLst/>
                <a:latin typeface=".SF NS"/>
              </a:rPr>
            </a:br>
            <a:endParaRPr lang="es-CL" dirty="0">
              <a:solidFill>
                <a:srgbClr val="0E0E0E"/>
              </a:solidFill>
              <a:effectLst/>
              <a:latin typeface=".SF NS"/>
            </a:endParaRPr>
          </a:p>
          <a:p>
            <a:pPr marL="285750" indent="-285750">
              <a:buFont typeface="Calibri"/>
              <a:buChar char="-"/>
            </a:pPr>
            <a:endParaRPr lang="es-ES" dirty="0">
              <a:ea typeface="Calibri" panose="020F0502020204030204"/>
              <a:cs typeface="Calibri" panose="020F0502020204030204"/>
            </a:endParaRPr>
          </a:p>
        </p:txBody>
      </p:sp>
    </p:spTree>
    <p:extLst>
      <p:ext uri="{BB962C8B-B14F-4D97-AF65-F5344CB8AC3E}">
        <p14:creationId xmlns:p14="http://schemas.microsoft.com/office/powerpoint/2010/main" val="1943926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383254" y="243437"/>
            <a:ext cx="10113461" cy="602137"/>
          </a:xfrm>
        </p:spPr>
        <p:txBody>
          <a:bodyPr/>
          <a:lstStyle/>
          <a:p>
            <a:r>
              <a:rPr lang="es-ES" dirty="0">
                <a:solidFill>
                  <a:srgbClr val="00263E"/>
                </a:solidFill>
                <a:latin typeface="Gotham"/>
              </a:rPr>
              <a:t>Desarrollo del mini 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707010" y="1459672"/>
            <a:ext cx="10777341" cy="3693319"/>
          </a:xfrm>
          <a:prstGeom prst="rect">
            <a:avLst/>
          </a:prstGeom>
          <a:noFill/>
        </p:spPr>
        <p:txBody>
          <a:bodyPr wrap="square" lIns="91440" tIns="45720" rIns="91440" bIns="45720" rtlCol="0" anchor="t">
            <a:spAutoFit/>
          </a:bodyPr>
          <a:lstStyle/>
          <a:p>
            <a:pPr algn="just"/>
            <a:r>
              <a:rPr lang="es-ES" dirty="0">
                <a:solidFill>
                  <a:srgbClr val="00263E"/>
                </a:solidFill>
                <a:ea typeface="Calibri"/>
                <a:cs typeface="Calibri"/>
              </a:rPr>
              <a:t>Indicadores de Logro:</a:t>
            </a:r>
          </a:p>
          <a:p>
            <a:pPr algn="just"/>
            <a:r>
              <a:rPr lang="es-ES" dirty="0">
                <a:solidFill>
                  <a:srgbClr val="00263E"/>
                </a:solidFill>
                <a:ea typeface="Calibri"/>
                <a:cs typeface="Calibri"/>
              </a:rPr>
              <a:t>1. Ejecuta casos de prueba manualmente sobre el software, verificando que los resultados obtenidos coincidan con los esperados según las especificaciones.</a:t>
            </a:r>
          </a:p>
          <a:p>
            <a:pPr algn="just"/>
            <a:endParaRPr lang="es-ES" dirty="0">
              <a:solidFill>
                <a:srgbClr val="00263E"/>
              </a:solidFill>
              <a:ea typeface="Calibri"/>
              <a:cs typeface="Calibri"/>
            </a:endParaRPr>
          </a:p>
          <a:p>
            <a:pPr algn="just"/>
            <a:r>
              <a:rPr lang="es-ES" dirty="0">
                <a:solidFill>
                  <a:srgbClr val="00263E"/>
                </a:solidFill>
                <a:ea typeface="Calibri"/>
                <a:cs typeface="Calibri"/>
              </a:rPr>
              <a:t>   Caso de Prueba:</a:t>
            </a:r>
          </a:p>
          <a:p>
            <a:pPr algn="just"/>
            <a:r>
              <a:rPr lang="es-ES" dirty="0">
                <a:solidFill>
                  <a:srgbClr val="00263E"/>
                </a:solidFill>
                <a:ea typeface="Calibri"/>
                <a:cs typeface="Calibri"/>
              </a:rPr>
              <a:t>   - Escenario: Crear una nueva tarea.</a:t>
            </a:r>
          </a:p>
          <a:p>
            <a:pPr algn="just"/>
            <a:r>
              <a:rPr lang="es-ES" dirty="0">
                <a:solidFill>
                  <a:srgbClr val="00263E"/>
                </a:solidFill>
                <a:ea typeface="Calibri"/>
                <a:cs typeface="Calibri"/>
              </a:rPr>
              <a:t>   - Acciones: El </a:t>
            </a:r>
            <a:r>
              <a:rPr lang="es-ES" dirty="0" err="1">
                <a:solidFill>
                  <a:srgbClr val="00263E"/>
                </a:solidFill>
                <a:ea typeface="Calibri"/>
                <a:cs typeface="Calibri"/>
              </a:rPr>
              <a:t>tester</a:t>
            </a:r>
            <a:r>
              <a:rPr lang="es-ES" dirty="0">
                <a:solidFill>
                  <a:srgbClr val="00263E"/>
                </a:solidFill>
                <a:ea typeface="Calibri"/>
                <a:cs typeface="Calibri"/>
              </a:rPr>
              <a:t> ingresa el título "Comprar leche" en el campo de tareas y hace clic en "Guardar".</a:t>
            </a:r>
          </a:p>
          <a:p>
            <a:pPr algn="just"/>
            <a:r>
              <a:rPr lang="es-ES" dirty="0">
                <a:solidFill>
                  <a:srgbClr val="00263E"/>
                </a:solidFill>
                <a:ea typeface="Calibri"/>
                <a:cs typeface="Calibri"/>
              </a:rPr>
              <a:t>   - Resultado Esperado: La tarea "Comprar leche" aparece en la lista de tareas pendientes.</a:t>
            </a:r>
          </a:p>
          <a:p>
            <a:pPr algn="just"/>
            <a:r>
              <a:rPr lang="es-ES" dirty="0">
                <a:solidFill>
                  <a:srgbClr val="00263E"/>
                </a:solidFill>
                <a:ea typeface="Calibri"/>
                <a:cs typeface="Calibri"/>
              </a:rPr>
              <a:t>   - Resultado Obtenido: La tarea se guarda correctamente y aparece en la lista, coincidiendo con las especificaciones del caso de prueba.</a:t>
            </a:r>
          </a:p>
          <a:p>
            <a:pPr algn="just"/>
            <a:r>
              <a:rPr lang="es-ES" dirty="0">
                <a:solidFill>
                  <a:srgbClr val="00263E"/>
                </a:solidFill>
                <a:ea typeface="Calibri"/>
                <a:cs typeface="Calibri"/>
              </a:rPr>
              <a:t>   - Respuesta: El resultado del caso de prueba coincide con las especificaciones, lo que indica que la funcionalidad para crear tareas está funcionando correctamente.</a:t>
            </a:r>
          </a:p>
          <a:p>
            <a:pPr algn="just"/>
            <a:endParaRPr lang="es-ES" dirty="0">
              <a:solidFill>
                <a:srgbClr val="00263E"/>
              </a:solidFill>
              <a:ea typeface="Calibri"/>
              <a:cs typeface="Calibri"/>
            </a:endParaRPr>
          </a:p>
        </p:txBody>
      </p:sp>
    </p:spTree>
    <p:extLst>
      <p:ext uri="{BB962C8B-B14F-4D97-AF65-F5344CB8AC3E}">
        <p14:creationId xmlns:p14="http://schemas.microsoft.com/office/powerpoint/2010/main" val="2590429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383254" y="243437"/>
            <a:ext cx="10113461" cy="602137"/>
          </a:xfrm>
        </p:spPr>
        <p:txBody>
          <a:bodyPr/>
          <a:lstStyle/>
          <a:p>
            <a:r>
              <a:rPr lang="es-ES" dirty="0">
                <a:solidFill>
                  <a:srgbClr val="00263E"/>
                </a:solidFill>
                <a:latin typeface="Gotham"/>
              </a:rPr>
              <a:t>Desarrollo del mini 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575035" y="1280563"/>
            <a:ext cx="10890462" cy="3693319"/>
          </a:xfrm>
          <a:prstGeom prst="rect">
            <a:avLst/>
          </a:prstGeom>
          <a:noFill/>
        </p:spPr>
        <p:txBody>
          <a:bodyPr wrap="square" lIns="91440" tIns="45720" rIns="91440" bIns="45720" rtlCol="0" anchor="t">
            <a:spAutoFit/>
          </a:bodyPr>
          <a:lstStyle/>
          <a:p>
            <a:r>
              <a:rPr lang="es-ES" dirty="0">
                <a:solidFill>
                  <a:srgbClr val="00263E"/>
                </a:solidFill>
                <a:ea typeface="Calibri"/>
                <a:cs typeface="Calibri"/>
              </a:rPr>
              <a:t>2. Identifica de manera precisa los errores encontrados durante las pruebas manuales, asegurando que estén registrados de forma clara y comprensible para su posterior análisis y corrección.</a:t>
            </a:r>
          </a:p>
          <a:p>
            <a:endParaRPr lang="es-ES" dirty="0">
              <a:solidFill>
                <a:srgbClr val="00263E"/>
              </a:solidFill>
              <a:ea typeface="Calibri"/>
              <a:cs typeface="Calibri"/>
            </a:endParaRPr>
          </a:p>
          <a:p>
            <a:r>
              <a:rPr lang="es-ES" dirty="0">
                <a:solidFill>
                  <a:srgbClr val="00263E"/>
                </a:solidFill>
                <a:ea typeface="Calibri"/>
                <a:cs typeface="Calibri"/>
              </a:rPr>
              <a:t>   Detección de Error:</a:t>
            </a:r>
          </a:p>
          <a:p>
            <a:r>
              <a:rPr lang="es-ES" dirty="0">
                <a:solidFill>
                  <a:srgbClr val="00263E"/>
                </a:solidFill>
                <a:ea typeface="Calibri"/>
                <a:cs typeface="Calibri"/>
              </a:rPr>
              <a:t>   - Escenario: Editar una tarea existente.</a:t>
            </a:r>
          </a:p>
          <a:p>
            <a:r>
              <a:rPr lang="es-ES" dirty="0">
                <a:solidFill>
                  <a:srgbClr val="00263E"/>
                </a:solidFill>
                <a:ea typeface="Calibri"/>
                <a:cs typeface="Calibri"/>
              </a:rPr>
              <a:t>   - Acciones: El </a:t>
            </a:r>
            <a:r>
              <a:rPr lang="es-ES" dirty="0" err="1">
                <a:solidFill>
                  <a:srgbClr val="00263E"/>
                </a:solidFill>
                <a:ea typeface="Calibri"/>
                <a:cs typeface="Calibri"/>
              </a:rPr>
              <a:t>tester</a:t>
            </a:r>
            <a:r>
              <a:rPr lang="es-ES" dirty="0">
                <a:solidFill>
                  <a:srgbClr val="00263E"/>
                </a:solidFill>
                <a:ea typeface="Calibri"/>
                <a:cs typeface="Calibri"/>
              </a:rPr>
              <a:t> selecciona la tarea "Comprar leche", la edita cambiando el título a "Comprar leche y pan", y guarda los cambios.</a:t>
            </a:r>
          </a:p>
          <a:p>
            <a:r>
              <a:rPr lang="es-ES" dirty="0">
                <a:solidFill>
                  <a:srgbClr val="00263E"/>
                </a:solidFill>
                <a:ea typeface="Calibri"/>
                <a:cs typeface="Calibri"/>
              </a:rPr>
              <a:t>   - Error Detectado: Al guardar, la aplicación genera un error y no actualiza la tarea en la lista.</a:t>
            </a:r>
          </a:p>
          <a:p>
            <a:r>
              <a:rPr lang="es-ES" dirty="0">
                <a:solidFill>
                  <a:srgbClr val="00263E"/>
                </a:solidFill>
                <a:ea typeface="Calibri"/>
                <a:cs typeface="Calibri"/>
              </a:rPr>
              <a:t>   - Registro del Error: "Error al editar la tarea. Al intentar cambiar el título de 'Comprar leche' a 'Comprar leche y pan', la aplicación genera un mensaje de error '</a:t>
            </a:r>
            <a:r>
              <a:rPr lang="es-ES" dirty="0" err="1">
                <a:solidFill>
                  <a:srgbClr val="00263E"/>
                </a:solidFill>
                <a:ea typeface="Calibri"/>
                <a:cs typeface="Calibri"/>
              </a:rPr>
              <a:t>NullReferenceException</a:t>
            </a:r>
            <a:r>
              <a:rPr lang="es-ES" dirty="0">
                <a:solidFill>
                  <a:srgbClr val="00263E"/>
                </a:solidFill>
                <a:ea typeface="Calibri"/>
                <a:cs typeface="Calibri"/>
              </a:rPr>
              <a:t>' y no guarda los cambios."</a:t>
            </a:r>
          </a:p>
          <a:p>
            <a:r>
              <a:rPr lang="es-ES" dirty="0">
                <a:solidFill>
                  <a:srgbClr val="00263E"/>
                </a:solidFill>
                <a:ea typeface="Calibri"/>
                <a:cs typeface="Calibri"/>
              </a:rPr>
              <a:t>   - Respuesta: El error fue identificado y registrado claramente, lo que permitirá al equipo de desarrollo comprender el problema y aplicar la corrección necesaria.</a:t>
            </a:r>
          </a:p>
          <a:p>
            <a:endParaRPr lang="es-ES" dirty="0">
              <a:solidFill>
                <a:srgbClr val="00263E"/>
              </a:solidFill>
              <a:ea typeface="Calibri"/>
              <a:cs typeface="Calibri"/>
            </a:endParaRPr>
          </a:p>
        </p:txBody>
      </p:sp>
    </p:spTree>
    <p:extLst>
      <p:ext uri="{BB962C8B-B14F-4D97-AF65-F5344CB8AC3E}">
        <p14:creationId xmlns:p14="http://schemas.microsoft.com/office/powerpoint/2010/main" val="1821073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2383254" y="243437"/>
            <a:ext cx="10113461" cy="602137"/>
          </a:xfrm>
        </p:spPr>
        <p:txBody>
          <a:bodyPr/>
          <a:lstStyle/>
          <a:p>
            <a:r>
              <a:rPr lang="es-ES" dirty="0">
                <a:solidFill>
                  <a:srgbClr val="00263E"/>
                </a:solidFill>
                <a:latin typeface="Gotham"/>
              </a:rPr>
              <a:t>Desarrollo del mini 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018095" y="1054320"/>
            <a:ext cx="10466256" cy="5078313"/>
          </a:xfrm>
          <a:prstGeom prst="rect">
            <a:avLst/>
          </a:prstGeom>
          <a:noFill/>
        </p:spPr>
        <p:txBody>
          <a:bodyPr wrap="square" lIns="91440" tIns="45720" rIns="91440" bIns="45720" rtlCol="0" anchor="t">
            <a:spAutoFit/>
          </a:bodyPr>
          <a:lstStyle/>
          <a:p>
            <a:endParaRPr lang="es-ES" dirty="0">
              <a:solidFill>
                <a:srgbClr val="00263E"/>
              </a:solidFill>
              <a:ea typeface="Calibri"/>
              <a:cs typeface="Calibri"/>
            </a:endParaRPr>
          </a:p>
          <a:p>
            <a:r>
              <a:rPr lang="es-ES" dirty="0">
                <a:solidFill>
                  <a:srgbClr val="00263E"/>
                </a:solidFill>
                <a:ea typeface="Calibri"/>
                <a:cs typeface="Calibri"/>
              </a:rPr>
              <a:t>3. Aplica técnicas de exploración del software eficazmente, descubriendo posibles fallos que pudieran haberse pasado por alto en los casos de pruebas predefinidos.</a:t>
            </a:r>
          </a:p>
          <a:p>
            <a:endParaRPr lang="es-ES" dirty="0">
              <a:solidFill>
                <a:srgbClr val="00263E"/>
              </a:solidFill>
              <a:ea typeface="Calibri"/>
              <a:cs typeface="Calibri"/>
            </a:endParaRPr>
          </a:p>
          <a:p>
            <a:r>
              <a:rPr lang="es-ES" dirty="0">
                <a:solidFill>
                  <a:srgbClr val="00263E"/>
                </a:solidFill>
                <a:ea typeface="Calibri"/>
                <a:cs typeface="Calibri"/>
              </a:rPr>
              <a:t>   Exploración del Software:</a:t>
            </a:r>
          </a:p>
          <a:p>
            <a:r>
              <a:rPr lang="es-ES" dirty="0">
                <a:solidFill>
                  <a:srgbClr val="00263E"/>
                </a:solidFill>
                <a:ea typeface="Calibri"/>
                <a:cs typeface="Calibri"/>
              </a:rPr>
              <a:t>   - Acción: El </a:t>
            </a:r>
            <a:r>
              <a:rPr lang="es-ES" dirty="0" err="1">
                <a:solidFill>
                  <a:srgbClr val="00263E"/>
                </a:solidFill>
                <a:ea typeface="Calibri"/>
                <a:cs typeface="Calibri"/>
              </a:rPr>
              <a:t>tester</a:t>
            </a:r>
            <a:r>
              <a:rPr lang="es-ES" dirty="0">
                <a:solidFill>
                  <a:srgbClr val="00263E"/>
                </a:solidFill>
                <a:ea typeface="Calibri"/>
                <a:cs typeface="Calibri"/>
              </a:rPr>
              <a:t>, al explorar la aplicación, decide probar la funcionalidad de ordenamiento de tareas.</a:t>
            </a:r>
          </a:p>
          <a:p>
            <a:r>
              <a:rPr lang="es-ES" dirty="0">
                <a:solidFill>
                  <a:srgbClr val="00263E"/>
                </a:solidFill>
                <a:ea typeface="Calibri"/>
                <a:cs typeface="Calibri"/>
              </a:rPr>
              <a:t>   - Descubrimiento del Fallo: Al intentar ordenar las tareas por fecha de creación, el </a:t>
            </a:r>
            <a:r>
              <a:rPr lang="es-ES" dirty="0" err="1">
                <a:solidFill>
                  <a:srgbClr val="00263E"/>
                </a:solidFill>
                <a:ea typeface="Calibri"/>
                <a:cs typeface="Calibri"/>
              </a:rPr>
              <a:t>tester</a:t>
            </a:r>
            <a:r>
              <a:rPr lang="es-ES" dirty="0">
                <a:solidFill>
                  <a:srgbClr val="00263E"/>
                </a:solidFill>
                <a:ea typeface="Calibri"/>
                <a:cs typeface="Calibri"/>
              </a:rPr>
              <a:t> descubre que la aplicación no responde y se cierra inesperadamente.</a:t>
            </a:r>
          </a:p>
          <a:p>
            <a:r>
              <a:rPr lang="es-ES" dirty="0">
                <a:solidFill>
                  <a:srgbClr val="00263E"/>
                </a:solidFill>
                <a:ea typeface="Calibri"/>
                <a:cs typeface="Calibri"/>
              </a:rPr>
              <a:t>   - Registro del Fallo: "Error crítico en la función de ordenamiento. La aplicación se cierra inesperadamente cuando el usuario intenta ordenar las tareas por fecha de creación."</a:t>
            </a:r>
          </a:p>
          <a:p>
            <a:r>
              <a:rPr lang="es-ES" dirty="0">
                <a:solidFill>
                  <a:srgbClr val="00263E"/>
                </a:solidFill>
                <a:ea typeface="Calibri"/>
                <a:cs typeface="Calibri"/>
              </a:rPr>
              <a:t>   - Respuesta: La técnica de exploración permitió descubrir un fallo crítico que no estaba cubierto en los casos de prueba predefinidos, demostrando la importancia de explorar el software para encontrar posibles errores ocultos.</a:t>
            </a:r>
          </a:p>
          <a:p>
            <a:endParaRPr lang="es-ES" dirty="0">
              <a:solidFill>
                <a:srgbClr val="00263E"/>
              </a:solidFill>
              <a:ea typeface="Calibri"/>
              <a:cs typeface="Calibri"/>
            </a:endParaRPr>
          </a:p>
          <a:p>
            <a:r>
              <a:rPr lang="es-ES" dirty="0">
                <a:solidFill>
                  <a:srgbClr val="00263E"/>
                </a:solidFill>
                <a:ea typeface="Calibri"/>
                <a:cs typeface="Calibri"/>
              </a:rPr>
              <a:t>Conclusión:</a:t>
            </a:r>
          </a:p>
          <a:p>
            <a:r>
              <a:rPr lang="es-ES" dirty="0">
                <a:solidFill>
                  <a:srgbClr val="00263E"/>
                </a:solidFill>
                <a:ea typeface="Calibri"/>
                <a:cs typeface="Calibri"/>
              </a:rPr>
              <a:t>En este mini caso, el </a:t>
            </a:r>
            <a:r>
              <a:rPr lang="es-ES" dirty="0" err="1">
                <a:solidFill>
                  <a:srgbClr val="00263E"/>
                </a:solidFill>
                <a:ea typeface="Calibri"/>
                <a:cs typeface="Calibri"/>
              </a:rPr>
              <a:t>tester</a:t>
            </a:r>
            <a:r>
              <a:rPr lang="es-ES" dirty="0">
                <a:solidFill>
                  <a:srgbClr val="00263E"/>
                </a:solidFill>
                <a:ea typeface="Calibri"/>
                <a:cs typeface="Calibri"/>
              </a:rPr>
              <a:t> ha demostrado habilidad en la ejecución de pruebas manuales, en la identificación y registro preciso de errores, y en la aplicación efectiva de técnicas de exploración. Estos esfuerzos contribuyen a asegurar la calidad del software antes de su lanzamiento al mercado.</a:t>
            </a:r>
          </a:p>
        </p:txBody>
      </p:sp>
    </p:spTree>
    <p:extLst>
      <p:ext uri="{BB962C8B-B14F-4D97-AF65-F5344CB8AC3E}">
        <p14:creationId xmlns:p14="http://schemas.microsoft.com/office/powerpoint/2010/main" val="4165120710"/>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FE0C39A5C2E6C64F9F7D029DEF27245B" ma:contentTypeVersion="17" ma:contentTypeDescription="Crear nuevo documento." ma:contentTypeScope="" ma:versionID="96659a7b43cf20bd8807af8919d7f93b">
  <xsd:schema xmlns:xsd="http://www.w3.org/2001/XMLSchema" xmlns:xs="http://www.w3.org/2001/XMLSchema" xmlns:p="http://schemas.microsoft.com/office/2006/metadata/properties" xmlns:ns3="8d1d1bbd-5e03-48ca-bd2d-03fb3153a1e1" xmlns:ns4="9a7f4638-1433-410e-9355-d9a2e3f061ac" targetNamespace="http://schemas.microsoft.com/office/2006/metadata/properties" ma:root="true" ma:fieldsID="98ebebfb4e0959ba7da4c255cbed733b" ns3:_="" ns4:_="">
    <xsd:import namespace="8d1d1bbd-5e03-48ca-bd2d-03fb3153a1e1"/>
    <xsd:import namespace="9a7f4638-1433-410e-9355-d9a2e3f061ac"/>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LengthInSeconds" minOccurs="0"/>
                <xsd:element ref="ns3:MediaServiceAutoTag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1d1bbd-5e03-48ca-bd2d-03fb3153a1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descriptio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7f4638-1433-410e-9355-d9a2e3f061ac"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element name="SharingHintHash" ma:index="17"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9a7f4638-1433-410e-9355-d9a2e3f061ac">
      <UserInfo>
        <DisplayName/>
        <AccountId xsi:nil="true"/>
        <AccountType/>
      </UserInfo>
    </SharedWithUsers>
    <MediaLengthInSeconds xmlns="8d1d1bbd-5e03-48ca-bd2d-03fb3153a1e1" xsi:nil="true"/>
    <_activity xmlns="8d1d1bbd-5e03-48ca-bd2d-03fb3153a1e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25F6726-C689-4336-99C0-D07EC8C6DF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1d1bbd-5e03-48ca-bd2d-03fb3153a1e1"/>
    <ds:schemaRef ds:uri="9a7f4638-1433-410e-9355-d9a2e3f061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0D21582-FC00-409E-B0FE-B85F4A2AD932}">
  <ds:schemaRefs>
    <ds:schemaRef ds:uri="http://www.w3.org/XML/1998/namespace"/>
    <ds:schemaRef ds:uri="http://purl.org/dc/terms/"/>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9a7f4638-1433-410e-9355-d9a2e3f061ac"/>
    <ds:schemaRef ds:uri="8d1d1bbd-5e03-48ca-bd2d-03fb3153a1e1"/>
    <ds:schemaRef ds:uri="http://schemas.microsoft.com/office/2006/metadata/properties"/>
  </ds:schemaRefs>
</ds:datastoreItem>
</file>

<file path=customXml/itemProps3.xml><?xml version="1.0" encoding="utf-8"?>
<ds:datastoreItem xmlns:ds="http://schemas.openxmlformats.org/officeDocument/2006/customXml" ds:itemID="{87F4E0E8-DCD7-4FED-941D-0AB556AD80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18</TotalTime>
  <Words>1378</Words>
  <Application>Microsoft Office PowerPoint</Application>
  <PresentationFormat>Panorámica</PresentationFormat>
  <Paragraphs>77</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.SF NS</vt:lpstr>
      <vt:lpstr>Arial</vt:lpstr>
      <vt:lpstr>Calibri</vt:lpstr>
      <vt:lpstr>Cambria</vt:lpstr>
      <vt:lpstr>Gotham</vt:lpstr>
      <vt:lpstr>Plantilla Institucional CIISA</vt:lpstr>
      <vt:lpstr>Aplicación y Automatización de Pruebas en el Desarrollo de Software</vt:lpstr>
      <vt:lpstr>ÍNDICE</vt:lpstr>
      <vt:lpstr>Resumen unidad</vt:lpstr>
      <vt:lpstr>Resumen unidad</vt:lpstr>
      <vt:lpstr>Fase de retroalimentación</vt:lpstr>
      <vt:lpstr>Apunte activador de aprendizaje</vt:lpstr>
      <vt:lpstr>Foro crítico reflexivo</vt:lpstr>
      <vt:lpstr>Foro crítico reflexivo - Respuesta</vt:lpstr>
      <vt:lpstr>Foro crítico reflexivo - Respuesta</vt:lpstr>
      <vt:lpstr>Foro crítico reflexivo - Respuesta</vt:lpstr>
      <vt:lpstr>Taller colaborativo </vt:lpstr>
      <vt:lpstr>Desarrollo del mini problema</vt:lpstr>
      <vt:lpstr>Desarrollo del mini problema</vt:lpstr>
      <vt:lpstr>Desarrollo del mini problema</vt:lpstr>
      <vt:lpstr>Desarrollo del mini problema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Alejandra Bravo Garcia</cp:lastModifiedBy>
  <cp:revision>43</cp:revision>
  <dcterms:created xsi:type="dcterms:W3CDTF">2023-07-19T16:06:31Z</dcterms:created>
  <dcterms:modified xsi:type="dcterms:W3CDTF">2025-09-14T18:38:16Z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0x010100FE0C39A5C2E6C64F9F7D029DEF27245B</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